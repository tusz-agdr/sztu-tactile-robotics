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87195" y="2101850"/>
            <a:ext cx="881761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Tactile Robotic</a:t>
            </a:r>
            <a:r>
              <a:rPr lang="en-US" sz="32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 - Contact Level Sensor Trail</a:t>
            </a:r>
            <a:endParaRPr lang="en-US" sz="32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7260" y="3910965"/>
            <a:ext cx="5313045" cy="414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Xucheng Liu (Joe)</a:t>
            </a:r>
            <a: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·   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Sept 11th</a:t>
            </a:r>
            <a: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·   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Guidance</a:t>
            </a:r>
            <a:endParaRPr lang="en-US" sz="20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327660" y="2501900"/>
            <a:ext cx="3001010" cy="18383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endParaRPr lang="en-US" altLang="zh-CN" sz="4000"/>
          </a:p>
          <a:p>
            <a:pPr algn="ctr"/>
            <a:r>
              <a:rPr lang="en-US" altLang="zh-CN" sz="4000"/>
              <a:t>Intuition</a:t>
            </a:r>
            <a:endParaRPr lang="en-US" altLang="zh-CN" sz="4000"/>
          </a:p>
        </p:txBody>
      </p:sp>
      <p:sp>
        <p:nvSpPr>
          <p:cNvPr id="3" name="矩形 2"/>
          <p:cNvSpPr/>
          <p:nvPr/>
        </p:nvSpPr>
        <p:spPr>
          <a:xfrm>
            <a:off x="4595495" y="2501900"/>
            <a:ext cx="3001010" cy="181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 altLang="zh-CN" sz="4000"/>
          </a:p>
          <a:p>
            <a:r>
              <a:rPr lang="en-US" altLang="zh-CN" sz="4000"/>
              <a:t>  simulation</a:t>
            </a:r>
            <a:endParaRPr lang="en-US" altLang="zh-CN" sz="4000"/>
          </a:p>
        </p:txBody>
      </p:sp>
      <p:sp>
        <p:nvSpPr>
          <p:cNvPr id="4" name="矩形 3"/>
          <p:cNvSpPr/>
          <p:nvPr/>
        </p:nvSpPr>
        <p:spPr>
          <a:xfrm>
            <a:off x="8863330" y="2501900"/>
            <a:ext cx="3001010" cy="181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 altLang="zh-CN" sz="4000"/>
          </a:p>
          <a:p>
            <a:r>
              <a:rPr lang="en-US" altLang="zh-CN" sz="4000"/>
              <a:t>   bridge it</a:t>
            </a:r>
            <a:endParaRPr lang="en-US" altLang="zh-CN" sz="4000"/>
          </a:p>
        </p:txBody>
      </p:sp>
      <p:sp>
        <p:nvSpPr>
          <p:cNvPr id="5" name="文本框 4"/>
          <p:cNvSpPr txBox="1"/>
          <p:nvPr/>
        </p:nvSpPr>
        <p:spPr>
          <a:xfrm>
            <a:off x="302260" y="81216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/>
              <a:t>Trajectory</a:t>
            </a:r>
            <a:endParaRPr lang="en-US" altLang="zh-CN" sz="4400"/>
          </a:p>
        </p:txBody>
      </p:sp>
      <p:cxnSp>
        <p:nvCxnSpPr>
          <p:cNvPr id="6" name="直接箭头连接符 5"/>
          <p:cNvCxnSpPr>
            <a:stCxn id="2" idx="3"/>
          </p:cNvCxnSpPr>
          <p:nvPr/>
        </p:nvCxnSpPr>
        <p:spPr>
          <a:xfrm>
            <a:off x="3328670" y="3421380"/>
            <a:ext cx="12668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600950" y="3421380"/>
            <a:ext cx="12668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Today's walkthrough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0320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01</a:t>
            </a:r>
            <a:endParaRPr sz="44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2133600"/>
            <a:ext cx="909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is a taxel?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2540000"/>
            <a:ext cx="90932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From pixel to taxel — the smallest unit of touch.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800" y="33020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02</a:t>
            </a:r>
            <a:endParaRPr sz="44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0" y="3403600"/>
            <a:ext cx="909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does a taxel sensor feel like?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3810000"/>
            <a:ext cx="90932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Pacini DEXH13, the bottle demo, the  app, teleoperation.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2800" y="45720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03</a:t>
            </a:r>
            <a:endParaRPr sz="44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0" y="4673600"/>
            <a:ext cx="909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Taxel simulation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0" y="5080000"/>
            <a:ext cx="90932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Why simulate touch, and how MuJoCo does it.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02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05000"/>
            <a:ext cx="381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01</a:t>
            </a:r>
            <a:endParaRPr sz="96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3600" y="3683000"/>
            <a:ext cx="7112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3937000"/>
            <a:ext cx="10566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a Taxel?</a:t>
            </a:r>
            <a:endParaRPr sz="360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4876800"/>
            <a:ext cx="889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8C4D4"/>
                </a:solidFill>
                <a:latin typeface="Aptos"/>
                <a:ea typeface="Aptos"/>
                <a:cs typeface="Aptos"/>
              </a:rPr>
              <a:t>From a pixel of light to a pixel of pressure.</a:t>
            </a:r>
            <a:endParaRPr sz="1700" b="0" i="0">
              <a:solidFill>
                <a:srgbClr val="B8C4D4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Pixel → Taxel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0320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Pixel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6000" y="24892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smallest unit of a digital image. Millions of them form what you see on a screen.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12000" y="20320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Taxel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12000" y="24892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smallest unit of a tactile image. Hundreds of them form what a skin feels.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207000" y="2489200"/>
            <a:ext cx="177800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2800" y="38100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2800" y="4419600"/>
            <a:ext cx="105664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one taxel transduces pressure / normal force / shear into an electrical signal. </a:t>
            </a:r>
            <a:endParaRPr sz="24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04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117600"/>
            <a:ext cx="3001645" cy="141224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is a taxel?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778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DEFINITION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2108200"/>
            <a:ext cx="635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 taxel (tactile pixel) is a single sensing element that measures contact pressure or force at one point on a tactile sensor. A grid of taxels produces a tactile image.</a:t>
            </a:r>
            <a:endParaRPr sz="17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0" y="1905000"/>
            <a:ext cx="3759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RESOLUTION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0" y="2235200"/>
            <a:ext cx="3759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taxels / cm² ]</a:t>
            </a:r>
            <a:endParaRPr sz="20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0" y="2870200"/>
            <a:ext cx="3759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SENSING RANGE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0" y="3200400"/>
            <a:ext cx="3759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force range ]</a:t>
            </a:r>
            <a:endParaRPr sz="20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0" y="3835400"/>
            <a:ext cx="3759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SAMPLING RATE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0" y="4165600"/>
            <a:ext cx="3759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Hz ]</a:t>
            </a:r>
            <a:endParaRPr sz="20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12800" y="50800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2800" y="5638800"/>
            <a:ext cx="105664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Add one line on why it matters for robots: grip stability, slip detection, force control.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05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05000"/>
            <a:ext cx="381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02</a:t>
            </a:r>
            <a:endParaRPr sz="96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3600" y="3683000"/>
            <a:ext cx="7112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3937000"/>
            <a:ext cx="1056640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Does a Taxel Sensor Feel Like?</a:t>
            </a:r>
            <a:endParaRPr sz="360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4876800"/>
            <a:ext cx="9652000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8C4D4"/>
                </a:solidFill>
                <a:latin typeface="Aptos"/>
                <a:ea typeface="Aptos"/>
                <a:cs typeface="Aptos"/>
              </a:rPr>
              <a:t>Pacini DEXH13, a live bottle demo, and the app that shows the heatmap.</a:t>
            </a:r>
            <a:endParaRPr sz="1700" b="0" i="0">
              <a:solidFill>
                <a:srgbClr val="B8C4D4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Pacini DEXH13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9050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TAXELS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2260600"/>
            <a:ext cx="3810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1,140</a:t>
            </a:r>
            <a:endParaRPr sz="48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26000" y="19050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PATCH TYPES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26000" y="2260600"/>
            <a:ext cx="3810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5</a:t>
            </a:r>
            <a:endParaRPr sz="48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12800" y="48260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07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3675" y="330835"/>
            <a:ext cx="3488690" cy="427926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77545" y="194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Contact-Level Sensor Example:</a:t>
            </a:r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270000"/>
            <a:ext cx="2737485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Demo: Holding a Bottle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lang="en-US"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with or without tactile?</a:t>
            </a:r>
            <a:endParaRPr lang="en-US"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9304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08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812800" y="2430780"/>
            <a:ext cx="3430905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Seeing Touch: The Upper App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2"/>
          <p:cNvSpPr/>
          <p:nvPr/>
        </p:nvSpPr>
        <p:spPr>
          <a:xfrm>
            <a:off x="812800" y="327406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"/>
          <p:cNvSpPr txBox="1"/>
          <p:nvPr/>
        </p:nvSpPr>
        <p:spPr>
          <a:xfrm>
            <a:off x="812800" y="4178300"/>
            <a:ext cx="4148455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Close the Loop: Gesture Teleoperation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Seeing Touch: The Upper App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574800"/>
            <a:ext cx="1056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the upper application here — observe the pressure heatmap.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2800" y="2133600"/>
            <a:ext cx="6350000" cy="3810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9800" y="3683000"/>
            <a:ext cx="6096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heatmap UI screenshot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0" y="2159000"/>
            <a:ext cx="3759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YOU SEE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0" y="2514600"/>
            <a:ext cx="3759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Live pressure field across every patch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Intensity mapped to color (blue → red)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Spot where force concentrates, where it slips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</a:p>
          <a:p>
            <a:pPr algn="l">
              <a:lnSpc>
                <a:spcPct val="160000"/>
              </a:lnSpc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620000" y="5080000"/>
            <a:ext cx="37592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fill: which metric / patch is highlighted during the demo.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09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Close the Loop: Gesture Teleoperation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574800"/>
            <a:ext cx="1056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Switch to the teleoperation demo here.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2800" y="254000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9800" y="28194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Hand gesture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operator input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7" name="Connector 6"/>
          <p:cNvCxnSpPr/>
          <p:nvPr/>
        </p:nvCxnSpPr>
        <p:spPr>
          <a:xfrm>
            <a:off x="3175000" y="2984500"/>
            <a:ext cx="508000" cy="254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59200" y="254000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8194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Robot grip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follows the hand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0" name="Connector 9"/>
          <p:cNvCxnSpPr/>
          <p:nvPr/>
        </p:nvCxnSpPr>
        <p:spPr>
          <a:xfrm>
            <a:off x="6121400" y="2984500"/>
            <a:ext cx="508000" cy="254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705600" y="2540000"/>
            <a:ext cx="228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2600" y="28194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Tactile feedback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taxels close the loop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12800" y="4191000"/>
            <a:ext cx="10566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fill: the interaction shown — what gesture, what object, and what the operator feels from the heatmap.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Placeholder for demo sequence / screenshots.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05000"/>
            <a:ext cx="381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03</a:t>
            </a:r>
            <a:endParaRPr sz="96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3600" y="3683000"/>
            <a:ext cx="7112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3937000"/>
            <a:ext cx="10566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Taxel Simulation</a:t>
            </a:r>
            <a:endParaRPr sz="360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48768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8C4D4"/>
                </a:solidFill>
                <a:latin typeface="Aptos"/>
                <a:ea typeface="Aptos"/>
                <a:cs typeface="Aptos"/>
              </a:rPr>
              <a:t>Why simulate touch before touching real hardware?</a:t>
            </a:r>
            <a:endParaRPr sz="1700" b="0" i="0">
              <a:solidFill>
                <a:srgbClr val="B8C4D4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Why Robots Need Simulation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778000"/>
            <a:ext cx="10566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Real hardware is slow, fragile, and expensive. Touch is no exception.</a:t>
            </a:r>
            <a:endParaRPr sz="17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2540000"/>
            <a:ext cx="105664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Safety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2895600"/>
            <a:ext cx="1056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fill: test aggressive grasps and failure cases without damaging fingers or objects.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12800" y="33274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2800" y="3530600"/>
            <a:ext cx="105664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Cost &amp; scale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2800" y="3886200"/>
            <a:ext cx="1056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fill: thousands of trials in parallel, no wear on real sensors.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12800" y="43180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2800" y="4521200"/>
            <a:ext cx="105664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Repeatability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2800" y="4876800"/>
            <a:ext cx="1056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fill: identical initial conditions every run; controlled contact geometry.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12800" y="53086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2800" y="5511800"/>
            <a:ext cx="105664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Data &amp; learning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2800" y="5867400"/>
            <a:ext cx="1056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fill: generate labeled tactile data for policies / models before transfer to real robots.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12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096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Tactile Simulation: MuJoCo &amp; Beyond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2700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778000"/>
            <a:ext cx="10566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How do you turn a physics engine into a skin?</a:t>
            </a:r>
            <a:endParaRPr sz="17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2413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MUJOCO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800" y="2743200"/>
            <a:ext cx="5080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Collision geometry as a taxel grid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Contact force → per-taxel signal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Runs inside the physics step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</a:p>
          <a:p>
            <a:pPr algn="l">
              <a:lnSpc>
                <a:spcPct val="160000"/>
              </a:lnSpc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350000" y="2413000"/>
            <a:ext cx="5029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OTHER SIMULATORS / TOOLS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0000" y="2743200"/>
            <a:ext cx="50292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 — e.g. Gazebo / Isaac / custom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 — strengths &amp; gaps vs. MuJoCo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to fill — sim-to-real gap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60000"/>
              </a:lnSpc>
              <a:spcAft>
                <a:spcPts val="0"/>
              </a:spcAft>
            </a:pPr>
          </a:p>
          <a:p>
            <a:pPr algn="l">
              <a:lnSpc>
                <a:spcPct val="160000"/>
              </a:lnSpc>
              <a:spcAft>
                <a:spcPts val="0"/>
              </a:spcAft>
            </a:pPr>
          </a:p>
        </p:txBody>
      </p:sp>
      <p:cxnSp>
        <p:nvCxnSpPr>
          <p:cNvPr id="9" name="Connector 8"/>
          <p:cNvCxnSpPr/>
          <p:nvPr/>
        </p:nvCxnSpPr>
        <p:spPr>
          <a:xfrm>
            <a:off x="812800" y="48260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2800" y="50546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TO FILL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2800" y="5384800"/>
            <a:ext cx="10566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Live demo: open MuJoCo / simulator here — show a taxel grid responding to contact.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414000" y="64262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13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14300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Wrap-up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00" y="1574800"/>
            <a:ext cx="6096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032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01   A taxel is the pixel of touch — one point of pressure.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12800" y="2794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02   DEXH-13 turns that touch into a live heatmap and a closed loop.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12800" y="3556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03   Simulation lets us design touch safely, at scale, before the real hand.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7" name="Connector 6"/>
          <p:cNvCxnSpPr/>
          <p:nvPr/>
        </p:nvCxnSpPr>
        <p:spPr>
          <a:xfrm>
            <a:off x="812800" y="4572000"/>
            <a:ext cx="10566400" cy="127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2800" y="4953000"/>
            <a:ext cx="105664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Questions?</a:t>
            </a:r>
            <a:endParaRPr sz="3200" b="1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2800" y="5689600"/>
            <a:ext cx="105664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 Your contact / lab info ]</a:t>
            </a:r>
            <a:endParaRPr sz="1800" b="0" i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3206</Words>
  <Application>WPS 文字</Application>
  <PresentationFormat>On-screen Show (4:3)</PresentationFormat>
  <Paragraphs>216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</vt:lpstr>
      <vt:lpstr>Aptos</vt:lpstr>
      <vt:lpstr>Helvetica Neue</vt:lpstr>
      <vt:lpstr>Calibri</vt:lpstr>
      <vt:lpstr>微软雅黑</vt:lpstr>
      <vt:lpstr>方正雅意黑 GB18030L2</vt:lpstr>
      <vt:lpstr>宋体</vt:lpstr>
      <vt:lpstr>Arial Unicode MS</vt:lpstr>
      <vt:lpstr>汉仪书宋二KW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WPS_171429480</cp:lastModifiedBy>
  <cp:revision>7</cp:revision>
  <dcterms:created xsi:type="dcterms:W3CDTF">2026-09-10T08:32:24Z</dcterms:created>
  <dcterms:modified xsi:type="dcterms:W3CDTF">2026-09-10T08:32:24Z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A4CC7BBB5C28611F7357A26A63CB5F7E_42</vt:lpwstr>
  </property>
  <property fmtid="{D5CDD505-2E9C-101B-9397-08002B2CF9AE}" pid="3" name="KSOProductBuildVer">
    <vt:lpwstr>2052-12.1.26046.26046</vt:lpwstr>
  </property>
</Properties>
</file>