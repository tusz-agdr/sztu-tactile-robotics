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 id="261" r:id="rId12"/>
    <p:sldId id="262" r:id="rId13"/>
    <p:sldId id="263" r:id="rId14"/>
    <p:sldId id="264" r:id="rId15"/>
    <p:sldId id="265" r:id="rId16"/>
  </p:sldIdLst>
  <p:sldSz cx="12192000" cy="6858000"/>
  <p:notesSz cx="6858000" cy="9144000"/>
  <p:defaultTextStyle>
    <a:defPPr>
      <a:defRPr lang="en-US"/>
    </a:defPPr>
    <a:lvl1pPr marL="0" algn="l" defTabSz="457200" rtl="0" eaLnBrk="1" latinLnBrk="0" hangingPunct="1">
      <a:defRPr lang="en-US" sz="1800" kern="1200">
        <a:solidFill>
          <a:schemeClr val="tx1"/>
        </a:solidFill>
        <a:latin typeface="+mn-lt"/>
        <a:ea typeface="+mn-ea"/>
        <a:cs typeface="+mn-cs"/>
      </a:defRPr>
    </a:lvl1pPr>
    <a:lvl2pPr marL="457200" algn="l" defTabSz="457200" rtl="0" eaLnBrk="1" latinLnBrk="0" hangingPunct="1">
      <a:defRPr lang="en-US" sz="1800" kern="1200">
        <a:solidFill>
          <a:schemeClr val="tx1"/>
        </a:solidFill>
        <a:latin typeface="+mn-lt"/>
        <a:ea typeface="+mn-ea"/>
        <a:cs typeface="+mn-cs"/>
      </a:defRPr>
    </a:lvl2pPr>
    <a:lvl3pPr marL="914400" algn="l" defTabSz="457200" rtl="0" eaLnBrk="1" latinLnBrk="0" hangingPunct="1">
      <a:defRPr lang="en-US" sz="1800" kern="1200">
        <a:solidFill>
          <a:schemeClr val="tx1"/>
        </a:solidFill>
        <a:latin typeface="+mn-lt"/>
        <a:ea typeface="+mn-ea"/>
        <a:cs typeface="+mn-cs"/>
      </a:defRPr>
    </a:lvl3pPr>
    <a:lvl4pPr marL="1371600" algn="l" defTabSz="457200" rtl="0" eaLnBrk="1" latinLnBrk="0" hangingPunct="1">
      <a:defRPr lang="en-US" sz="1800" kern="1200">
        <a:solidFill>
          <a:schemeClr val="tx1"/>
        </a:solidFill>
        <a:latin typeface="+mn-lt"/>
        <a:ea typeface="+mn-ea"/>
        <a:cs typeface="+mn-cs"/>
      </a:defRPr>
    </a:lvl4pPr>
    <a:lvl5pPr marL="1828800" algn="l" defTabSz="457200" rtl="0" eaLnBrk="1" latinLnBrk="0" hangingPunct="1">
      <a:defRPr lang="en-US" sz="1800" kern="1200">
        <a:solidFill>
          <a:schemeClr val="tx1"/>
        </a:solidFill>
        <a:latin typeface="+mn-lt"/>
        <a:ea typeface="+mn-ea"/>
        <a:cs typeface="+mn-cs"/>
      </a:defRPr>
    </a:lvl5pPr>
    <a:lvl6pPr marL="2286000" algn="l" defTabSz="457200" rtl="0" eaLnBrk="1" latinLnBrk="0" hangingPunct="1">
      <a:defRPr lang="en-US" sz="1800" kern="1200">
        <a:solidFill>
          <a:schemeClr val="tx1"/>
        </a:solidFill>
        <a:latin typeface="+mn-lt"/>
        <a:ea typeface="+mn-ea"/>
        <a:cs typeface="+mn-cs"/>
      </a:defRPr>
    </a:lvl6pPr>
    <a:lvl7pPr marL="2743200" algn="l" defTabSz="457200" rtl="0" eaLnBrk="1" latinLnBrk="0" hangingPunct="1">
      <a:defRPr lang="en-US" sz="1800" kern="1200">
        <a:solidFill>
          <a:schemeClr val="tx1"/>
        </a:solidFill>
        <a:latin typeface="+mn-lt"/>
        <a:ea typeface="+mn-ea"/>
        <a:cs typeface="+mn-cs"/>
      </a:defRPr>
    </a:lvl7pPr>
    <a:lvl8pPr marL="3200400" algn="l" defTabSz="457200" rtl="0" eaLnBrk="1" latinLnBrk="0" hangingPunct="1">
      <a:defRPr lang="en-US" sz="1800" kern="1200">
        <a:solidFill>
          <a:schemeClr val="tx1"/>
        </a:solidFill>
        <a:latin typeface="+mn-lt"/>
        <a:ea typeface="+mn-ea"/>
        <a:cs typeface="+mn-cs"/>
      </a:defRPr>
    </a:lvl8pPr>
    <a:lvl9pPr marL="3657600" algn="l" defTabSz="457200" rtl="0" eaLnBrk="1" latinLnBrk="0" hangingPunct="1">
      <a:defRPr lang="en-US"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84564"/>
  </p:normalViewPr>
  <p:slideViewPr>
    <p:cSldViewPr snapToGrid="0" snapToObjects="1">
      <p:cViewPr>
        <p:scale>
          <a:sx n="124" d="100"/>
          <a:sy n="124" d="100"/>
        </p:scale>
        <p:origin x="88"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This first slide shows the closed loop at a glance. The Quest browser is the sensing and interaction surface: it provides WebXR hand tracking, wrist pose, grip state, and control buttons. Those packets travel over secure WebSockets to the relay and then to one control owner on the computer. The control owner performs relative clutch mapping, Mink planning, watchdog checks, and state transitions. From there, the same front end can drive MuJoCo for simulation or the real Diana arms and DexH13 hands. Camera and robot state return to the Quest as a separate feedback path. A key architectural boundary is that this runtime does not depend on ROS; it uses the Diana Python SDK, native hand bridges, and direct USB camera access.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The VR packet has three kinds of information. First is pose: the wrist position and quaternion plus the 25 named WebXR hand joints. Second is operator intent: grip is a clutch for relative following, while A, B, X, and Y are state events. Third is freshness: the control computer measures the age of the newest packet on its own monotonic clock. Before a packet is consumed, the system checks tracking validity, finite values, and the known button set. The wrist is converted from the OpenXR convention into the DexH13 palm frame, and the Quest local-floor axes are mapped into the robot base frame using shared calibration. The arm command is relative, so releasing grip freezes the arm and discards the reference instead of leaving an old target active.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Mink provides the constrained motion layer. The target is a relative end-effector transform, while joint limits, collision distances, and the current robot state remain constraints. The main task follows the palm or TCP. A strict null-space term can bias elbow height and joints one, three, and four toward the current Home pose, but it is only used when the arm is being followed and the configuration is sufficiently manipulable. If the solve fails or the arm becomes too close to a singularity, the safe result is the measured joint state. Motion is shaped using exact forward kinematics: normal following is capped at 0.50 meters per second and 90 degrees per second. The planner also uses a 4-centimeter and 8-degree command lead boundary for re-anchoring. Collision distances are asymmetric by design: arms keep a 5-centimeter hard minimum with an 8-centimeter detection zone, while the hand can touch the table but cannot penetrate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The dexterous hand pipeline starts from the same WebXR skeleton, but it is a distinct retargeting path. The wrist orientation first defines the DexH13 palm-local frame. The 25 WebXR joints are arranged into the MediaPipe-style target ordering used by DexPilot, which solves for the 13 active actuator angles. The SDK still exposes 16 logical angles because index, middle, and ring joint four are passive observations. Those values are taken from the latest measurement when a command is built; they are never treated as independent targets. The native bridge owns the serial device, keeps a HOLD heartbeat, and refuses stale command reuse. Valid tracking and a valid wrist orientation are prerequisites for sending a new hand target.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final slide covers execution semantics. The arms can run in position mode or Cartesian impedance mode. A mode switch stops the current servo stream, changes mode once, and then resumes with the approved command timing. During normal following, servoJ_ex uses a horizon of at least 40 milliseconds and no more than the 50-millisecond planning window. Movement also requires explicit readiness: selected devices must be healthy, communication must be fresh, and the computer and VR operator must authorize the task. X latches a software stop. A communication violation, SDK failure, or controller collision keeps the system stopped. Y does not simply clear a software flag; it performs the complete hardware recovery chain before unlocking. Releasing grip or B stops refreshing commands and clears the old reference. These layers complement, but never replace, the physical emergency stop and Diana controller collision detection.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vr_teleop_intr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vr_teleop_intr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US" sz="1200">
                <a:solidFill>
                  <a:schemeClr val="tx1">
                    <a:tint val="75000"/>
                  </a:schemeClr>
                </a:solidFill>
              </a:defRPr>
            </a:lvl1pPr>
          </a:lstStyle>
          <a:p>
            <a:fld id="{5BCAD085-E8A6-8845-BD4E-CB4CCA059FC4}" type="datetimeFigureOut">
              <a:rPr lang="en-US" smtClean="0"/>
              <a:t>10/22/26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US"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US"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en-US"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en-US"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en-US"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en-US"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en-US"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en-US"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en-US"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en-US"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en-US"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en-US" sz="2000" kern="1200">
          <a:solidFill>
            <a:schemeClr val="tx1"/>
          </a:solidFill>
          <a:latin typeface="+mn-lt"/>
          <a:ea typeface="+mn-ea"/>
          <a:cs typeface="+mn-cs"/>
        </a:defRPr>
      </a:lvl9pPr>
    </p:bodyStyle>
    <p:otherStyle>
      <a:defPPr>
        <a:defRPr lang="en-US"/>
      </a:defPPr>
      <a:lvl1pPr marL="0" algn="l" defTabSz="457200" rtl="0" eaLnBrk="1" latinLnBrk="0" hangingPunct="1">
        <a:defRPr lang="en-US" sz="1800" kern="1200">
          <a:solidFill>
            <a:schemeClr val="tx1"/>
          </a:solidFill>
          <a:latin typeface="+mn-lt"/>
          <a:ea typeface="+mn-ea"/>
          <a:cs typeface="+mn-cs"/>
        </a:defRPr>
      </a:lvl1pPr>
      <a:lvl2pPr marL="457200" algn="l" defTabSz="457200" rtl="0" eaLnBrk="1" latinLnBrk="0" hangingPunct="1">
        <a:defRPr lang="en-US" sz="1800" kern="1200">
          <a:solidFill>
            <a:schemeClr val="tx1"/>
          </a:solidFill>
          <a:latin typeface="+mn-lt"/>
          <a:ea typeface="+mn-ea"/>
          <a:cs typeface="+mn-cs"/>
        </a:defRPr>
      </a:lvl2pPr>
      <a:lvl3pPr marL="914400" algn="l" defTabSz="457200" rtl="0" eaLnBrk="1" latinLnBrk="0" hangingPunct="1">
        <a:defRPr lang="en-US" sz="1800" kern="1200">
          <a:solidFill>
            <a:schemeClr val="tx1"/>
          </a:solidFill>
          <a:latin typeface="+mn-lt"/>
          <a:ea typeface="+mn-ea"/>
          <a:cs typeface="+mn-cs"/>
        </a:defRPr>
      </a:lvl3pPr>
      <a:lvl4pPr marL="1371600" algn="l" defTabSz="457200" rtl="0" eaLnBrk="1" latinLnBrk="0" hangingPunct="1">
        <a:defRPr lang="en-US" sz="1800" kern="1200">
          <a:solidFill>
            <a:schemeClr val="tx1"/>
          </a:solidFill>
          <a:latin typeface="+mn-lt"/>
          <a:ea typeface="+mn-ea"/>
          <a:cs typeface="+mn-cs"/>
        </a:defRPr>
      </a:lvl4pPr>
      <a:lvl5pPr marL="1828800" algn="l" defTabSz="457200" rtl="0" eaLnBrk="1" latinLnBrk="0" hangingPunct="1">
        <a:defRPr lang="en-US" sz="1800" kern="1200">
          <a:solidFill>
            <a:schemeClr val="tx1"/>
          </a:solidFill>
          <a:latin typeface="+mn-lt"/>
          <a:ea typeface="+mn-ea"/>
          <a:cs typeface="+mn-cs"/>
        </a:defRPr>
      </a:lvl5pPr>
      <a:lvl6pPr marL="2286000" algn="l" defTabSz="457200" rtl="0" eaLnBrk="1" latinLnBrk="0" hangingPunct="1">
        <a:defRPr lang="en-US" sz="1800" kern="1200">
          <a:solidFill>
            <a:schemeClr val="tx1"/>
          </a:solidFill>
          <a:latin typeface="+mn-lt"/>
          <a:ea typeface="+mn-ea"/>
          <a:cs typeface="+mn-cs"/>
        </a:defRPr>
      </a:lvl6pPr>
      <a:lvl7pPr marL="2743200" algn="l" defTabSz="457200" rtl="0" eaLnBrk="1" latinLnBrk="0" hangingPunct="1">
        <a:defRPr lang="en-US" sz="1800" kern="1200">
          <a:solidFill>
            <a:schemeClr val="tx1"/>
          </a:solidFill>
          <a:latin typeface="+mn-lt"/>
          <a:ea typeface="+mn-ea"/>
          <a:cs typeface="+mn-cs"/>
        </a:defRPr>
      </a:lvl7pPr>
      <a:lvl8pPr marL="3200400" algn="l" defTabSz="457200" rtl="0" eaLnBrk="1" latinLnBrk="0" hangingPunct="1">
        <a:defRPr lang="en-US" sz="1800" kern="1200">
          <a:solidFill>
            <a:schemeClr val="tx1"/>
          </a:solidFill>
          <a:latin typeface="+mn-lt"/>
          <a:ea typeface="+mn-ea"/>
          <a:cs typeface="+mn-cs"/>
        </a:defRPr>
      </a:lvl8pPr>
      <a:lvl9pPr marL="3657600" algn="l" defTabSz="457200" rtl="0" eaLnBrk="1" latinLnBrk="0" hangingPunct="1">
        <a:defRPr lang="en-US"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 name="TextBox 2"/>
          <p:cNvSpPr txBox="1"/>
          <p:nvPr/>
        </p:nvSpPr>
        <p:spPr>
          <a:xfrm>
            <a:off x="604838" y="342900"/>
            <a:ext cx="1403747" cy="176212"/>
          </a:xfrm>
          <a:prstGeom prst="rect">
            <a:avLst/>
          </a:prstGeom>
          <a:noFill/>
          <a:ln>
            <a:noFill/>
          </a:ln>
        </p:spPr>
        <p:txBody>
          <a:bodyPr wrap="none" lIns="0" tIns="0" rIns="0" bIns="0" anchor="t" anchorCtr="0">
            <a:spAutoFit/>
          </a:bodyPr>
          <a:lstStyle/>
          <a:p>
            <a:pPr algn="l"/>
            <a:r>
              <a:rPr lang="en-US" sz="900" b="1" spc="120" dirty="0">
                <a:solidFill>
                  <a:srgbClr val="52765A"/>
                </a:solidFill>
                <a:latin typeface="+mn-lt"/>
                <a:ea typeface="+mn-ea"/>
                <a:cs typeface="+mn-cs"/>
              </a:rPr>
              <a:t>01 / SYSTEM VIEW</a:t>
            </a:r>
          </a:p>
        </p:txBody>
      </p:sp>
      <p:sp>
        <p:nvSpPr>
          <p:cNvPr id="3" name="TextBox 3"/>
          <p:cNvSpPr txBox="1"/>
          <p:nvPr/>
        </p:nvSpPr>
        <p:spPr>
          <a:xfrm>
            <a:off x="598170" y="596900"/>
            <a:ext cx="5404454" cy="440055"/>
          </a:xfrm>
          <a:prstGeom prst="rect">
            <a:avLst/>
          </a:prstGeom>
          <a:noFill/>
          <a:ln>
            <a:noFill/>
          </a:ln>
        </p:spPr>
        <p:txBody>
          <a:bodyPr wrap="none" lIns="0" tIns="0" rIns="0" bIns="0" anchor="t" anchorCtr="0">
            <a:spAutoFit/>
          </a:bodyPr>
          <a:lstStyle/>
          <a:p>
            <a:pPr algn="l"/>
            <a:r>
              <a:rPr lang="en-US" sz="2250" b="1" dirty="0">
                <a:solidFill>
                  <a:srgbClr val="1D2B24"/>
                </a:solidFill>
                <a:latin typeface="+mn-lt"/>
                <a:ea typeface="+mn-ea"/>
                <a:cs typeface="+mn-cs"/>
              </a:rPr>
              <a:t>A closed-loop VR teleoperation stack</a:t>
            </a:r>
          </a:p>
        </p:txBody>
      </p:sp>
      <p:sp>
        <p:nvSpPr>
          <p:cNvPr id="4" name="TextBox 4"/>
          <p:cNvSpPr txBox="1"/>
          <p:nvPr/>
        </p:nvSpPr>
        <p:spPr>
          <a:xfrm>
            <a:off x="603504" y="1000125"/>
            <a:ext cx="7875119" cy="234696"/>
          </a:xfrm>
          <a:prstGeom prst="rect">
            <a:avLst/>
          </a:prstGeom>
          <a:noFill/>
          <a:ln>
            <a:noFill/>
          </a:ln>
        </p:spPr>
        <p:txBody>
          <a:bodyPr wrap="none" lIns="0" tIns="0" rIns="0" bIns="0" anchor="t" anchorCtr="0">
            <a:spAutoFit/>
          </a:bodyPr>
          <a:lstStyle/>
          <a:p>
            <a:pPr algn="l"/>
            <a:r>
              <a:rPr lang="en-US" sz="1200" dirty="0">
                <a:solidFill>
                  <a:srgbClr val="657269"/>
                </a:solidFill>
                <a:latin typeface="+mn-lt"/>
                <a:ea typeface="+mn-ea"/>
                <a:cs typeface="+mn-cs"/>
              </a:rPr>
              <a:t>One control loop connects tracked human motion, constrained planning, robot execution, and visual feedback.</a:t>
            </a:r>
          </a:p>
        </p:txBody>
      </p:sp>
      <p:sp>
        <p:nvSpPr>
          <p:cNvPr id="5" name="Line 5"/>
          <p:cNvSpPr/>
          <p:nvPr/>
        </p:nvSpPr>
        <p:spPr>
          <a:xfrm>
            <a:off x="609600" y="1381125"/>
            <a:ext cx="10972800" cy="9525"/>
          </a:xfrm>
          <a:custGeom>
            <a:avLst/>
            <a:gdLst/>
            <a:ahLst/>
            <a:cxnLst/>
            <a:rect l="l" t="t" r="r" b="b"/>
            <a:pathLst>
              <a:path w="10972800" h="9525">
                <a:moveTo>
                  <a:pt x="0" y="0"/>
                </a:moveTo>
                <a:lnTo>
                  <a:pt x="10972800" y="0"/>
                </a:lnTo>
              </a:path>
            </a:pathLst>
          </a:custGeom>
          <a:noFill/>
          <a:ln w="9525">
            <a:solidFill>
              <a:srgbClr val="C9D4CB"/>
            </a:solidFill>
          </a:ln>
        </p:spPr>
        <p:txBody>
          <a:bodyPr/>
          <a:lstStyle/>
          <a:p>
            <a:endParaRPr lang="zh-CN" altLang="en-US"/>
          </a:p>
        </p:txBody>
      </p:sp>
      <p:sp>
        <p:nvSpPr>
          <p:cNvPr id="6" name="TextBox 6"/>
          <p:cNvSpPr txBox="1"/>
          <p:nvPr/>
        </p:nvSpPr>
        <p:spPr>
          <a:xfrm>
            <a:off x="604838" y="6464300"/>
            <a:ext cx="3027374" cy="147638"/>
          </a:xfrm>
          <a:prstGeom prst="rect">
            <a:avLst/>
          </a:prstGeom>
          <a:noFill/>
          <a:ln>
            <a:noFill/>
          </a:ln>
        </p:spPr>
        <p:txBody>
          <a:bodyPr wrap="none" lIns="0" tIns="0" rIns="0" bIns="0" anchor="t" anchorCtr="0">
            <a:spAutoFit/>
          </a:bodyPr>
          <a:lstStyle/>
          <a:p>
            <a:pPr algn="l"/>
            <a:r>
              <a:rPr lang="en-US" sz="750" b="1" spc="60" dirty="0">
                <a:solidFill>
                  <a:srgbClr val="657269"/>
                </a:solidFill>
                <a:latin typeface="+mn-lt"/>
                <a:ea typeface="+mn-ea"/>
                <a:cs typeface="+mn-cs"/>
              </a:rPr>
              <a:t>DEXMAN_LEROBOT / VR TELEOPERATION SYSTEM</a:t>
            </a:r>
          </a:p>
        </p:txBody>
      </p:sp>
      <p:sp>
        <p:nvSpPr>
          <p:cNvPr id="7" name="TextBox 7"/>
          <p:cNvSpPr txBox="1"/>
          <p:nvPr/>
        </p:nvSpPr>
        <p:spPr>
          <a:xfrm>
            <a:off x="11268866" y="6464300"/>
            <a:ext cx="318296" cy="147638"/>
          </a:xfrm>
          <a:prstGeom prst="rect">
            <a:avLst/>
          </a:prstGeom>
          <a:noFill/>
          <a:ln>
            <a:noFill/>
          </a:ln>
        </p:spPr>
        <p:txBody>
          <a:bodyPr wrap="none" lIns="0" tIns="0" rIns="0" bIns="0" anchor="t" anchorCtr="0">
            <a:spAutoFit/>
          </a:bodyPr>
          <a:lstStyle/>
          <a:p>
            <a:pPr algn="r"/>
            <a:r>
              <a:rPr lang="en-US" sz="750" b="1" dirty="0">
                <a:solidFill>
                  <a:srgbClr val="657269"/>
                </a:solidFill>
                <a:latin typeface="+mn-lt"/>
                <a:ea typeface="+mn-ea"/>
                <a:cs typeface="+mn-cs"/>
              </a:rPr>
              <a:t>01 / 10</a:t>
            </a:r>
          </a:p>
        </p:txBody>
      </p:sp>
      <p:grpSp>
        <p:nvGrpSpPr>
          <p:cNvPr id="63" name="组合 62">
            <a:extLst>
              <a:ext uri="{FF2B5EF4-FFF2-40B4-BE49-F238E27FC236}">
                <a16:creationId xmlns:a16="http://schemas.microsoft.com/office/drawing/2014/main" id="{3D2D7096-4C10-FCDC-EB39-D926D9607E0D}"/>
              </a:ext>
            </a:extLst>
          </p:cNvPr>
          <p:cNvGrpSpPr/>
          <p:nvPr/>
        </p:nvGrpSpPr>
        <p:grpSpPr>
          <a:xfrm>
            <a:off x="598170" y="1686814"/>
            <a:ext cx="1123950" cy="266700"/>
            <a:chOff x="609600" y="1676400"/>
            <a:chExt cx="1123950" cy="266700"/>
          </a:xfrm>
        </p:grpSpPr>
        <p:sp>
          <p:nvSpPr>
            <p:cNvPr id="8" name="Rectangle 8"/>
            <p:cNvSpPr/>
            <p:nvPr/>
          </p:nvSpPr>
          <p:spPr>
            <a:xfrm>
              <a:off x="609600" y="1676400"/>
              <a:ext cx="1123950" cy="266700"/>
            </a:xfrm>
            <a:prstGeom prst="roundRect">
              <a:avLst>
                <a:gd name="adj" fmla="val 50000"/>
              </a:avLst>
            </a:prstGeom>
            <a:solidFill>
              <a:srgbClr val="DDE8DE"/>
            </a:solidFill>
            <a:ln>
              <a:noFill/>
            </a:ln>
          </p:spPr>
          <p:txBody>
            <a:bodyPr/>
            <a:lstStyle/>
            <a:p>
              <a:endParaRPr lang="zh-CN" altLang="en-US"/>
            </a:p>
          </p:txBody>
        </p:sp>
        <p:sp>
          <p:nvSpPr>
            <p:cNvPr id="9" name="TextBox 9"/>
            <p:cNvSpPr txBox="1"/>
            <p:nvPr/>
          </p:nvSpPr>
          <p:spPr>
            <a:xfrm>
              <a:off x="740071" y="1743075"/>
              <a:ext cx="863008" cy="176212"/>
            </a:xfrm>
            <a:prstGeom prst="rect">
              <a:avLst/>
            </a:prstGeom>
            <a:noFill/>
            <a:ln>
              <a:noFill/>
            </a:ln>
          </p:spPr>
          <p:txBody>
            <a:bodyPr wrap="none" lIns="0" tIns="0" rIns="0" bIns="0" anchor="t" anchorCtr="0">
              <a:spAutoFit/>
            </a:bodyPr>
            <a:lstStyle/>
            <a:p>
              <a:pPr algn="ctr"/>
              <a:r>
                <a:rPr lang="en-US" sz="900" b="1" dirty="0">
                  <a:solidFill>
                    <a:srgbClr val="52765A"/>
                  </a:solidFill>
                  <a:latin typeface="+mn-lt"/>
                  <a:ea typeface="+mn-ea"/>
                  <a:cs typeface="+mn-cs"/>
                </a:rPr>
                <a:t>INPUT LAYER</a:t>
              </a:r>
            </a:p>
          </p:txBody>
        </p:sp>
      </p:grpSp>
      <p:grpSp>
        <p:nvGrpSpPr>
          <p:cNvPr id="62" name="组合 61">
            <a:extLst>
              <a:ext uri="{FF2B5EF4-FFF2-40B4-BE49-F238E27FC236}">
                <a16:creationId xmlns:a16="http://schemas.microsoft.com/office/drawing/2014/main" id="{CBF8AC89-7418-A3EC-E091-912E93D7D365}"/>
              </a:ext>
            </a:extLst>
          </p:cNvPr>
          <p:cNvGrpSpPr/>
          <p:nvPr/>
        </p:nvGrpSpPr>
        <p:grpSpPr>
          <a:xfrm>
            <a:off x="4471671" y="1684655"/>
            <a:ext cx="1276350" cy="266700"/>
            <a:chOff x="4514850" y="1676400"/>
            <a:chExt cx="1276350" cy="266700"/>
          </a:xfrm>
        </p:grpSpPr>
        <p:sp>
          <p:nvSpPr>
            <p:cNvPr id="10" name="Rectangle 10"/>
            <p:cNvSpPr/>
            <p:nvPr/>
          </p:nvSpPr>
          <p:spPr>
            <a:xfrm>
              <a:off x="4514850" y="1676400"/>
              <a:ext cx="1276350" cy="266700"/>
            </a:xfrm>
            <a:prstGeom prst="roundRect">
              <a:avLst>
                <a:gd name="adj" fmla="val 50000"/>
              </a:avLst>
            </a:prstGeom>
            <a:solidFill>
              <a:srgbClr val="DDE8DE"/>
            </a:solidFill>
            <a:ln>
              <a:noFill/>
            </a:ln>
          </p:spPr>
          <p:txBody>
            <a:bodyPr/>
            <a:lstStyle/>
            <a:p>
              <a:endParaRPr lang="zh-CN" altLang="en-US"/>
            </a:p>
          </p:txBody>
        </p:sp>
        <p:sp>
          <p:nvSpPr>
            <p:cNvPr id="11" name="TextBox 11"/>
            <p:cNvSpPr txBox="1"/>
            <p:nvPr/>
          </p:nvSpPr>
          <p:spPr>
            <a:xfrm>
              <a:off x="4597102" y="1743075"/>
              <a:ext cx="1111845" cy="176212"/>
            </a:xfrm>
            <a:prstGeom prst="rect">
              <a:avLst/>
            </a:prstGeom>
            <a:noFill/>
            <a:ln>
              <a:noFill/>
            </a:ln>
          </p:spPr>
          <p:txBody>
            <a:bodyPr wrap="none" lIns="0" tIns="0" rIns="0" bIns="0" anchor="t" anchorCtr="0">
              <a:spAutoFit/>
            </a:bodyPr>
            <a:lstStyle/>
            <a:p>
              <a:pPr algn="ctr"/>
              <a:r>
                <a:rPr lang="en-US" sz="900" b="1" dirty="0">
                  <a:solidFill>
                    <a:srgbClr val="52765A"/>
                  </a:solidFill>
                  <a:latin typeface="+mn-lt"/>
                  <a:ea typeface="+mn-ea"/>
                  <a:cs typeface="+mn-cs"/>
                </a:rPr>
                <a:t>CONTROL LAYER</a:t>
              </a:r>
            </a:p>
          </p:txBody>
        </p:sp>
      </p:grpSp>
      <p:grpSp>
        <p:nvGrpSpPr>
          <p:cNvPr id="61" name="组合 60">
            <a:extLst>
              <a:ext uri="{FF2B5EF4-FFF2-40B4-BE49-F238E27FC236}">
                <a16:creationId xmlns:a16="http://schemas.microsoft.com/office/drawing/2014/main" id="{504BC501-9B51-3160-3FA6-C504BF738946}"/>
              </a:ext>
            </a:extLst>
          </p:cNvPr>
          <p:cNvGrpSpPr/>
          <p:nvPr/>
        </p:nvGrpSpPr>
        <p:grpSpPr>
          <a:xfrm>
            <a:off x="8677308" y="1684655"/>
            <a:ext cx="1428750" cy="266700"/>
            <a:chOff x="8667750" y="1676400"/>
            <a:chExt cx="1428750" cy="266700"/>
          </a:xfrm>
        </p:grpSpPr>
        <p:sp>
          <p:nvSpPr>
            <p:cNvPr id="12" name="Rectangle 12"/>
            <p:cNvSpPr/>
            <p:nvPr/>
          </p:nvSpPr>
          <p:spPr>
            <a:xfrm>
              <a:off x="8667750" y="1676400"/>
              <a:ext cx="1428750" cy="266700"/>
            </a:xfrm>
            <a:prstGeom prst="roundRect">
              <a:avLst>
                <a:gd name="adj" fmla="val 50000"/>
              </a:avLst>
            </a:prstGeom>
            <a:solidFill>
              <a:srgbClr val="DDE8DE"/>
            </a:solidFill>
            <a:ln>
              <a:noFill/>
            </a:ln>
          </p:spPr>
          <p:txBody>
            <a:bodyPr/>
            <a:lstStyle/>
            <a:p>
              <a:endParaRPr lang="zh-CN" altLang="en-US"/>
            </a:p>
          </p:txBody>
        </p:sp>
        <p:sp>
          <p:nvSpPr>
            <p:cNvPr id="13" name="TextBox 13"/>
            <p:cNvSpPr txBox="1"/>
            <p:nvPr/>
          </p:nvSpPr>
          <p:spPr>
            <a:xfrm>
              <a:off x="8769222" y="1743075"/>
              <a:ext cx="1225805" cy="176212"/>
            </a:xfrm>
            <a:prstGeom prst="rect">
              <a:avLst/>
            </a:prstGeom>
            <a:noFill/>
            <a:ln>
              <a:noFill/>
            </a:ln>
          </p:spPr>
          <p:txBody>
            <a:bodyPr wrap="none" lIns="0" tIns="0" rIns="0" bIns="0" anchor="t" anchorCtr="0">
              <a:spAutoFit/>
            </a:bodyPr>
            <a:lstStyle/>
            <a:p>
              <a:pPr algn="ctr"/>
              <a:r>
                <a:rPr lang="en-US" sz="900" b="1" dirty="0">
                  <a:solidFill>
                    <a:srgbClr val="52765A"/>
                  </a:solidFill>
                  <a:latin typeface="+mn-lt"/>
                  <a:ea typeface="+mn-ea"/>
                  <a:cs typeface="+mn-cs"/>
                </a:rPr>
                <a:t>EXECUTION LAYER</a:t>
              </a:r>
            </a:p>
          </p:txBody>
        </p:sp>
      </p:grpSp>
      <p:grpSp>
        <p:nvGrpSpPr>
          <p:cNvPr id="58" name="组合 57">
            <a:extLst>
              <a:ext uri="{FF2B5EF4-FFF2-40B4-BE49-F238E27FC236}">
                <a16:creationId xmlns:a16="http://schemas.microsoft.com/office/drawing/2014/main" id="{83089102-EFD3-1F46-AC98-6DA5A665501F}"/>
              </a:ext>
            </a:extLst>
          </p:cNvPr>
          <p:cNvGrpSpPr/>
          <p:nvPr/>
        </p:nvGrpSpPr>
        <p:grpSpPr>
          <a:xfrm>
            <a:off x="598170" y="2116709"/>
            <a:ext cx="2859372" cy="1367662"/>
            <a:chOff x="607728" y="2095500"/>
            <a:chExt cx="2859372" cy="1367662"/>
          </a:xfrm>
        </p:grpSpPr>
        <p:sp>
          <p:nvSpPr>
            <p:cNvPr id="14" name="Rectangle 14"/>
            <p:cNvSpPr/>
            <p:nvPr/>
          </p:nvSpPr>
          <p:spPr>
            <a:xfrm>
              <a:off x="609600" y="2095500"/>
              <a:ext cx="2857500" cy="1367662"/>
            </a:xfrm>
            <a:prstGeom prst="roundRect">
              <a:avLst>
                <a:gd name="adj" fmla="val 8889"/>
              </a:avLst>
            </a:prstGeom>
            <a:solidFill>
              <a:srgbClr val="FFFFFF"/>
            </a:solidFill>
            <a:ln w="9525">
              <a:solidFill>
                <a:srgbClr val="C9D4CB"/>
              </a:solidFill>
            </a:ln>
          </p:spPr>
          <p:txBody>
            <a:bodyPr/>
            <a:lstStyle/>
            <a:p>
              <a:endParaRPr lang="zh-CN" altLang="en-US"/>
            </a:p>
          </p:txBody>
        </p:sp>
        <p:sp>
          <p:nvSpPr>
            <p:cNvPr id="15" name="Rectangle 15"/>
            <p:cNvSpPr/>
            <p:nvPr/>
          </p:nvSpPr>
          <p:spPr>
            <a:xfrm>
              <a:off x="607728" y="2196148"/>
              <a:ext cx="57150" cy="1144460"/>
            </a:xfrm>
            <a:prstGeom prst="roundRect">
              <a:avLst>
                <a:gd name="adj" fmla="val 50000"/>
              </a:avLst>
            </a:prstGeom>
            <a:solidFill>
              <a:srgbClr val="52765A"/>
            </a:solidFill>
            <a:ln>
              <a:noFill/>
            </a:ln>
          </p:spPr>
          <p:txBody>
            <a:bodyPr/>
            <a:lstStyle/>
            <a:p>
              <a:endParaRPr lang="zh-CN" altLang="en-US"/>
            </a:p>
          </p:txBody>
        </p:sp>
        <p:sp>
          <p:nvSpPr>
            <p:cNvPr id="16" name="TextBox 16"/>
            <p:cNvSpPr txBox="1"/>
            <p:nvPr/>
          </p:nvSpPr>
          <p:spPr>
            <a:xfrm>
              <a:off x="813054" y="2238375"/>
              <a:ext cx="1196258" cy="234696"/>
            </a:xfrm>
            <a:prstGeom prst="rect">
              <a:avLst/>
            </a:prstGeom>
            <a:noFill/>
            <a:ln>
              <a:noFill/>
            </a:ln>
          </p:spPr>
          <p:txBody>
            <a:bodyPr wrap="none" lIns="0" tIns="0" rIns="0" bIns="0" anchor="t" anchorCtr="0">
              <a:spAutoFit/>
            </a:bodyPr>
            <a:lstStyle/>
            <a:p>
              <a:pPr algn="l"/>
              <a:r>
                <a:rPr lang="en-US" sz="1200" b="1" dirty="0">
                  <a:solidFill>
                    <a:srgbClr val="1D2B24"/>
                  </a:solidFill>
                  <a:latin typeface="+mn-lt"/>
                  <a:ea typeface="+mn-ea"/>
                  <a:cs typeface="+mn-cs"/>
                </a:rPr>
                <a:t>Quest / WebXR</a:t>
              </a:r>
            </a:p>
          </p:txBody>
        </p:sp>
        <p:sp>
          <p:nvSpPr>
            <p:cNvPr id="17" name="Ellipse 17"/>
            <p:cNvSpPr/>
            <p:nvPr/>
          </p:nvSpPr>
          <p:spPr>
            <a:xfrm>
              <a:off x="838200" y="2590800"/>
              <a:ext cx="57150" cy="57150"/>
            </a:xfrm>
            <a:prstGeom prst="ellipse">
              <a:avLst/>
            </a:prstGeom>
            <a:solidFill>
              <a:srgbClr val="52765A"/>
            </a:solidFill>
            <a:ln>
              <a:noFill/>
            </a:ln>
          </p:spPr>
          <p:txBody>
            <a:bodyPr/>
            <a:lstStyle/>
            <a:p>
              <a:endParaRPr lang="zh-CN" altLang="en-US"/>
            </a:p>
          </p:txBody>
        </p:sp>
        <p:sp>
          <p:nvSpPr>
            <p:cNvPr id="18" name="TextBox 18"/>
            <p:cNvSpPr txBox="1"/>
            <p:nvPr/>
          </p:nvSpPr>
          <p:spPr>
            <a:xfrm>
              <a:off x="1004316" y="2540000"/>
              <a:ext cx="1362266"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25-joint hand tracking</a:t>
              </a:r>
            </a:p>
          </p:txBody>
        </p:sp>
        <p:sp>
          <p:nvSpPr>
            <p:cNvPr id="19" name="Ellipse 19"/>
            <p:cNvSpPr/>
            <p:nvPr/>
          </p:nvSpPr>
          <p:spPr>
            <a:xfrm>
              <a:off x="838200" y="2819400"/>
              <a:ext cx="57150" cy="57150"/>
            </a:xfrm>
            <a:prstGeom prst="ellipse">
              <a:avLst/>
            </a:prstGeom>
            <a:solidFill>
              <a:srgbClr val="52765A"/>
            </a:solidFill>
            <a:ln>
              <a:noFill/>
            </a:ln>
          </p:spPr>
          <p:txBody>
            <a:bodyPr/>
            <a:lstStyle/>
            <a:p>
              <a:endParaRPr lang="zh-CN" altLang="en-US"/>
            </a:p>
          </p:txBody>
        </p:sp>
        <p:sp>
          <p:nvSpPr>
            <p:cNvPr id="20" name="TextBox 20"/>
            <p:cNvSpPr txBox="1"/>
            <p:nvPr/>
          </p:nvSpPr>
          <p:spPr>
            <a:xfrm>
              <a:off x="1004316" y="2768600"/>
              <a:ext cx="1661246"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Wrist pose + grip / buttons</a:t>
              </a:r>
            </a:p>
          </p:txBody>
        </p:sp>
        <p:sp>
          <p:nvSpPr>
            <p:cNvPr id="21" name="Ellipse 21"/>
            <p:cNvSpPr/>
            <p:nvPr/>
          </p:nvSpPr>
          <p:spPr>
            <a:xfrm>
              <a:off x="838200" y="3048000"/>
              <a:ext cx="57150" cy="57150"/>
            </a:xfrm>
            <a:prstGeom prst="ellipse">
              <a:avLst/>
            </a:prstGeom>
            <a:solidFill>
              <a:srgbClr val="52765A"/>
            </a:solidFill>
            <a:ln>
              <a:noFill/>
            </a:ln>
          </p:spPr>
          <p:txBody>
            <a:bodyPr/>
            <a:lstStyle/>
            <a:p>
              <a:endParaRPr lang="zh-CN" altLang="en-US"/>
            </a:p>
          </p:txBody>
        </p:sp>
        <p:sp>
          <p:nvSpPr>
            <p:cNvPr id="22" name="TextBox 22"/>
            <p:cNvSpPr txBox="1"/>
            <p:nvPr/>
          </p:nvSpPr>
          <p:spPr>
            <a:xfrm>
              <a:off x="1004316" y="2997200"/>
              <a:ext cx="1650917"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HTTPS + WSS over LAN</a:t>
              </a:r>
            </a:p>
          </p:txBody>
        </p:sp>
      </p:grpSp>
      <p:sp>
        <p:nvSpPr>
          <p:cNvPr id="41" name="Line 41"/>
          <p:cNvSpPr/>
          <p:nvPr/>
        </p:nvSpPr>
        <p:spPr>
          <a:xfrm>
            <a:off x="3467100" y="2952750"/>
            <a:ext cx="952500" cy="1"/>
          </a:xfrm>
          <a:prstGeom prst="line">
            <a:avLst/>
          </a:prstGeom>
          <a:noFill/>
          <a:ln w="28575">
            <a:solidFill>
              <a:srgbClr val="52765A"/>
            </a:solidFill>
            <a:tailEnd type="triangle" w="lg" len="lg"/>
          </a:ln>
        </p:spPr>
        <p:txBody>
          <a:bodyPr/>
          <a:lstStyle/>
          <a:p>
            <a:endParaRPr lang="zh-CN" altLang="en-US"/>
          </a:p>
        </p:txBody>
      </p:sp>
      <p:sp>
        <p:nvSpPr>
          <p:cNvPr id="42" name="Line 42"/>
          <p:cNvSpPr/>
          <p:nvPr/>
        </p:nvSpPr>
        <p:spPr>
          <a:xfrm>
            <a:off x="7753350" y="2952750"/>
            <a:ext cx="819150" cy="1"/>
          </a:xfrm>
          <a:prstGeom prst="line">
            <a:avLst/>
          </a:prstGeom>
          <a:noFill/>
          <a:ln w="28575">
            <a:solidFill>
              <a:srgbClr val="52765A"/>
            </a:solidFill>
            <a:tailEnd type="triangle" w="lg" len="lg"/>
          </a:ln>
        </p:spPr>
        <p:txBody>
          <a:bodyPr/>
          <a:lstStyle/>
          <a:p>
            <a:endParaRPr lang="zh-CN" altLang="en-US"/>
          </a:p>
        </p:txBody>
      </p:sp>
      <p:sp>
        <p:nvSpPr>
          <p:cNvPr id="43" name="Rectangle 43"/>
          <p:cNvSpPr/>
          <p:nvPr/>
        </p:nvSpPr>
        <p:spPr>
          <a:xfrm>
            <a:off x="598170" y="4120340"/>
            <a:ext cx="10972800" cy="1200150"/>
          </a:xfrm>
          <a:prstGeom prst="roundRect">
            <a:avLst>
              <a:gd name="adj" fmla="val 14286"/>
            </a:avLst>
          </a:prstGeom>
          <a:solidFill>
            <a:srgbClr val="EEF3EE"/>
          </a:solidFill>
          <a:ln>
            <a:noFill/>
          </a:ln>
        </p:spPr>
        <p:txBody>
          <a:bodyPr/>
          <a:lstStyle/>
          <a:p>
            <a:endParaRPr lang="zh-CN" altLang="en-US"/>
          </a:p>
        </p:txBody>
      </p:sp>
      <p:sp>
        <p:nvSpPr>
          <p:cNvPr id="44" name="TextBox 44"/>
          <p:cNvSpPr txBox="1"/>
          <p:nvPr/>
        </p:nvSpPr>
        <p:spPr>
          <a:xfrm>
            <a:off x="803496" y="4282232"/>
            <a:ext cx="1298262" cy="176212"/>
          </a:xfrm>
          <a:prstGeom prst="rect">
            <a:avLst/>
          </a:prstGeom>
          <a:noFill/>
          <a:ln>
            <a:noFill/>
          </a:ln>
        </p:spPr>
        <p:txBody>
          <a:bodyPr wrap="none" lIns="0" tIns="0" rIns="0" bIns="0" anchor="t" anchorCtr="0">
            <a:spAutoFit/>
          </a:bodyPr>
          <a:lstStyle/>
          <a:p>
            <a:pPr algn="l"/>
            <a:r>
              <a:rPr lang="en-US" sz="900" b="1" spc="105" dirty="0">
                <a:solidFill>
                  <a:srgbClr val="52765A"/>
                </a:solidFill>
                <a:latin typeface="+mn-lt"/>
                <a:ea typeface="+mn-ea"/>
                <a:cs typeface="+mn-cs"/>
              </a:rPr>
              <a:t>FEEDBACK LOOP</a:t>
            </a:r>
          </a:p>
        </p:txBody>
      </p:sp>
      <p:grpSp>
        <p:nvGrpSpPr>
          <p:cNvPr id="64" name="组合 63">
            <a:extLst>
              <a:ext uri="{FF2B5EF4-FFF2-40B4-BE49-F238E27FC236}">
                <a16:creationId xmlns:a16="http://schemas.microsoft.com/office/drawing/2014/main" id="{BDB07550-8AF1-8C1D-0BA0-80DC8FD5F679}"/>
              </a:ext>
            </a:extLst>
          </p:cNvPr>
          <p:cNvGrpSpPr/>
          <p:nvPr/>
        </p:nvGrpSpPr>
        <p:grpSpPr>
          <a:xfrm>
            <a:off x="890975" y="4609544"/>
            <a:ext cx="3307219" cy="512192"/>
            <a:chOff x="838200" y="4838700"/>
            <a:chExt cx="2667000" cy="457200"/>
          </a:xfrm>
        </p:grpSpPr>
        <p:sp>
          <p:nvSpPr>
            <p:cNvPr id="45" name="Rectangle 45"/>
            <p:cNvSpPr/>
            <p:nvPr/>
          </p:nvSpPr>
          <p:spPr>
            <a:xfrm>
              <a:off x="838200" y="4838700"/>
              <a:ext cx="2667000" cy="457200"/>
            </a:xfrm>
            <a:prstGeom prst="roundRect">
              <a:avLst>
                <a:gd name="adj" fmla="val 25000"/>
              </a:avLst>
            </a:prstGeom>
            <a:solidFill>
              <a:srgbClr val="FFFFFF"/>
            </a:solidFill>
            <a:ln w="9525">
              <a:solidFill>
                <a:srgbClr val="C9D4CB"/>
              </a:solidFill>
            </a:ln>
          </p:spPr>
          <p:txBody>
            <a:bodyPr/>
            <a:lstStyle/>
            <a:p>
              <a:endParaRPr lang="zh-CN" altLang="en-US"/>
            </a:p>
          </p:txBody>
        </p:sp>
        <p:sp>
          <p:nvSpPr>
            <p:cNvPr id="46" name="TextBox 46"/>
            <p:cNvSpPr txBox="1"/>
            <p:nvPr/>
          </p:nvSpPr>
          <p:spPr>
            <a:xfrm>
              <a:off x="1089673" y="4982781"/>
              <a:ext cx="2164054" cy="172355"/>
            </a:xfrm>
            <a:prstGeom prst="rect">
              <a:avLst/>
            </a:prstGeom>
            <a:noFill/>
            <a:ln>
              <a:noFill/>
            </a:ln>
          </p:spPr>
          <p:txBody>
            <a:bodyPr wrap="none" lIns="0" tIns="0" rIns="0" bIns="0" anchor="t" anchorCtr="0">
              <a:spAutoFit/>
            </a:bodyPr>
            <a:lstStyle/>
            <a:p>
              <a:pPr algn="ctr"/>
              <a:r>
                <a:rPr lang="en-US" sz="1120" b="1" dirty="0">
                  <a:solidFill>
                    <a:srgbClr val="1D2B24"/>
                  </a:solidFill>
                  <a:latin typeface="+mn-lt"/>
                  <a:ea typeface="+mn-ea"/>
                  <a:cs typeface="+mn-cs"/>
                </a:rPr>
                <a:t>JPEG / WebRTC camera stream</a:t>
              </a:r>
            </a:p>
          </p:txBody>
        </p:sp>
      </p:grpSp>
      <p:grpSp>
        <p:nvGrpSpPr>
          <p:cNvPr id="65" name="组合 64">
            <a:extLst>
              <a:ext uri="{FF2B5EF4-FFF2-40B4-BE49-F238E27FC236}">
                <a16:creationId xmlns:a16="http://schemas.microsoft.com/office/drawing/2014/main" id="{26605BAA-7F8A-660A-B273-30E04898087F}"/>
              </a:ext>
            </a:extLst>
          </p:cNvPr>
          <p:cNvGrpSpPr/>
          <p:nvPr/>
        </p:nvGrpSpPr>
        <p:grpSpPr>
          <a:xfrm>
            <a:off x="4403519" y="4609544"/>
            <a:ext cx="3307219" cy="512192"/>
            <a:chOff x="3905250" y="4838700"/>
            <a:chExt cx="2667000" cy="457200"/>
          </a:xfrm>
        </p:grpSpPr>
        <p:sp>
          <p:nvSpPr>
            <p:cNvPr id="47" name="Rectangle 47"/>
            <p:cNvSpPr/>
            <p:nvPr/>
          </p:nvSpPr>
          <p:spPr>
            <a:xfrm>
              <a:off x="3905250" y="4838700"/>
              <a:ext cx="2667000" cy="457200"/>
            </a:xfrm>
            <a:prstGeom prst="roundRect">
              <a:avLst>
                <a:gd name="adj" fmla="val 25000"/>
              </a:avLst>
            </a:prstGeom>
            <a:solidFill>
              <a:srgbClr val="FFFFFF"/>
            </a:solidFill>
            <a:ln w="9525">
              <a:solidFill>
                <a:srgbClr val="C9D4CB"/>
              </a:solidFill>
            </a:ln>
          </p:spPr>
          <p:txBody>
            <a:bodyPr/>
            <a:lstStyle/>
            <a:p>
              <a:endParaRPr lang="zh-CN" altLang="en-US"/>
            </a:p>
          </p:txBody>
        </p:sp>
        <p:sp>
          <p:nvSpPr>
            <p:cNvPr id="48" name="TextBox 48"/>
            <p:cNvSpPr txBox="1"/>
            <p:nvPr/>
          </p:nvSpPr>
          <p:spPr>
            <a:xfrm>
              <a:off x="4359503" y="4982781"/>
              <a:ext cx="1758494" cy="172355"/>
            </a:xfrm>
            <a:prstGeom prst="rect">
              <a:avLst/>
            </a:prstGeom>
            <a:noFill/>
            <a:ln>
              <a:noFill/>
            </a:ln>
          </p:spPr>
          <p:txBody>
            <a:bodyPr wrap="none" lIns="0" tIns="0" rIns="0" bIns="0" anchor="t" anchorCtr="0">
              <a:spAutoFit/>
            </a:bodyPr>
            <a:lstStyle/>
            <a:p>
              <a:pPr algn="ctr"/>
              <a:r>
                <a:rPr lang="en-US" sz="1120" b="1" dirty="0">
                  <a:solidFill>
                    <a:srgbClr val="1D2B24"/>
                  </a:solidFill>
                  <a:latin typeface="+mn-lt"/>
                  <a:ea typeface="+mn-ea"/>
                  <a:cs typeface="+mn-cs"/>
                </a:rPr>
                <a:t>Robot state + diagnostics</a:t>
              </a:r>
            </a:p>
          </p:txBody>
        </p:sp>
      </p:grpSp>
      <p:grpSp>
        <p:nvGrpSpPr>
          <p:cNvPr id="66" name="组合 65">
            <a:extLst>
              <a:ext uri="{FF2B5EF4-FFF2-40B4-BE49-F238E27FC236}">
                <a16:creationId xmlns:a16="http://schemas.microsoft.com/office/drawing/2014/main" id="{90010298-3912-D05A-90B5-884227A39FF8}"/>
              </a:ext>
            </a:extLst>
          </p:cNvPr>
          <p:cNvGrpSpPr/>
          <p:nvPr/>
        </p:nvGrpSpPr>
        <p:grpSpPr>
          <a:xfrm>
            <a:off x="7916063" y="4614814"/>
            <a:ext cx="3307219" cy="506922"/>
            <a:chOff x="6972300" y="4838700"/>
            <a:chExt cx="2667000" cy="457200"/>
          </a:xfrm>
        </p:grpSpPr>
        <p:sp>
          <p:nvSpPr>
            <p:cNvPr id="49" name="Rectangle 49"/>
            <p:cNvSpPr/>
            <p:nvPr/>
          </p:nvSpPr>
          <p:spPr>
            <a:xfrm>
              <a:off x="6972300" y="4838700"/>
              <a:ext cx="2667000" cy="457200"/>
            </a:xfrm>
            <a:prstGeom prst="roundRect">
              <a:avLst>
                <a:gd name="adj" fmla="val 25000"/>
              </a:avLst>
            </a:prstGeom>
            <a:solidFill>
              <a:srgbClr val="FFFFFF"/>
            </a:solidFill>
            <a:ln w="9525">
              <a:solidFill>
                <a:srgbClr val="C9D4CB"/>
              </a:solidFill>
            </a:ln>
          </p:spPr>
          <p:txBody>
            <a:bodyPr/>
            <a:lstStyle/>
            <a:p>
              <a:endParaRPr lang="zh-CN" altLang="en-US" dirty="0"/>
            </a:p>
          </p:txBody>
        </p:sp>
        <p:sp>
          <p:nvSpPr>
            <p:cNvPr id="50" name="TextBox 50"/>
            <p:cNvSpPr txBox="1"/>
            <p:nvPr/>
          </p:nvSpPr>
          <p:spPr>
            <a:xfrm>
              <a:off x="7486666" y="4981122"/>
              <a:ext cx="1638269" cy="172355"/>
            </a:xfrm>
            <a:prstGeom prst="rect">
              <a:avLst/>
            </a:prstGeom>
            <a:noFill/>
            <a:ln>
              <a:noFill/>
            </a:ln>
          </p:spPr>
          <p:txBody>
            <a:bodyPr wrap="none" lIns="0" tIns="0" rIns="0" bIns="0" anchor="t" anchorCtr="0">
              <a:spAutoFit/>
            </a:bodyPr>
            <a:lstStyle/>
            <a:p>
              <a:pPr algn="ctr"/>
              <a:r>
                <a:rPr lang="en-US" sz="1120" b="1" dirty="0">
                  <a:solidFill>
                    <a:srgbClr val="1D2B24"/>
                  </a:solidFill>
                  <a:latin typeface="+mn-lt"/>
                  <a:ea typeface="+mn-ea"/>
                  <a:cs typeface="+mn-cs"/>
                </a:rPr>
                <a:t>VR status + safety color</a:t>
              </a:r>
            </a:p>
          </p:txBody>
        </p:sp>
      </p:grpSp>
      <p:sp>
        <p:nvSpPr>
          <p:cNvPr id="53" name="TextBox 53"/>
          <p:cNvSpPr txBox="1"/>
          <p:nvPr/>
        </p:nvSpPr>
        <p:spPr>
          <a:xfrm>
            <a:off x="603504" y="5810250"/>
            <a:ext cx="5320367" cy="184666"/>
          </a:xfrm>
          <a:prstGeom prst="rect">
            <a:avLst/>
          </a:prstGeom>
          <a:noFill/>
          <a:ln>
            <a:noFill/>
          </a:ln>
        </p:spPr>
        <p:txBody>
          <a:bodyPr wrap="none" lIns="0" tIns="0" rIns="0" bIns="0" anchor="t" anchorCtr="0">
            <a:spAutoFit/>
          </a:bodyPr>
          <a:lstStyle/>
          <a:p>
            <a:pPr algn="l"/>
            <a:r>
              <a:rPr lang="en-US" sz="1200" b="1" dirty="0">
                <a:solidFill>
                  <a:srgbClr val="1D2B24"/>
                </a:solidFill>
                <a:latin typeface="+mn-lt"/>
                <a:ea typeface="+mn-ea"/>
                <a:cs typeface="+mn-cs"/>
              </a:rPr>
              <a:t>The same front end drives MuJoCo simulation or selected real hardware.</a:t>
            </a:r>
          </a:p>
        </p:txBody>
      </p:sp>
      <p:grpSp>
        <p:nvGrpSpPr>
          <p:cNvPr id="59" name="组合 58">
            <a:extLst>
              <a:ext uri="{FF2B5EF4-FFF2-40B4-BE49-F238E27FC236}">
                <a16:creationId xmlns:a16="http://schemas.microsoft.com/office/drawing/2014/main" id="{41633C10-6E12-1806-F20F-B3AF3884C62F}"/>
              </a:ext>
            </a:extLst>
          </p:cNvPr>
          <p:cNvGrpSpPr/>
          <p:nvPr/>
        </p:nvGrpSpPr>
        <p:grpSpPr>
          <a:xfrm>
            <a:off x="4467365" y="2095500"/>
            <a:ext cx="3242806" cy="1388870"/>
            <a:chOff x="4467365" y="2095500"/>
            <a:chExt cx="3242806" cy="1388870"/>
          </a:xfrm>
        </p:grpSpPr>
        <p:sp>
          <p:nvSpPr>
            <p:cNvPr id="23" name="Rectangle 23"/>
            <p:cNvSpPr/>
            <p:nvPr/>
          </p:nvSpPr>
          <p:spPr>
            <a:xfrm>
              <a:off x="4471671" y="2095500"/>
              <a:ext cx="3238500" cy="1388870"/>
            </a:xfrm>
            <a:prstGeom prst="roundRect">
              <a:avLst>
                <a:gd name="adj" fmla="val 8889"/>
              </a:avLst>
            </a:prstGeom>
            <a:solidFill>
              <a:srgbClr val="FFFFFF"/>
            </a:solidFill>
            <a:ln w="9525">
              <a:solidFill>
                <a:srgbClr val="C9D4CB"/>
              </a:solidFill>
            </a:ln>
          </p:spPr>
          <p:txBody>
            <a:bodyPr/>
            <a:lstStyle/>
            <a:p>
              <a:endParaRPr lang="zh-CN" altLang="en-US"/>
            </a:p>
          </p:txBody>
        </p:sp>
        <p:sp>
          <p:nvSpPr>
            <p:cNvPr id="25" name="TextBox 25"/>
            <p:cNvSpPr txBox="1"/>
            <p:nvPr/>
          </p:nvSpPr>
          <p:spPr>
            <a:xfrm>
              <a:off x="4718304" y="2238375"/>
              <a:ext cx="871626" cy="234696"/>
            </a:xfrm>
            <a:prstGeom prst="rect">
              <a:avLst/>
            </a:prstGeom>
            <a:noFill/>
            <a:ln>
              <a:noFill/>
            </a:ln>
          </p:spPr>
          <p:txBody>
            <a:bodyPr wrap="none" lIns="0" tIns="0" rIns="0" bIns="0" anchor="t" anchorCtr="0">
              <a:spAutoFit/>
            </a:bodyPr>
            <a:lstStyle/>
            <a:p>
              <a:pPr algn="l"/>
              <a:r>
                <a:rPr lang="en-US" sz="1200" b="1" dirty="0">
                  <a:solidFill>
                    <a:srgbClr val="1D2B24"/>
                  </a:solidFill>
                  <a:latin typeface="+mn-lt"/>
                  <a:ea typeface="+mn-ea"/>
                  <a:cs typeface="+mn-cs"/>
                </a:rPr>
                <a:t>Control PC</a:t>
              </a:r>
            </a:p>
          </p:txBody>
        </p:sp>
        <p:sp>
          <p:nvSpPr>
            <p:cNvPr id="26" name="Ellipse 26"/>
            <p:cNvSpPr/>
            <p:nvPr/>
          </p:nvSpPr>
          <p:spPr>
            <a:xfrm>
              <a:off x="4743450" y="2590800"/>
              <a:ext cx="57150" cy="57150"/>
            </a:xfrm>
            <a:prstGeom prst="ellipse">
              <a:avLst/>
            </a:prstGeom>
            <a:solidFill>
              <a:srgbClr val="52765A"/>
            </a:solidFill>
            <a:ln>
              <a:noFill/>
            </a:ln>
          </p:spPr>
          <p:txBody>
            <a:bodyPr/>
            <a:lstStyle/>
            <a:p>
              <a:endParaRPr lang="zh-CN" altLang="en-US"/>
            </a:p>
          </p:txBody>
        </p:sp>
        <p:sp>
          <p:nvSpPr>
            <p:cNvPr id="27" name="TextBox 27"/>
            <p:cNvSpPr txBox="1"/>
            <p:nvPr/>
          </p:nvSpPr>
          <p:spPr>
            <a:xfrm>
              <a:off x="4909566" y="2540000"/>
              <a:ext cx="2098029"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QuestBimanual + clutch mapping</a:t>
              </a:r>
            </a:p>
          </p:txBody>
        </p:sp>
        <p:sp>
          <p:nvSpPr>
            <p:cNvPr id="28" name="Ellipse 28"/>
            <p:cNvSpPr/>
            <p:nvPr/>
          </p:nvSpPr>
          <p:spPr>
            <a:xfrm>
              <a:off x="4743450" y="2819400"/>
              <a:ext cx="57150" cy="57150"/>
            </a:xfrm>
            <a:prstGeom prst="ellipse">
              <a:avLst/>
            </a:prstGeom>
            <a:solidFill>
              <a:srgbClr val="52765A"/>
            </a:solidFill>
            <a:ln>
              <a:noFill/>
            </a:ln>
          </p:spPr>
          <p:txBody>
            <a:bodyPr/>
            <a:lstStyle/>
            <a:p>
              <a:endParaRPr lang="zh-CN" altLang="en-US"/>
            </a:p>
          </p:txBody>
        </p:sp>
        <p:sp>
          <p:nvSpPr>
            <p:cNvPr id="29" name="TextBox 29"/>
            <p:cNvSpPr txBox="1"/>
            <p:nvPr/>
          </p:nvSpPr>
          <p:spPr>
            <a:xfrm>
              <a:off x="4909566" y="2768600"/>
              <a:ext cx="1755714"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Mink IK + safety constraints</a:t>
              </a:r>
            </a:p>
          </p:txBody>
        </p:sp>
        <p:sp>
          <p:nvSpPr>
            <p:cNvPr id="30" name="Ellipse 30"/>
            <p:cNvSpPr/>
            <p:nvPr/>
          </p:nvSpPr>
          <p:spPr>
            <a:xfrm>
              <a:off x="4743450" y="3048000"/>
              <a:ext cx="57150" cy="57150"/>
            </a:xfrm>
            <a:prstGeom prst="ellipse">
              <a:avLst/>
            </a:prstGeom>
            <a:solidFill>
              <a:srgbClr val="52765A"/>
            </a:solidFill>
            <a:ln>
              <a:noFill/>
            </a:ln>
          </p:spPr>
          <p:txBody>
            <a:bodyPr/>
            <a:lstStyle/>
            <a:p>
              <a:endParaRPr lang="zh-CN" altLang="en-US"/>
            </a:p>
          </p:txBody>
        </p:sp>
        <p:sp>
          <p:nvSpPr>
            <p:cNvPr id="31" name="TextBox 31"/>
            <p:cNvSpPr txBox="1"/>
            <p:nvPr/>
          </p:nvSpPr>
          <p:spPr>
            <a:xfrm>
              <a:off x="4909566" y="2997200"/>
              <a:ext cx="2159712"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200 ms watchdog + state machine</a:t>
              </a:r>
            </a:p>
          </p:txBody>
        </p:sp>
        <p:sp>
          <p:nvSpPr>
            <p:cNvPr id="54" name="Rectangle 15">
              <a:extLst>
                <a:ext uri="{FF2B5EF4-FFF2-40B4-BE49-F238E27FC236}">
                  <a16:creationId xmlns:a16="http://schemas.microsoft.com/office/drawing/2014/main" id="{0F2D6130-2BC2-6D21-8819-079058A29405}"/>
                </a:ext>
              </a:extLst>
            </p:cNvPr>
            <p:cNvSpPr/>
            <p:nvPr/>
          </p:nvSpPr>
          <p:spPr>
            <a:xfrm>
              <a:off x="4467365" y="2196148"/>
              <a:ext cx="57043" cy="1165670"/>
            </a:xfrm>
            <a:prstGeom prst="roundRect">
              <a:avLst>
                <a:gd name="adj" fmla="val 50000"/>
              </a:avLst>
            </a:prstGeom>
            <a:solidFill>
              <a:srgbClr val="52765A"/>
            </a:solidFill>
            <a:ln>
              <a:noFill/>
            </a:ln>
          </p:spPr>
          <p:txBody>
            <a:bodyPr/>
            <a:lstStyle/>
            <a:p>
              <a:endParaRPr lang="zh-CN" altLang="en-US"/>
            </a:p>
          </p:txBody>
        </p:sp>
      </p:grpSp>
      <p:grpSp>
        <p:nvGrpSpPr>
          <p:cNvPr id="60" name="组合 59">
            <a:extLst>
              <a:ext uri="{FF2B5EF4-FFF2-40B4-BE49-F238E27FC236}">
                <a16:creationId xmlns:a16="http://schemas.microsoft.com/office/drawing/2014/main" id="{ED51C4AE-3E21-C60C-96F9-0BD875F097F5}"/>
              </a:ext>
            </a:extLst>
          </p:cNvPr>
          <p:cNvGrpSpPr/>
          <p:nvPr/>
        </p:nvGrpSpPr>
        <p:grpSpPr>
          <a:xfrm>
            <a:off x="8677308" y="2095500"/>
            <a:ext cx="2914650" cy="1388870"/>
            <a:chOff x="8667750" y="2095500"/>
            <a:chExt cx="2914650" cy="1388870"/>
          </a:xfrm>
        </p:grpSpPr>
        <p:sp>
          <p:nvSpPr>
            <p:cNvPr id="32" name="Rectangle 32"/>
            <p:cNvSpPr/>
            <p:nvPr/>
          </p:nvSpPr>
          <p:spPr>
            <a:xfrm>
              <a:off x="8667750" y="2095500"/>
              <a:ext cx="2914650" cy="1388870"/>
            </a:xfrm>
            <a:prstGeom prst="roundRect">
              <a:avLst>
                <a:gd name="adj" fmla="val 8889"/>
              </a:avLst>
            </a:prstGeom>
            <a:solidFill>
              <a:srgbClr val="FFFFFF"/>
            </a:solidFill>
            <a:ln w="9525">
              <a:solidFill>
                <a:srgbClr val="C9D4CB"/>
              </a:solidFill>
            </a:ln>
          </p:spPr>
          <p:txBody>
            <a:bodyPr/>
            <a:lstStyle/>
            <a:p>
              <a:endParaRPr lang="zh-CN" altLang="en-US"/>
            </a:p>
          </p:txBody>
        </p:sp>
        <p:sp>
          <p:nvSpPr>
            <p:cNvPr id="34" name="TextBox 34"/>
            <p:cNvSpPr txBox="1"/>
            <p:nvPr/>
          </p:nvSpPr>
          <p:spPr>
            <a:xfrm>
              <a:off x="8871204" y="2238375"/>
              <a:ext cx="1077610" cy="234696"/>
            </a:xfrm>
            <a:prstGeom prst="rect">
              <a:avLst/>
            </a:prstGeom>
            <a:noFill/>
            <a:ln>
              <a:noFill/>
            </a:ln>
          </p:spPr>
          <p:txBody>
            <a:bodyPr wrap="none" lIns="0" tIns="0" rIns="0" bIns="0" anchor="t" anchorCtr="0">
              <a:spAutoFit/>
            </a:bodyPr>
            <a:lstStyle/>
            <a:p>
              <a:pPr algn="l"/>
              <a:r>
                <a:rPr lang="en-US" sz="1200" b="1" dirty="0">
                  <a:solidFill>
                    <a:srgbClr val="1D2B24"/>
                  </a:solidFill>
                  <a:latin typeface="+mn-lt"/>
                  <a:ea typeface="+mn-ea"/>
                  <a:cs typeface="+mn-cs"/>
                </a:rPr>
                <a:t>Robot &amp; hand</a:t>
              </a:r>
            </a:p>
          </p:txBody>
        </p:sp>
        <p:sp>
          <p:nvSpPr>
            <p:cNvPr id="35" name="Ellipse 35"/>
            <p:cNvSpPr/>
            <p:nvPr/>
          </p:nvSpPr>
          <p:spPr>
            <a:xfrm>
              <a:off x="8896350" y="2590800"/>
              <a:ext cx="57150" cy="57150"/>
            </a:xfrm>
            <a:prstGeom prst="ellipse">
              <a:avLst/>
            </a:prstGeom>
            <a:solidFill>
              <a:srgbClr val="52765A"/>
            </a:solidFill>
            <a:ln>
              <a:noFill/>
            </a:ln>
          </p:spPr>
          <p:txBody>
            <a:bodyPr/>
            <a:lstStyle/>
            <a:p>
              <a:endParaRPr lang="zh-CN" altLang="en-US"/>
            </a:p>
          </p:txBody>
        </p:sp>
        <p:sp>
          <p:nvSpPr>
            <p:cNvPr id="36" name="TextBox 36"/>
            <p:cNvSpPr txBox="1"/>
            <p:nvPr/>
          </p:nvSpPr>
          <p:spPr>
            <a:xfrm>
              <a:off x="9062466" y="2540000"/>
              <a:ext cx="1417908"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Diana SDK servoJ_ex</a:t>
              </a:r>
            </a:p>
          </p:txBody>
        </p:sp>
        <p:sp>
          <p:nvSpPr>
            <p:cNvPr id="37" name="Ellipse 37"/>
            <p:cNvSpPr/>
            <p:nvPr/>
          </p:nvSpPr>
          <p:spPr>
            <a:xfrm>
              <a:off x="8896350" y="2819400"/>
              <a:ext cx="57150" cy="57150"/>
            </a:xfrm>
            <a:prstGeom prst="ellipse">
              <a:avLst/>
            </a:prstGeom>
            <a:solidFill>
              <a:srgbClr val="52765A"/>
            </a:solidFill>
            <a:ln>
              <a:noFill/>
            </a:ln>
          </p:spPr>
          <p:txBody>
            <a:bodyPr/>
            <a:lstStyle/>
            <a:p>
              <a:endParaRPr lang="zh-CN" altLang="en-US"/>
            </a:p>
          </p:txBody>
        </p:sp>
        <p:sp>
          <p:nvSpPr>
            <p:cNvPr id="38" name="TextBox 38"/>
            <p:cNvSpPr txBox="1"/>
            <p:nvPr/>
          </p:nvSpPr>
          <p:spPr>
            <a:xfrm>
              <a:off x="9062466" y="2768600"/>
              <a:ext cx="1379687"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DexH13 native bridge</a:t>
              </a:r>
            </a:p>
          </p:txBody>
        </p:sp>
        <p:sp>
          <p:nvSpPr>
            <p:cNvPr id="39" name="Ellipse 39"/>
            <p:cNvSpPr/>
            <p:nvPr/>
          </p:nvSpPr>
          <p:spPr>
            <a:xfrm>
              <a:off x="8896350" y="3048000"/>
              <a:ext cx="57150" cy="57150"/>
            </a:xfrm>
            <a:prstGeom prst="ellipse">
              <a:avLst/>
            </a:prstGeom>
            <a:solidFill>
              <a:srgbClr val="52765A"/>
            </a:solidFill>
            <a:ln>
              <a:noFill/>
            </a:ln>
          </p:spPr>
          <p:txBody>
            <a:bodyPr/>
            <a:lstStyle/>
            <a:p>
              <a:endParaRPr lang="zh-CN" altLang="en-US"/>
            </a:p>
          </p:txBody>
        </p:sp>
        <p:sp>
          <p:nvSpPr>
            <p:cNvPr id="40" name="TextBox 40"/>
            <p:cNvSpPr txBox="1"/>
            <p:nvPr/>
          </p:nvSpPr>
          <p:spPr>
            <a:xfrm>
              <a:off x="9062466" y="2997200"/>
              <a:ext cx="1975683"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Position / Cartesian impedance</a:t>
              </a:r>
            </a:p>
          </p:txBody>
        </p:sp>
        <p:sp>
          <p:nvSpPr>
            <p:cNvPr id="55" name="Rectangle 15">
              <a:extLst>
                <a:ext uri="{FF2B5EF4-FFF2-40B4-BE49-F238E27FC236}">
                  <a16:creationId xmlns:a16="http://schemas.microsoft.com/office/drawing/2014/main" id="{F26FFDAD-EAFA-13C9-E6C1-9035C4327B83}"/>
                </a:ext>
              </a:extLst>
            </p:cNvPr>
            <p:cNvSpPr/>
            <p:nvPr/>
          </p:nvSpPr>
          <p:spPr>
            <a:xfrm>
              <a:off x="8671179" y="2196146"/>
              <a:ext cx="57150" cy="1165671"/>
            </a:xfrm>
            <a:prstGeom prst="roundRect">
              <a:avLst>
                <a:gd name="adj" fmla="val 50000"/>
              </a:avLst>
            </a:prstGeom>
            <a:solidFill>
              <a:srgbClr val="52765A"/>
            </a:solidFill>
            <a:ln>
              <a:noFill/>
            </a:ln>
          </p:spPr>
          <p:txBody>
            <a:bodyPr/>
            <a:lstStyle/>
            <a:p>
              <a:endParaRPr lang="zh-CN" altLang="en-US"/>
            </a:p>
          </p:txBody>
        </p:sp>
      </p:grpSp>
      <p:sp>
        <p:nvSpPr>
          <p:cNvPr id="67" name="Line 42">
            <a:extLst>
              <a:ext uri="{FF2B5EF4-FFF2-40B4-BE49-F238E27FC236}">
                <a16:creationId xmlns:a16="http://schemas.microsoft.com/office/drawing/2014/main" id="{71E90202-EDBA-AF8D-E2FA-E28C76B876FB}"/>
              </a:ext>
            </a:extLst>
          </p:cNvPr>
          <p:cNvSpPr/>
          <p:nvPr/>
        </p:nvSpPr>
        <p:spPr>
          <a:xfrm flipH="1" flipV="1">
            <a:off x="10106058" y="3554861"/>
            <a:ext cx="0" cy="500570"/>
          </a:xfrm>
          <a:prstGeom prst="line">
            <a:avLst/>
          </a:prstGeom>
          <a:noFill/>
          <a:ln w="28575">
            <a:solidFill>
              <a:srgbClr val="52765A"/>
            </a:solidFill>
            <a:tailEnd type="triangle" w="lg" len="lg"/>
          </a:ln>
        </p:spPr>
        <p:txBody>
          <a:bodyPr/>
          <a:lstStyle/>
          <a:p>
            <a:endParaRPr lang="zh-CN" altLang="en-US"/>
          </a:p>
        </p:txBody>
      </p:sp>
    </p:spTree>
  </p:cSld>
  <p:transition xmlns:p="http://schemas.openxmlformats.org/presentationml/2006/main" spd="slow">
    <p:fade/>
  </p:transition>
  <p:clrMapOvr>
    <a:masterClrMapping/>
  </p:clrMapOvr>
  <mc:AlternateContent xmlns:mc="http://schemas.openxmlformats.org/markup-compatibility/2006">
    <mc:Choice xmlns:p14="http://schemas.microsoft.com/office/powerpoint/2010/main" Requires="p1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 name="TextBox 2"/>
          <p:cNvSpPr txBox="1"/>
          <p:nvPr/>
        </p:nvSpPr>
        <p:spPr>
          <a:xfrm>
            <a:off x="604838" y="342900"/>
            <a:ext cx="1484722" cy="176212"/>
          </a:xfrm>
          <a:prstGeom prst="rect">
            <a:avLst/>
          </a:prstGeom>
          <a:noFill/>
          <a:ln>
            <a:noFill/>
          </a:ln>
        </p:spPr>
        <p:txBody>
          <a:bodyPr wrap="none" lIns="0" tIns="0" rIns="0" bIns="0" anchor="t" anchorCtr="0">
            <a:spAutoFit/>
          </a:bodyPr>
          <a:lstStyle/>
          <a:p>
            <a:pPr algn="l"/>
            <a:r>
              <a:rPr lang="en-US" sz="900" b="1" spc="120" dirty="0">
                <a:solidFill>
                  <a:srgbClr val="52765A"/>
                </a:solidFill>
                <a:latin typeface="+mn-lt"/>
                <a:ea typeface="+mn-ea"/>
                <a:cs typeface="+mn-cs"/>
              </a:rPr>
              <a:t>02 / VR DATA PATH</a:t>
            </a:r>
          </a:p>
        </p:txBody>
      </p:sp>
      <p:sp>
        <p:nvSpPr>
          <p:cNvPr id="3" name="TextBox 3"/>
          <p:cNvSpPr txBox="1"/>
          <p:nvPr/>
        </p:nvSpPr>
        <p:spPr>
          <a:xfrm>
            <a:off x="598170" y="596900"/>
            <a:ext cx="8939009" cy="440055"/>
          </a:xfrm>
          <a:prstGeom prst="rect">
            <a:avLst/>
          </a:prstGeom>
          <a:noFill/>
          <a:ln>
            <a:noFill/>
          </a:ln>
        </p:spPr>
        <p:txBody>
          <a:bodyPr wrap="none" lIns="0" tIns="0" rIns="0" bIns="0" anchor="t" anchorCtr="0">
            <a:spAutoFit/>
          </a:bodyPr>
          <a:lstStyle/>
          <a:p>
            <a:pPr algn="l"/>
            <a:r>
              <a:rPr lang="en-US" sz="2250" b="1" dirty="0">
                <a:solidFill>
                  <a:srgbClr val="1D2B24"/>
                </a:solidFill>
                <a:latin typeface="+mn-lt"/>
                <a:ea typeface="+mn-ea"/>
                <a:cs typeface="+mn-cs"/>
              </a:rPr>
              <a:t>WebXR turns the operator into a time-stamped control source</a:t>
            </a:r>
          </a:p>
        </p:txBody>
      </p:sp>
      <p:sp>
        <p:nvSpPr>
          <p:cNvPr id="4" name="TextBox 4"/>
          <p:cNvSpPr txBox="1"/>
          <p:nvPr/>
        </p:nvSpPr>
        <p:spPr>
          <a:xfrm>
            <a:off x="603504" y="1000125"/>
            <a:ext cx="6671016" cy="234696"/>
          </a:xfrm>
          <a:prstGeom prst="rect">
            <a:avLst/>
          </a:prstGeom>
          <a:noFill/>
          <a:ln>
            <a:noFill/>
          </a:ln>
        </p:spPr>
        <p:txBody>
          <a:bodyPr wrap="none" lIns="0" tIns="0" rIns="0" bIns="0" anchor="t" anchorCtr="0">
            <a:spAutoFit/>
          </a:bodyPr>
          <a:lstStyle/>
          <a:p>
            <a:pPr algn="l"/>
            <a:r>
              <a:rPr lang="en-US" sz="1200" dirty="0">
                <a:solidFill>
                  <a:srgbClr val="657269"/>
                </a:solidFill>
                <a:latin typeface="+mn-lt"/>
                <a:ea typeface="+mn-ea"/>
                <a:cs typeface="+mn-cs"/>
              </a:rPr>
              <a:t>Tracking is validated, transformed into the robot frame, then consumed by one control owner.</a:t>
            </a:r>
          </a:p>
        </p:txBody>
      </p:sp>
      <p:sp>
        <p:nvSpPr>
          <p:cNvPr id="5" name="Line 5"/>
          <p:cNvSpPr/>
          <p:nvPr/>
        </p:nvSpPr>
        <p:spPr>
          <a:xfrm>
            <a:off x="609600" y="1381125"/>
            <a:ext cx="10972800" cy="9525"/>
          </a:xfrm>
          <a:custGeom>
            <a:avLst/>
            <a:gdLst/>
            <a:ahLst/>
            <a:cxnLst/>
            <a:rect l="l" t="t" r="r" b="b"/>
            <a:pathLst>
              <a:path w="10972800" h="9525">
                <a:moveTo>
                  <a:pt x="0" y="0"/>
                </a:moveTo>
                <a:lnTo>
                  <a:pt x="10972800" y="0"/>
                </a:lnTo>
              </a:path>
            </a:pathLst>
          </a:custGeom>
          <a:noFill/>
          <a:ln w="9525">
            <a:solidFill>
              <a:srgbClr val="C9D4CB"/>
            </a:solidFill>
          </a:ln>
        </p:spPr>
        <p:txBody>
          <a:bodyPr/>
          <a:lstStyle/>
          <a:p>
            <a:endParaRPr lang="zh-CN" altLang="en-US"/>
          </a:p>
        </p:txBody>
      </p:sp>
      <p:sp>
        <p:nvSpPr>
          <p:cNvPr id="6" name="TextBox 6"/>
          <p:cNvSpPr txBox="1"/>
          <p:nvPr/>
        </p:nvSpPr>
        <p:spPr>
          <a:xfrm>
            <a:off x="604838" y="6464300"/>
            <a:ext cx="3027374" cy="147638"/>
          </a:xfrm>
          <a:prstGeom prst="rect">
            <a:avLst/>
          </a:prstGeom>
          <a:noFill/>
          <a:ln>
            <a:noFill/>
          </a:ln>
        </p:spPr>
        <p:txBody>
          <a:bodyPr wrap="none" lIns="0" tIns="0" rIns="0" bIns="0" anchor="t" anchorCtr="0">
            <a:spAutoFit/>
          </a:bodyPr>
          <a:lstStyle/>
          <a:p>
            <a:pPr algn="l"/>
            <a:r>
              <a:rPr lang="en-US" sz="750" b="1" spc="60" dirty="0">
                <a:solidFill>
                  <a:srgbClr val="657269"/>
                </a:solidFill>
                <a:latin typeface="+mn-lt"/>
                <a:ea typeface="+mn-ea"/>
                <a:cs typeface="+mn-cs"/>
              </a:rPr>
              <a:t>DEXMAN_LEROBOT / VR TELEOPERATION SYSTEM</a:t>
            </a:r>
          </a:p>
        </p:txBody>
      </p:sp>
      <p:sp>
        <p:nvSpPr>
          <p:cNvPr id="7" name="TextBox 7"/>
          <p:cNvSpPr txBox="1"/>
          <p:nvPr/>
        </p:nvSpPr>
        <p:spPr>
          <a:xfrm>
            <a:off x="11268866" y="6464300"/>
            <a:ext cx="318296" cy="147638"/>
          </a:xfrm>
          <a:prstGeom prst="rect">
            <a:avLst/>
          </a:prstGeom>
          <a:noFill/>
          <a:ln>
            <a:noFill/>
          </a:ln>
        </p:spPr>
        <p:txBody>
          <a:bodyPr wrap="none" lIns="0" tIns="0" rIns="0" bIns="0" anchor="t" anchorCtr="0">
            <a:spAutoFit/>
          </a:bodyPr>
          <a:lstStyle/>
          <a:p>
            <a:pPr algn="r"/>
            <a:r>
              <a:rPr lang="en-US" sz="750" b="1" dirty="0">
                <a:solidFill>
                  <a:srgbClr val="657269"/>
                </a:solidFill>
                <a:latin typeface="+mn-lt"/>
                <a:ea typeface="+mn-ea"/>
                <a:cs typeface="+mn-cs"/>
              </a:rPr>
              <a:t>02 / 10</a:t>
            </a:r>
          </a:p>
        </p:txBody>
      </p:sp>
      <p:sp>
        <p:nvSpPr>
          <p:cNvPr id="8" name="Rectangle 8"/>
          <p:cNvSpPr/>
          <p:nvPr/>
        </p:nvSpPr>
        <p:spPr>
          <a:xfrm>
            <a:off x="609600" y="1752600"/>
            <a:ext cx="3143250" cy="3714750"/>
          </a:xfrm>
          <a:prstGeom prst="roundRect">
            <a:avLst>
              <a:gd name="adj" fmla="val 5455"/>
            </a:avLst>
          </a:prstGeom>
          <a:solidFill>
            <a:srgbClr val="FFFFFF"/>
          </a:solidFill>
          <a:ln w="9525">
            <a:solidFill>
              <a:srgbClr val="C9D4CB"/>
            </a:solidFill>
          </a:ln>
        </p:spPr>
        <p:txBody>
          <a:bodyPr/>
          <a:lstStyle/>
          <a:p>
            <a:endParaRPr lang="zh-CN" altLang="en-US"/>
          </a:p>
        </p:txBody>
      </p:sp>
      <p:sp>
        <p:nvSpPr>
          <p:cNvPr id="9" name="TextBox 9"/>
          <p:cNvSpPr txBox="1"/>
          <p:nvPr/>
        </p:nvSpPr>
        <p:spPr>
          <a:xfrm>
            <a:off x="851535" y="1955800"/>
            <a:ext cx="1664680" cy="220028"/>
          </a:xfrm>
          <a:prstGeom prst="rect">
            <a:avLst/>
          </a:prstGeom>
          <a:noFill/>
          <a:ln>
            <a:noFill/>
          </a:ln>
        </p:spPr>
        <p:txBody>
          <a:bodyPr wrap="none" lIns="0" tIns="0" rIns="0" bIns="0" anchor="t" anchorCtr="0">
            <a:spAutoFit/>
          </a:bodyPr>
          <a:lstStyle/>
          <a:p>
            <a:pPr algn="l"/>
            <a:r>
              <a:rPr lang="en-US" sz="1120" b="1" spc="90" dirty="0">
                <a:solidFill>
                  <a:srgbClr val="52765A"/>
                </a:solidFill>
                <a:latin typeface="+mn-lt"/>
                <a:ea typeface="+mn-ea"/>
                <a:cs typeface="+mn-cs"/>
              </a:rPr>
              <a:t>CONTROL PACKET</a:t>
            </a:r>
          </a:p>
        </p:txBody>
      </p:sp>
      <p:sp>
        <p:nvSpPr>
          <p:cNvPr id="10" name="TextBox 10"/>
          <p:cNvSpPr txBox="1"/>
          <p:nvPr/>
        </p:nvSpPr>
        <p:spPr>
          <a:xfrm>
            <a:off x="850392" y="2311400"/>
            <a:ext cx="454251" cy="264033"/>
          </a:xfrm>
          <a:prstGeom prst="rect">
            <a:avLst/>
          </a:prstGeom>
          <a:noFill/>
          <a:ln>
            <a:noFill/>
          </a:ln>
        </p:spPr>
        <p:txBody>
          <a:bodyPr wrap="none" lIns="0" tIns="0" rIns="0" bIns="0" anchor="t" anchorCtr="0">
            <a:spAutoFit/>
          </a:bodyPr>
          <a:lstStyle/>
          <a:p>
            <a:pPr algn="l"/>
            <a:r>
              <a:rPr lang="en-US" sz="1350" b="1" dirty="0">
                <a:solidFill>
                  <a:srgbClr val="1D2B24"/>
                </a:solidFill>
                <a:latin typeface="+mn-lt"/>
                <a:ea typeface="+mn-ea"/>
                <a:cs typeface="+mn-cs"/>
              </a:rPr>
              <a:t>Pose</a:t>
            </a:r>
          </a:p>
        </p:txBody>
      </p:sp>
      <p:sp>
        <p:nvSpPr>
          <p:cNvPr id="11" name="TextBox 11"/>
          <p:cNvSpPr txBox="1"/>
          <p:nvPr/>
        </p:nvSpPr>
        <p:spPr>
          <a:xfrm>
            <a:off x="851535" y="2603500"/>
            <a:ext cx="1473791" cy="220028"/>
          </a:xfrm>
          <a:prstGeom prst="rect">
            <a:avLst/>
          </a:prstGeom>
          <a:noFill/>
          <a:ln>
            <a:noFill/>
          </a:ln>
        </p:spPr>
        <p:txBody>
          <a:bodyPr wrap="none" lIns="0" tIns="0" rIns="0" bIns="0" anchor="t" anchorCtr="0">
            <a:spAutoFit/>
          </a:bodyPr>
          <a:lstStyle/>
          <a:p>
            <a:pPr algn="l"/>
            <a:r>
              <a:rPr lang="en-US" sz="1120" dirty="0">
                <a:solidFill>
                  <a:srgbClr val="657269"/>
                </a:solidFill>
                <a:latin typeface="+mn-lt"/>
                <a:ea typeface="+mn-ea"/>
                <a:cs typeface="+mn-cs"/>
              </a:rPr>
              <a:t>wrist xyz + quaternion</a:t>
            </a:r>
          </a:p>
        </p:txBody>
      </p:sp>
      <p:sp>
        <p:nvSpPr>
          <p:cNvPr id="12" name="TextBox 12"/>
          <p:cNvSpPr txBox="1"/>
          <p:nvPr/>
        </p:nvSpPr>
        <p:spPr>
          <a:xfrm>
            <a:off x="851535" y="2832100"/>
            <a:ext cx="1537056" cy="220028"/>
          </a:xfrm>
          <a:prstGeom prst="rect">
            <a:avLst/>
          </a:prstGeom>
          <a:noFill/>
          <a:ln>
            <a:noFill/>
          </a:ln>
        </p:spPr>
        <p:txBody>
          <a:bodyPr wrap="none" lIns="0" tIns="0" rIns="0" bIns="0" anchor="t" anchorCtr="0">
            <a:spAutoFit/>
          </a:bodyPr>
          <a:lstStyle/>
          <a:p>
            <a:pPr algn="l"/>
            <a:r>
              <a:rPr lang="en-US" sz="1120" dirty="0">
                <a:solidFill>
                  <a:srgbClr val="657269"/>
                </a:solidFill>
                <a:latin typeface="+mn-lt"/>
                <a:ea typeface="+mn-ea"/>
                <a:cs typeface="+mn-cs"/>
              </a:rPr>
              <a:t>25 named joints / hand</a:t>
            </a:r>
          </a:p>
        </p:txBody>
      </p:sp>
      <p:sp>
        <p:nvSpPr>
          <p:cNvPr id="13" name="Line 13"/>
          <p:cNvSpPr/>
          <p:nvPr/>
        </p:nvSpPr>
        <p:spPr>
          <a:xfrm>
            <a:off x="857250" y="3200400"/>
            <a:ext cx="2647950" cy="9525"/>
          </a:xfrm>
          <a:custGeom>
            <a:avLst/>
            <a:gdLst/>
            <a:ahLst/>
            <a:cxnLst/>
            <a:rect l="l" t="t" r="r" b="b"/>
            <a:pathLst>
              <a:path w="2647950" h="9525">
                <a:moveTo>
                  <a:pt x="0" y="0"/>
                </a:moveTo>
                <a:lnTo>
                  <a:pt x="2647950" y="0"/>
                </a:lnTo>
              </a:path>
            </a:pathLst>
          </a:custGeom>
          <a:noFill/>
          <a:ln w="9525">
            <a:solidFill>
              <a:srgbClr val="C9D4CB"/>
            </a:solidFill>
          </a:ln>
        </p:spPr>
        <p:txBody>
          <a:bodyPr/>
          <a:lstStyle/>
          <a:p>
            <a:endParaRPr lang="zh-CN" altLang="en-US"/>
          </a:p>
        </p:txBody>
      </p:sp>
      <p:sp>
        <p:nvSpPr>
          <p:cNvPr id="14" name="TextBox 14"/>
          <p:cNvSpPr txBox="1"/>
          <p:nvPr/>
        </p:nvSpPr>
        <p:spPr>
          <a:xfrm>
            <a:off x="850392" y="3359150"/>
            <a:ext cx="512998" cy="264033"/>
          </a:xfrm>
          <a:prstGeom prst="rect">
            <a:avLst/>
          </a:prstGeom>
          <a:noFill/>
          <a:ln>
            <a:noFill/>
          </a:ln>
        </p:spPr>
        <p:txBody>
          <a:bodyPr wrap="none" lIns="0" tIns="0" rIns="0" bIns="0" anchor="t" anchorCtr="0">
            <a:spAutoFit/>
          </a:bodyPr>
          <a:lstStyle/>
          <a:p>
            <a:pPr algn="l"/>
            <a:r>
              <a:rPr lang="en-US" sz="1350" b="1" dirty="0">
                <a:solidFill>
                  <a:srgbClr val="1D2B24"/>
                </a:solidFill>
                <a:latin typeface="+mn-lt"/>
                <a:ea typeface="+mn-ea"/>
                <a:cs typeface="+mn-cs"/>
              </a:rPr>
              <a:t>Intent</a:t>
            </a:r>
          </a:p>
        </p:txBody>
      </p:sp>
      <p:sp>
        <p:nvSpPr>
          <p:cNvPr id="15" name="TextBox 15"/>
          <p:cNvSpPr txBox="1"/>
          <p:nvPr/>
        </p:nvSpPr>
        <p:spPr>
          <a:xfrm>
            <a:off x="851535" y="3651250"/>
            <a:ext cx="1406787" cy="220028"/>
          </a:xfrm>
          <a:prstGeom prst="rect">
            <a:avLst/>
          </a:prstGeom>
          <a:noFill/>
          <a:ln>
            <a:noFill/>
          </a:ln>
        </p:spPr>
        <p:txBody>
          <a:bodyPr wrap="none" lIns="0" tIns="0" rIns="0" bIns="0" anchor="t" anchorCtr="0">
            <a:spAutoFit/>
          </a:bodyPr>
          <a:lstStyle/>
          <a:p>
            <a:pPr algn="l"/>
            <a:r>
              <a:rPr lang="en-US" sz="1120" dirty="0">
                <a:solidFill>
                  <a:srgbClr val="657269"/>
                </a:solidFill>
                <a:latin typeface="+mn-lt"/>
                <a:ea typeface="+mn-ea"/>
                <a:cs typeface="+mn-cs"/>
              </a:rPr>
              <a:t>left/right grip = clutch</a:t>
            </a:r>
          </a:p>
        </p:txBody>
      </p:sp>
      <p:sp>
        <p:nvSpPr>
          <p:cNvPr id="16" name="TextBox 16"/>
          <p:cNvSpPr txBox="1"/>
          <p:nvPr/>
        </p:nvSpPr>
        <p:spPr>
          <a:xfrm>
            <a:off x="851535" y="3879850"/>
            <a:ext cx="1802118" cy="220028"/>
          </a:xfrm>
          <a:prstGeom prst="rect">
            <a:avLst/>
          </a:prstGeom>
          <a:noFill/>
          <a:ln>
            <a:noFill/>
          </a:ln>
        </p:spPr>
        <p:txBody>
          <a:bodyPr wrap="none" lIns="0" tIns="0" rIns="0" bIns="0" anchor="t" anchorCtr="0">
            <a:spAutoFit/>
          </a:bodyPr>
          <a:lstStyle/>
          <a:p>
            <a:pPr algn="l"/>
            <a:r>
              <a:rPr lang="en-US" sz="1120" dirty="0">
                <a:solidFill>
                  <a:srgbClr val="657269"/>
                </a:solidFill>
                <a:latin typeface="+mn-lt"/>
                <a:ea typeface="+mn-ea"/>
                <a:cs typeface="+mn-cs"/>
              </a:rPr>
              <a:t>A / B / X / Y = state events</a:t>
            </a:r>
          </a:p>
        </p:txBody>
      </p:sp>
      <p:sp>
        <p:nvSpPr>
          <p:cNvPr id="17" name="Line 17"/>
          <p:cNvSpPr/>
          <p:nvPr/>
        </p:nvSpPr>
        <p:spPr>
          <a:xfrm>
            <a:off x="857250" y="4248150"/>
            <a:ext cx="2647950" cy="9525"/>
          </a:xfrm>
          <a:custGeom>
            <a:avLst/>
            <a:gdLst/>
            <a:ahLst/>
            <a:cxnLst/>
            <a:rect l="l" t="t" r="r" b="b"/>
            <a:pathLst>
              <a:path w="2647950" h="9525">
                <a:moveTo>
                  <a:pt x="0" y="0"/>
                </a:moveTo>
                <a:lnTo>
                  <a:pt x="2647950" y="0"/>
                </a:lnTo>
              </a:path>
            </a:pathLst>
          </a:custGeom>
          <a:noFill/>
          <a:ln w="9525">
            <a:solidFill>
              <a:srgbClr val="C9D4CB"/>
            </a:solidFill>
          </a:ln>
        </p:spPr>
        <p:txBody>
          <a:bodyPr/>
          <a:lstStyle/>
          <a:p>
            <a:endParaRPr lang="zh-CN" altLang="en-US"/>
          </a:p>
        </p:txBody>
      </p:sp>
      <p:sp>
        <p:nvSpPr>
          <p:cNvPr id="18" name="TextBox 18"/>
          <p:cNvSpPr txBox="1"/>
          <p:nvPr/>
        </p:nvSpPr>
        <p:spPr>
          <a:xfrm>
            <a:off x="850392" y="4406900"/>
            <a:ext cx="867217" cy="264033"/>
          </a:xfrm>
          <a:prstGeom prst="rect">
            <a:avLst/>
          </a:prstGeom>
          <a:noFill/>
          <a:ln>
            <a:noFill/>
          </a:ln>
        </p:spPr>
        <p:txBody>
          <a:bodyPr wrap="none" lIns="0" tIns="0" rIns="0" bIns="0" anchor="t" anchorCtr="0">
            <a:spAutoFit/>
          </a:bodyPr>
          <a:lstStyle/>
          <a:p>
            <a:pPr algn="l"/>
            <a:r>
              <a:rPr lang="en-US" sz="1350" b="1" dirty="0">
                <a:solidFill>
                  <a:srgbClr val="1D2B24"/>
                </a:solidFill>
                <a:latin typeface="+mn-lt"/>
                <a:ea typeface="+mn-ea"/>
                <a:cs typeface="+mn-cs"/>
              </a:rPr>
              <a:t>Transport</a:t>
            </a:r>
          </a:p>
        </p:txBody>
      </p:sp>
      <p:sp>
        <p:nvSpPr>
          <p:cNvPr id="19" name="TextBox 19"/>
          <p:cNvSpPr txBox="1"/>
          <p:nvPr/>
        </p:nvSpPr>
        <p:spPr>
          <a:xfrm>
            <a:off x="851535" y="4699000"/>
            <a:ext cx="2216036" cy="220028"/>
          </a:xfrm>
          <a:prstGeom prst="rect">
            <a:avLst/>
          </a:prstGeom>
          <a:noFill/>
          <a:ln>
            <a:noFill/>
          </a:ln>
        </p:spPr>
        <p:txBody>
          <a:bodyPr wrap="none" lIns="0" tIns="0" rIns="0" bIns="0" anchor="t" anchorCtr="0">
            <a:spAutoFit/>
          </a:bodyPr>
          <a:lstStyle/>
          <a:p>
            <a:pPr algn="l"/>
            <a:r>
              <a:rPr lang="en-US" sz="1120" dirty="0">
                <a:solidFill>
                  <a:srgbClr val="657269"/>
                </a:solidFill>
                <a:latin typeface="+mn-lt"/>
                <a:ea typeface="+mn-ea"/>
                <a:cs typeface="+mn-cs"/>
              </a:rPr>
              <a:t>WSS /ws → relay → control loop</a:t>
            </a:r>
          </a:p>
        </p:txBody>
      </p:sp>
      <p:sp>
        <p:nvSpPr>
          <p:cNvPr id="20" name="TextBox 20"/>
          <p:cNvSpPr txBox="1"/>
          <p:nvPr/>
        </p:nvSpPr>
        <p:spPr>
          <a:xfrm>
            <a:off x="851535" y="4927600"/>
            <a:ext cx="2426641" cy="220028"/>
          </a:xfrm>
          <a:prstGeom prst="rect">
            <a:avLst/>
          </a:prstGeom>
          <a:noFill/>
          <a:ln>
            <a:noFill/>
          </a:ln>
        </p:spPr>
        <p:txBody>
          <a:bodyPr wrap="none" lIns="0" tIns="0" rIns="0" bIns="0" anchor="t" anchorCtr="0">
            <a:spAutoFit/>
          </a:bodyPr>
          <a:lstStyle/>
          <a:p>
            <a:pPr algn="l"/>
            <a:r>
              <a:rPr lang="en-US" sz="1120" dirty="0">
                <a:solidFill>
                  <a:srgbClr val="657269"/>
                </a:solidFill>
                <a:latin typeface="+mn-lt"/>
                <a:ea typeface="+mn-ea"/>
                <a:cs typeface="+mn-cs"/>
              </a:rPr>
              <a:t>packet age measured on control PC</a:t>
            </a:r>
          </a:p>
        </p:txBody>
      </p:sp>
      <p:grpSp>
        <p:nvGrpSpPr>
          <p:cNvPr id="62" name="组合 61">
            <a:extLst>
              <a:ext uri="{FF2B5EF4-FFF2-40B4-BE49-F238E27FC236}">
                <a16:creationId xmlns:a16="http://schemas.microsoft.com/office/drawing/2014/main" id="{AE8DDAA6-BCE8-E97F-75E2-344F163515F7}"/>
              </a:ext>
            </a:extLst>
          </p:cNvPr>
          <p:cNvGrpSpPr/>
          <p:nvPr/>
        </p:nvGrpSpPr>
        <p:grpSpPr>
          <a:xfrm>
            <a:off x="4355392" y="1763195"/>
            <a:ext cx="1047750" cy="266700"/>
            <a:chOff x="4362450" y="1752600"/>
            <a:chExt cx="1047750" cy="266700"/>
          </a:xfrm>
        </p:grpSpPr>
        <p:sp>
          <p:nvSpPr>
            <p:cNvPr id="21" name="Rectangle 21"/>
            <p:cNvSpPr/>
            <p:nvPr/>
          </p:nvSpPr>
          <p:spPr>
            <a:xfrm>
              <a:off x="4362450" y="1752600"/>
              <a:ext cx="1047750" cy="266700"/>
            </a:xfrm>
            <a:prstGeom prst="roundRect">
              <a:avLst>
                <a:gd name="adj" fmla="val 50000"/>
              </a:avLst>
            </a:prstGeom>
            <a:solidFill>
              <a:srgbClr val="DDE8DE"/>
            </a:solidFill>
            <a:ln>
              <a:noFill/>
            </a:ln>
          </p:spPr>
          <p:txBody>
            <a:bodyPr/>
            <a:lstStyle/>
            <a:p>
              <a:endParaRPr lang="zh-CN" altLang="en-US"/>
            </a:p>
          </p:txBody>
        </p:sp>
        <p:sp>
          <p:nvSpPr>
            <p:cNvPr id="22" name="TextBox 22"/>
            <p:cNvSpPr txBox="1"/>
            <p:nvPr/>
          </p:nvSpPr>
          <p:spPr>
            <a:xfrm>
              <a:off x="4561522" y="1819275"/>
              <a:ext cx="649605" cy="138499"/>
            </a:xfrm>
            <a:prstGeom prst="rect">
              <a:avLst/>
            </a:prstGeom>
            <a:noFill/>
            <a:ln>
              <a:noFill/>
            </a:ln>
          </p:spPr>
          <p:txBody>
            <a:bodyPr wrap="square" lIns="0" tIns="0" rIns="0" bIns="0" anchor="t" anchorCtr="0">
              <a:spAutoFit/>
            </a:bodyPr>
            <a:lstStyle/>
            <a:p>
              <a:pPr algn="ctr"/>
              <a:r>
                <a:rPr lang="en-US" sz="900" b="1" dirty="0">
                  <a:solidFill>
                    <a:srgbClr val="52765A"/>
                  </a:solidFill>
                  <a:latin typeface="+mn-lt"/>
                  <a:ea typeface="+mn-ea"/>
                  <a:cs typeface="+mn-cs"/>
                </a:rPr>
                <a:t>VALIDATE</a:t>
              </a:r>
            </a:p>
          </p:txBody>
        </p:sp>
      </p:grpSp>
      <p:grpSp>
        <p:nvGrpSpPr>
          <p:cNvPr id="61" name="组合 60">
            <a:extLst>
              <a:ext uri="{FF2B5EF4-FFF2-40B4-BE49-F238E27FC236}">
                <a16:creationId xmlns:a16="http://schemas.microsoft.com/office/drawing/2014/main" id="{6B88F903-4020-3B4B-E398-70A9EF1BD4D0}"/>
              </a:ext>
            </a:extLst>
          </p:cNvPr>
          <p:cNvGrpSpPr/>
          <p:nvPr/>
        </p:nvGrpSpPr>
        <p:grpSpPr>
          <a:xfrm>
            <a:off x="6480720" y="1762640"/>
            <a:ext cx="1104900" cy="266700"/>
            <a:chOff x="6038850" y="1752600"/>
            <a:chExt cx="1104900" cy="266700"/>
          </a:xfrm>
        </p:grpSpPr>
        <p:sp>
          <p:nvSpPr>
            <p:cNvPr id="23" name="Rectangle 23"/>
            <p:cNvSpPr/>
            <p:nvPr/>
          </p:nvSpPr>
          <p:spPr>
            <a:xfrm>
              <a:off x="6038850" y="1752600"/>
              <a:ext cx="1104900" cy="266700"/>
            </a:xfrm>
            <a:prstGeom prst="roundRect">
              <a:avLst>
                <a:gd name="adj" fmla="val 50000"/>
              </a:avLst>
            </a:prstGeom>
            <a:solidFill>
              <a:srgbClr val="DDE8DE"/>
            </a:solidFill>
            <a:ln>
              <a:noFill/>
            </a:ln>
          </p:spPr>
          <p:txBody>
            <a:bodyPr/>
            <a:lstStyle/>
            <a:p>
              <a:endParaRPr lang="zh-CN" altLang="en-US"/>
            </a:p>
          </p:txBody>
        </p:sp>
        <p:sp>
          <p:nvSpPr>
            <p:cNvPr id="24" name="TextBox 24"/>
            <p:cNvSpPr txBox="1"/>
            <p:nvPr/>
          </p:nvSpPr>
          <p:spPr>
            <a:xfrm>
              <a:off x="6177642" y="1819275"/>
              <a:ext cx="827317" cy="138499"/>
            </a:xfrm>
            <a:prstGeom prst="rect">
              <a:avLst/>
            </a:prstGeom>
            <a:noFill/>
            <a:ln>
              <a:noFill/>
            </a:ln>
          </p:spPr>
          <p:txBody>
            <a:bodyPr wrap="square" lIns="0" tIns="0" rIns="0" bIns="0" anchor="t" anchorCtr="0">
              <a:spAutoFit/>
            </a:bodyPr>
            <a:lstStyle/>
            <a:p>
              <a:pPr algn="ctr"/>
              <a:r>
                <a:rPr lang="en-US" sz="900" b="1" dirty="0">
                  <a:solidFill>
                    <a:srgbClr val="52765A"/>
                  </a:solidFill>
                  <a:latin typeface="+mn-lt"/>
                  <a:ea typeface="+mn-ea"/>
                  <a:cs typeface="+mn-cs"/>
                </a:rPr>
                <a:t>TRANSFORM</a:t>
              </a:r>
            </a:p>
          </p:txBody>
        </p:sp>
      </p:grpSp>
      <p:grpSp>
        <p:nvGrpSpPr>
          <p:cNvPr id="60" name="组合 59">
            <a:extLst>
              <a:ext uri="{FF2B5EF4-FFF2-40B4-BE49-F238E27FC236}">
                <a16:creationId xmlns:a16="http://schemas.microsoft.com/office/drawing/2014/main" id="{02F44282-3EE1-DD02-E9CE-2447D1647297}"/>
              </a:ext>
            </a:extLst>
          </p:cNvPr>
          <p:cNvGrpSpPr/>
          <p:nvPr/>
        </p:nvGrpSpPr>
        <p:grpSpPr>
          <a:xfrm>
            <a:off x="9537179" y="1760621"/>
            <a:ext cx="990600" cy="266700"/>
            <a:chOff x="7772400" y="1752600"/>
            <a:chExt cx="990600" cy="266700"/>
          </a:xfrm>
        </p:grpSpPr>
        <p:sp>
          <p:nvSpPr>
            <p:cNvPr id="25" name="Rectangle 25"/>
            <p:cNvSpPr/>
            <p:nvPr/>
          </p:nvSpPr>
          <p:spPr>
            <a:xfrm>
              <a:off x="7772400" y="1752600"/>
              <a:ext cx="990600" cy="266700"/>
            </a:xfrm>
            <a:prstGeom prst="roundRect">
              <a:avLst>
                <a:gd name="adj" fmla="val 50000"/>
              </a:avLst>
            </a:prstGeom>
            <a:solidFill>
              <a:srgbClr val="DDE8DE"/>
            </a:solidFill>
            <a:ln>
              <a:noFill/>
            </a:ln>
          </p:spPr>
          <p:txBody>
            <a:bodyPr/>
            <a:lstStyle/>
            <a:p>
              <a:endParaRPr lang="zh-CN" altLang="en-US"/>
            </a:p>
          </p:txBody>
        </p:sp>
        <p:sp>
          <p:nvSpPr>
            <p:cNvPr id="26" name="TextBox 26"/>
            <p:cNvSpPr txBox="1"/>
            <p:nvPr/>
          </p:nvSpPr>
          <p:spPr>
            <a:xfrm>
              <a:off x="7935767" y="1819275"/>
              <a:ext cx="663866" cy="138499"/>
            </a:xfrm>
            <a:prstGeom prst="rect">
              <a:avLst/>
            </a:prstGeom>
            <a:noFill/>
            <a:ln>
              <a:noFill/>
            </a:ln>
          </p:spPr>
          <p:txBody>
            <a:bodyPr wrap="square" lIns="0" tIns="0" rIns="0" bIns="0" anchor="t" anchorCtr="0">
              <a:spAutoFit/>
            </a:bodyPr>
            <a:lstStyle/>
            <a:p>
              <a:pPr algn="ctr"/>
              <a:r>
                <a:rPr lang="en-US" sz="900" b="1" dirty="0">
                  <a:solidFill>
                    <a:srgbClr val="52765A"/>
                  </a:solidFill>
                  <a:latin typeface="+mn-lt"/>
                  <a:ea typeface="+mn-ea"/>
                  <a:cs typeface="+mn-cs"/>
                </a:rPr>
                <a:t>CONSUME</a:t>
              </a:r>
            </a:p>
          </p:txBody>
        </p:sp>
      </p:grpSp>
      <p:grpSp>
        <p:nvGrpSpPr>
          <p:cNvPr id="57" name="组合 56">
            <a:extLst>
              <a:ext uri="{FF2B5EF4-FFF2-40B4-BE49-F238E27FC236}">
                <a16:creationId xmlns:a16="http://schemas.microsoft.com/office/drawing/2014/main" id="{5BD745A3-4372-212D-7593-01EB9CBB435A}"/>
              </a:ext>
            </a:extLst>
          </p:cNvPr>
          <p:cNvGrpSpPr/>
          <p:nvPr/>
        </p:nvGrpSpPr>
        <p:grpSpPr>
          <a:xfrm>
            <a:off x="4355392" y="2215808"/>
            <a:ext cx="1490181" cy="2381250"/>
            <a:chOff x="4355392" y="2215808"/>
            <a:chExt cx="1490181" cy="2381250"/>
          </a:xfrm>
        </p:grpSpPr>
        <p:sp>
          <p:nvSpPr>
            <p:cNvPr id="27" name="Rectangle 27"/>
            <p:cNvSpPr/>
            <p:nvPr/>
          </p:nvSpPr>
          <p:spPr>
            <a:xfrm>
              <a:off x="4355392" y="2215808"/>
              <a:ext cx="1490181" cy="2381250"/>
            </a:xfrm>
            <a:prstGeom prst="roundRect">
              <a:avLst>
                <a:gd name="adj" fmla="val 10667"/>
              </a:avLst>
            </a:prstGeom>
            <a:solidFill>
              <a:srgbClr val="EEF3EE"/>
            </a:solidFill>
            <a:ln w="9525">
              <a:solidFill>
                <a:srgbClr val="C9D4CB"/>
              </a:solidFill>
            </a:ln>
          </p:spPr>
          <p:txBody>
            <a:bodyPr/>
            <a:lstStyle/>
            <a:p>
              <a:endParaRPr lang="zh-CN" altLang="en-US"/>
            </a:p>
          </p:txBody>
        </p:sp>
        <p:sp>
          <p:nvSpPr>
            <p:cNvPr id="28" name="TextBox 28"/>
            <p:cNvSpPr txBox="1"/>
            <p:nvPr/>
          </p:nvSpPr>
          <p:spPr>
            <a:xfrm>
              <a:off x="4916781" y="2263301"/>
              <a:ext cx="287288" cy="300082"/>
            </a:xfrm>
            <a:prstGeom prst="rect">
              <a:avLst/>
            </a:prstGeom>
            <a:noFill/>
            <a:ln>
              <a:noFill/>
            </a:ln>
          </p:spPr>
          <p:txBody>
            <a:bodyPr wrap="square" lIns="0" tIns="0" rIns="0" bIns="0" anchor="t" anchorCtr="0">
              <a:spAutoFit/>
            </a:bodyPr>
            <a:lstStyle/>
            <a:p>
              <a:pPr algn="ctr"/>
              <a:r>
                <a:rPr lang="en-US" sz="1950" b="1" dirty="0">
                  <a:solidFill>
                    <a:srgbClr val="52765A"/>
                  </a:solidFill>
                  <a:latin typeface="+mn-lt"/>
                  <a:ea typeface="+mn-ea"/>
                  <a:cs typeface="+mn-cs"/>
                </a:rPr>
                <a:t>1</a:t>
              </a:r>
            </a:p>
          </p:txBody>
        </p:sp>
        <p:sp>
          <p:nvSpPr>
            <p:cNvPr id="29" name="TextBox 29"/>
            <p:cNvSpPr txBox="1"/>
            <p:nvPr/>
          </p:nvSpPr>
          <p:spPr>
            <a:xfrm>
              <a:off x="4603042" y="2702432"/>
              <a:ext cx="770438" cy="172355"/>
            </a:xfrm>
            <a:prstGeom prst="rect">
              <a:avLst/>
            </a:prstGeom>
            <a:noFill/>
            <a:ln>
              <a:noFill/>
            </a:ln>
          </p:spPr>
          <p:txBody>
            <a:bodyPr wrap="square" lIns="0" tIns="0" rIns="0" bIns="0" anchor="t" anchorCtr="0">
              <a:spAutoFit/>
            </a:bodyPr>
            <a:lstStyle/>
            <a:p>
              <a:pPr algn="l"/>
              <a:r>
                <a:rPr lang="en-US" sz="1120" b="1" dirty="0">
                  <a:solidFill>
                    <a:srgbClr val="1D2B24"/>
                  </a:solidFill>
                  <a:latin typeface="+mn-lt"/>
                  <a:ea typeface="+mn-ea"/>
                  <a:cs typeface="+mn-cs"/>
                </a:rPr>
                <a:t>Freshness</a:t>
              </a:r>
            </a:p>
          </p:txBody>
        </p:sp>
        <p:sp>
          <p:nvSpPr>
            <p:cNvPr id="30" name="TextBox 30"/>
            <p:cNvSpPr txBox="1"/>
            <p:nvPr/>
          </p:nvSpPr>
          <p:spPr>
            <a:xfrm>
              <a:off x="4603423" y="2962782"/>
              <a:ext cx="772804" cy="161583"/>
            </a:xfrm>
            <a:prstGeom prst="rect">
              <a:avLst/>
            </a:prstGeom>
            <a:noFill/>
            <a:ln>
              <a:noFill/>
            </a:ln>
          </p:spPr>
          <p:txBody>
            <a:bodyPr wrap="square" lIns="0" tIns="0" rIns="0" bIns="0" anchor="t" anchorCtr="0">
              <a:spAutoFit/>
            </a:bodyPr>
            <a:lstStyle/>
            <a:p>
              <a:pPr algn="l"/>
              <a:r>
                <a:rPr lang="en-US" sz="1050" dirty="0">
                  <a:solidFill>
                    <a:srgbClr val="657269"/>
                  </a:solidFill>
                </a:rPr>
                <a:t>T</a:t>
              </a:r>
              <a:r>
                <a:rPr lang="en-US" sz="1050" dirty="0">
                  <a:solidFill>
                    <a:srgbClr val="657269"/>
                  </a:solidFill>
                  <a:latin typeface="+mn-lt"/>
                  <a:ea typeface="+mn-ea"/>
                  <a:cs typeface="+mn-cs"/>
                </a:rPr>
                <a:t>racking flag</a:t>
              </a:r>
            </a:p>
          </p:txBody>
        </p:sp>
        <p:sp>
          <p:nvSpPr>
            <p:cNvPr id="31" name="TextBox 31"/>
            <p:cNvSpPr txBox="1"/>
            <p:nvPr/>
          </p:nvSpPr>
          <p:spPr>
            <a:xfrm>
              <a:off x="4603423" y="3191382"/>
              <a:ext cx="655059" cy="161583"/>
            </a:xfrm>
            <a:prstGeom prst="rect">
              <a:avLst/>
            </a:prstGeom>
            <a:noFill/>
            <a:ln>
              <a:noFill/>
            </a:ln>
          </p:spPr>
          <p:txBody>
            <a:bodyPr wrap="square" lIns="0" tIns="0" rIns="0" bIns="0" anchor="t" anchorCtr="0">
              <a:spAutoFit/>
            </a:bodyPr>
            <a:lstStyle/>
            <a:p>
              <a:pPr algn="l"/>
              <a:r>
                <a:rPr lang="en-US" sz="1050" dirty="0">
                  <a:solidFill>
                    <a:srgbClr val="657269"/>
                  </a:solidFill>
                </a:rPr>
                <a:t>F</a:t>
              </a:r>
              <a:r>
                <a:rPr lang="en-US" sz="1050" dirty="0">
                  <a:solidFill>
                    <a:srgbClr val="657269"/>
                  </a:solidFill>
                  <a:latin typeface="+mn-lt"/>
                  <a:ea typeface="+mn-ea"/>
                  <a:cs typeface="+mn-cs"/>
                </a:rPr>
                <a:t>inite pose</a:t>
              </a:r>
            </a:p>
          </p:txBody>
        </p:sp>
        <p:sp>
          <p:nvSpPr>
            <p:cNvPr id="32" name="TextBox 32"/>
            <p:cNvSpPr txBox="1"/>
            <p:nvPr/>
          </p:nvSpPr>
          <p:spPr>
            <a:xfrm>
              <a:off x="4603423" y="3419982"/>
              <a:ext cx="922241" cy="161583"/>
            </a:xfrm>
            <a:prstGeom prst="rect">
              <a:avLst/>
            </a:prstGeom>
            <a:noFill/>
            <a:ln>
              <a:noFill/>
            </a:ln>
          </p:spPr>
          <p:txBody>
            <a:bodyPr wrap="square" lIns="0" tIns="0" rIns="0" bIns="0" anchor="t" anchorCtr="0">
              <a:spAutoFit/>
            </a:bodyPr>
            <a:lstStyle/>
            <a:p>
              <a:pPr algn="l"/>
              <a:r>
                <a:rPr lang="en-US" sz="1050" dirty="0">
                  <a:solidFill>
                    <a:srgbClr val="657269"/>
                  </a:solidFill>
                </a:rPr>
                <a:t>K</a:t>
              </a:r>
              <a:r>
                <a:rPr lang="en-US" sz="1050" dirty="0">
                  <a:solidFill>
                    <a:srgbClr val="657269"/>
                  </a:solidFill>
                  <a:latin typeface="+mn-lt"/>
                  <a:ea typeface="+mn-ea"/>
                  <a:cs typeface="+mn-cs"/>
                </a:rPr>
                <a:t>nown buttons</a:t>
              </a:r>
            </a:p>
          </p:txBody>
        </p:sp>
        <p:sp>
          <p:nvSpPr>
            <p:cNvPr id="33" name="TextBox 33"/>
            <p:cNvSpPr txBox="1"/>
            <p:nvPr/>
          </p:nvSpPr>
          <p:spPr>
            <a:xfrm>
              <a:off x="4603423" y="3820032"/>
              <a:ext cx="1133289" cy="161583"/>
            </a:xfrm>
            <a:prstGeom prst="rect">
              <a:avLst/>
            </a:prstGeom>
            <a:noFill/>
            <a:ln>
              <a:noFill/>
            </a:ln>
          </p:spPr>
          <p:txBody>
            <a:bodyPr wrap="square" lIns="0" tIns="0" rIns="0" bIns="0" anchor="t" anchorCtr="0">
              <a:spAutoFit/>
            </a:bodyPr>
            <a:lstStyle/>
            <a:p>
              <a:pPr algn="l"/>
              <a:r>
                <a:rPr lang="en-US" sz="1050" b="1" dirty="0">
                  <a:solidFill>
                    <a:srgbClr val="A64C45"/>
                  </a:solidFill>
                  <a:latin typeface="+mn-lt"/>
                  <a:ea typeface="+mn-ea"/>
                  <a:cs typeface="+mn-cs"/>
                </a:rPr>
                <a:t>Latency &gt; 200 </a:t>
              </a:r>
              <a:r>
                <a:rPr lang="en-US" sz="1050" b="1" dirty="0" err="1">
                  <a:solidFill>
                    <a:srgbClr val="A64C45"/>
                  </a:solidFill>
                  <a:latin typeface="+mn-lt"/>
                  <a:ea typeface="+mn-ea"/>
                  <a:cs typeface="+mn-cs"/>
                </a:rPr>
                <a:t>ms</a:t>
              </a:r>
              <a:r>
                <a:rPr lang="en-US" sz="1050" b="1" dirty="0">
                  <a:solidFill>
                    <a:srgbClr val="A64C45"/>
                  </a:solidFill>
                  <a:latin typeface="+mn-lt"/>
                  <a:ea typeface="+mn-ea"/>
                  <a:cs typeface="+mn-cs"/>
                </a:rPr>
                <a:t> </a:t>
              </a:r>
            </a:p>
          </p:txBody>
        </p:sp>
        <p:sp>
          <p:nvSpPr>
            <p:cNvPr id="34" name="TextBox 34"/>
            <p:cNvSpPr txBox="1"/>
            <p:nvPr/>
          </p:nvSpPr>
          <p:spPr>
            <a:xfrm>
              <a:off x="4603423" y="4029582"/>
              <a:ext cx="843169" cy="161583"/>
            </a:xfrm>
            <a:prstGeom prst="rect">
              <a:avLst/>
            </a:prstGeom>
            <a:noFill/>
            <a:ln>
              <a:noFill/>
            </a:ln>
          </p:spPr>
          <p:txBody>
            <a:bodyPr wrap="square" lIns="0" tIns="0" rIns="0" bIns="0" anchor="t" anchorCtr="0">
              <a:spAutoFit/>
            </a:bodyPr>
            <a:lstStyle/>
            <a:p>
              <a:pPr algn="l"/>
              <a:r>
                <a:rPr lang="en-US" sz="1050" b="1" dirty="0">
                  <a:solidFill>
                    <a:srgbClr val="A64C45"/>
                  </a:solidFill>
                </a:rPr>
                <a:t>L</a:t>
              </a:r>
              <a:r>
                <a:rPr lang="en-US" sz="1050" b="1" dirty="0">
                  <a:solidFill>
                    <a:srgbClr val="A64C45"/>
                  </a:solidFill>
                  <a:latin typeface="+mn-lt"/>
                  <a:ea typeface="+mn-ea"/>
                  <a:cs typeface="+mn-cs"/>
                </a:rPr>
                <a:t>atched stop</a:t>
              </a:r>
            </a:p>
          </p:txBody>
        </p:sp>
      </p:grpSp>
      <p:grpSp>
        <p:nvGrpSpPr>
          <p:cNvPr id="56" name="组合 55">
            <a:extLst>
              <a:ext uri="{FF2B5EF4-FFF2-40B4-BE49-F238E27FC236}">
                <a16:creationId xmlns:a16="http://schemas.microsoft.com/office/drawing/2014/main" id="{B2F70DF0-4044-5FDA-DF61-2706AAF05048}"/>
              </a:ext>
            </a:extLst>
          </p:cNvPr>
          <p:cNvGrpSpPr/>
          <p:nvPr/>
        </p:nvGrpSpPr>
        <p:grpSpPr>
          <a:xfrm>
            <a:off x="6480720" y="2226710"/>
            <a:ext cx="2498887" cy="2381250"/>
            <a:chOff x="5772149" y="2190750"/>
            <a:chExt cx="2498887" cy="2381250"/>
          </a:xfrm>
        </p:grpSpPr>
        <p:sp>
          <p:nvSpPr>
            <p:cNvPr id="35" name="Rectangle 35"/>
            <p:cNvSpPr/>
            <p:nvPr/>
          </p:nvSpPr>
          <p:spPr>
            <a:xfrm>
              <a:off x="5772149" y="2190750"/>
              <a:ext cx="2498887" cy="2381250"/>
            </a:xfrm>
            <a:prstGeom prst="roundRect">
              <a:avLst>
                <a:gd name="adj" fmla="val 8989"/>
              </a:avLst>
            </a:prstGeom>
            <a:solidFill>
              <a:srgbClr val="EEF3EE"/>
            </a:solidFill>
            <a:ln w="9525">
              <a:solidFill>
                <a:srgbClr val="C9D4CB"/>
              </a:solidFill>
            </a:ln>
          </p:spPr>
          <p:txBody>
            <a:bodyPr/>
            <a:lstStyle/>
            <a:p>
              <a:endParaRPr lang="zh-CN" altLang="en-US"/>
            </a:p>
          </p:txBody>
        </p:sp>
        <p:sp>
          <p:nvSpPr>
            <p:cNvPr id="36" name="TextBox 36"/>
            <p:cNvSpPr txBox="1"/>
            <p:nvPr/>
          </p:nvSpPr>
          <p:spPr>
            <a:xfrm>
              <a:off x="6922049" y="2292350"/>
              <a:ext cx="165820" cy="300082"/>
            </a:xfrm>
            <a:prstGeom prst="rect">
              <a:avLst/>
            </a:prstGeom>
            <a:noFill/>
            <a:ln>
              <a:noFill/>
            </a:ln>
          </p:spPr>
          <p:txBody>
            <a:bodyPr wrap="square" lIns="0" tIns="0" rIns="0" bIns="0" anchor="t" anchorCtr="0">
              <a:spAutoFit/>
            </a:bodyPr>
            <a:lstStyle/>
            <a:p>
              <a:pPr algn="ctr"/>
              <a:r>
                <a:rPr lang="en-US" sz="1950" b="1" dirty="0">
                  <a:solidFill>
                    <a:srgbClr val="52765A"/>
                  </a:solidFill>
                  <a:latin typeface="+mn-lt"/>
                  <a:ea typeface="+mn-ea"/>
                  <a:cs typeface="+mn-cs"/>
                </a:rPr>
                <a:t>2</a:t>
              </a:r>
            </a:p>
          </p:txBody>
        </p:sp>
        <p:sp>
          <p:nvSpPr>
            <p:cNvPr id="37" name="TextBox 37"/>
            <p:cNvSpPr txBox="1"/>
            <p:nvPr/>
          </p:nvSpPr>
          <p:spPr>
            <a:xfrm>
              <a:off x="5995035" y="2755900"/>
              <a:ext cx="1264462" cy="172355"/>
            </a:xfrm>
            <a:prstGeom prst="rect">
              <a:avLst/>
            </a:prstGeom>
            <a:noFill/>
            <a:ln>
              <a:noFill/>
            </a:ln>
          </p:spPr>
          <p:txBody>
            <a:bodyPr wrap="square" lIns="0" tIns="0" rIns="0" bIns="0" anchor="t" anchorCtr="0">
              <a:spAutoFit/>
            </a:bodyPr>
            <a:lstStyle/>
            <a:p>
              <a:pPr algn="l"/>
              <a:r>
                <a:rPr lang="en-US" sz="1120" b="1" dirty="0">
                  <a:solidFill>
                    <a:srgbClr val="1D2B24"/>
                  </a:solidFill>
                  <a:latin typeface="+mn-lt"/>
                  <a:ea typeface="+mn-ea"/>
                  <a:cs typeface="+mn-cs"/>
                </a:rPr>
                <a:t>Coordinate frame</a:t>
              </a:r>
            </a:p>
          </p:txBody>
        </p:sp>
        <p:sp>
          <p:nvSpPr>
            <p:cNvPr id="38" name="TextBox 38"/>
            <p:cNvSpPr txBox="1"/>
            <p:nvPr/>
          </p:nvSpPr>
          <p:spPr>
            <a:xfrm>
              <a:off x="5798764" y="3016250"/>
              <a:ext cx="2213148" cy="161583"/>
            </a:xfrm>
            <a:prstGeom prst="rect">
              <a:avLst/>
            </a:prstGeom>
            <a:noFill/>
            <a:ln>
              <a:noFill/>
            </a:ln>
          </p:spPr>
          <p:txBody>
            <a:bodyPr wrap="square" lIns="0" tIns="0" rIns="0" bIns="0" anchor="t" anchorCtr="0">
              <a:spAutoFit/>
            </a:bodyPr>
            <a:lstStyle/>
            <a:p>
              <a:pPr algn="ctr"/>
              <a:r>
                <a:rPr lang="en-US" sz="1050" dirty="0" err="1">
                  <a:solidFill>
                    <a:srgbClr val="657269"/>
                  </a:solidFill>
                  <a:latin typeface="+mn-lt"/>
                  <a:ea typeface="+mn-ea"/>
                  <a:cs typeface="+mn-cs"/>
                </a:rPr>
                <a:t>OpenXR</a:t>
              </a:r>
              <a:r>
                <a:rPr lang="en-US" sz="1050" dirty="0">
                  <a:solidFill>
                    <a:srgbClr val="657269"/>
                  </a:solidFill>
                  <a:latin typeface="+mn-lt"/>
                  <a:ea typeface="+mn-ea"/>
                  <a:cs typeface="+mn-cs"/>
                </a:rPr>
                <a:t> wrist</a:t>
              </a:r>
              <a:r>
                <a:rPr lang="zh-CN" altLang="en-US" sz="1050" dirty="0">
                  <a:solidFill>
                    <a:srgbClr val="657269"/>
                  </a:solidFill>
                  <a:latin typeface="+mn-lt"/>
                  <a:ea typeface="+mn-ea"/>
                  <a:cs typeface="+mn-cs"/>
                </a:rPr>
                <a:t> </a:t>
              </a:r>
              <a:r>
                <a:rPr lang="en-US" altLang="zh-CN" sz="1050" dirty="0">
                  <a:solidFill>
                    <a:srgbClr val="657269"/>
                  </a:solidFill>
                </a:rPr>
                <a:t>→ DexH13 palm</a:t>
              </a:r>
            </a:p>
          </p:txBody>
        </p:sp>
        <p:sp>
          <p:nvSpPr>
            <p:cNvPr id="40" name="TextBox 40"/>
            <p:cNvSpPr txBox="1"/>
            <p:nvPr/>
          </p:nvSpPr>
          <p:spPr>
            <a:xfrm>
              <a:off x="5995416" y="3251200"/>
              <a:ext cx="2213148" cy="161583"/>
            </a:xfrm>
            <a:prstGeom prst="rect">
              <a:avLst/>
            </a:prstGeom>
            <a:noFill/>
            <a:ln>
              <a:noFill/>
            </a:ln>
          </p:spPr>
          <p:txBody>
            <a:bodyPr wrap="square" lIns="0" tIns="0" rIns="0" bIns="0" anchor="t" anchorCtr="0">
              <a:spAutoFit/>
            </a:bodyPr>
            <a:lstStyle/>
            <a:p>
              <a:r>
                <a:rPr lang="en-US" sz="1050" dirty="0">
                  <a:solidFill>
                    <a:srgbClr val="657269"/>
                  </a:solidFill>
                  <a:latin typeface="+mn-lt"/>
                  <a:ea typeface="+mn-ea"/>
                  <a:cs typeface="+mn-cs"/>
                </a:rPr>
                <a:t>Quest local floor</a:t>
              </a:r>
              <a:r>
                <a:rPr lang="zh-CN" altLang="en-US" sz="1050" dirty="0">
                  <a:solidFill>
                    <a:srgbClr val="657269"/>
                  </a:solidFill>
                  <a:latin typeface="+mn-lt"/>
                  <a:ea typeface="+mn-ea"/>
                  <a:cs typeface="+mn-cs"/>
                </a:rPr>
                <a:t> </a:t>
              </a:r>
              <a:r>
                <a:rPr lang="en-US" altLang="zh-CN" sz="1050" dirty="0">
                  <a:solidFill>
                    <a:srgbClr val="657269"/>
                  </a:solidFill>
                </a:rPr>
                <a:t>→ Robot </a:t>
              </a:r>
              <a:r>
                <a:rPr lang="en-US" altLang="zh-CN" sz="1050" dirty="0" err="1">
                  <a:solidFill>
                    <a:srgbClr val="657269"/>
                  </a:solidFill>
                </a:rPr>
                <a:t>base_link</a:t>
              </a:r>
              <a:endParaRPr lang="en-US" altLang="zh-CN" sz="1050" dirty="0">
                <a:solidFill>
                  <a:srgbClr val="657269"/>
                </a:solidFill>
              </a:endParaRPr>
            </a:p>
          </p:txBody>
        </p:sp>
        <p:sp>
          <p:nvSpPr>
            <p:cNvPr id="42" name="TextBox 42"/>
            <p:cNvSpPr txBox="1"/>
            <p:nvPr/>
          </p:nvSpPr>
          <p:spPr>
            <a:xfrm>
              <a:off x="5998281" y="3793659"/>
              <a:ext cx="1228237" cy="161583"/>
            </a:xfrm>
            <a:prstGeom prst="rect">
              <a:avLst/>
            </a:prstGeom>
            <a:noFill/>
            <a:ln>
              <a:noFill/>
            </a:ln>
          </p:spPr>
          <p:txBody>
            <a:bodyPr wrap="square" lIns="0" tIns="0" rIns="0" bIns="0" anchor="t" anchorCtr="0">
              <a:spAutoFit/>
            </a:bodyPr>
            <a:lstStyle/>
            <a:p>
              <a:pPr algn="l"/>
              <a:r>
                <a:rPr lang="en-US" sz="1050" b="1" dirty="0">
                  <a:solidFill>
                    <a:srgbClr val="52765A"/>
                  </a:solidFill>
                </a:rPr>
                <a:t>S</a:t>
              </a:r>
              <a:r>
                <a:rPr lang="en-US" sz="1050" b="1" dirty="0">
                  <a:solidFill>
                    <a:srgbClr val="52765A"/>
                  </a:solidFill>
                  <a:latin typeface="+mn-lt"/>
                  <a:ea typeface="+mn-ea"/>
                  <a:cs typeface="+mn-cs"/>
                </a:rPr>
                <a:t>hared calibration</a:t>
              </a:r>
            </a:p>
          </p:txBody>
        </p:sp>
      </p:grpSp>
      <p:grpSp>
        <p:nvGrpSpPr>
          <p:cNvPr id="55" name="组合 54">
            <a:extLst>
              <a:ext uri="{FF2B5EF4-FFF2-40B4-BE49-F238E27FC236}">
                <a16:creationId xmlns:a16="http://schemas.microsoft.com/office/drawing/2014/main" id="{00CD72A1-074B-6078-FCB8-2D5FB5EC43FB}"/>
              </a:ext>
            </a:extLst>
          </p:cNvPr>
          <p:cNvGrpSpPr/>
          <p:nvPr/>
        </p:nvGrpSpPr>
        <p:grpSpPr>
          <a:xfrm>
            <a:off x="9537179" y="2238375"/>
            <a:ext cx="1695450" cy="2381250"/>
            <a:chOff x="7715250" y="2190750"/>
            <a:chExt cx="1695450" cy="2381250"/>
          </a:xfrm>
        </p:grpSpPr>
        <p:sp>
          <p:nvSpPr>
            <p:cNvPr id="43" name="Rectangle 43"/>
            <p:cNvSpPr/>
            <p:nvPr/>
          </p:nvSpPr>
          <p:spPr>
            <a:xfrm>
              <a:off x="7715250" y="2190750"/>
              <a:ext cx="1695450" cy="2381250"/>
            </a:xfrm>
            <a:prstGeom prst="roundRect">
              <a:avLst>
                <a:gd name="adj" fmla="val 8989"/>
              </a:avLst>
            </a:prstGeom>
            <a:solidFill>
              <a:srgbClr val="EEF3EE"/>
            </a:solidFill>
            <a:ln w="9525">
              <a:solidFill>
                <a:srgbClr val="C9D4CB"/>
              </a:solidFill>
            </a:ln>
          </p:spPr>
          <p:txBody>
            <a:bodyPr/>
            <a:lstStyle/>
            <a:p>
              <a:endParaRPr lang="zh-CN" altLang="en-US"/>
            </a:p>
          </p:txBody>
        </p:sp>
        <p:sp>
          <p:nvSpPr>
            <p:cNvPr id="44" name="TextBox 44"/>
            <p:cNvSpPr txBox="1"/>
            <p:nvPr/>
          </p:nvSpPr>
          <p:spPr>
            <a:xfrm>
              <a:off x="8480065" y="2292350"/>
              <a:ext cx="165820" cy="300082"/>
            </a:xfrm>
            <a:prstGeom prst="rect">
              <a:avLst/>
            </a:prstGeom>
            <a:noFill/>
            <a:ln>
              <a:noFill/>
            </a:ln>
          </p:spPr>
          <p:txBody>
            <a:bodyPr wrap="square" lIns="0" tIns="0" rIns="0" bIns="0" anchor="t" anchorCtr="0">
              <a:spAutoFit/>
            </a:bodyPr>
            <a:lstStyle/>
            <a:p>
              <a:pPr algn="ctr"/>
              <a:r>
                <a:rPr lang="en-US" sz="1950" b="1" dirty="0">
                  <a:solidFill>
                    <a:srgbClr val="52765A"/>
                  </a:solidFill>
                  <a:latin typeface="+mn-lt"/>
                  <a:ea typeface="+mn-ea"/>
                  <a:cs typeface="+mn-cs"/>
                </a:rPr>
                <a:t>3</a:t>
              </a:r>
            </a:p>
          </p:txBody>
        </p:sp>
        <p:sp>
          <p:nvSpPr>
            <p:cNvPr id="45" name="TextBox 45"/>
            <p:cNvSpPr txBox="1"/>
            <p:nvPr/>
          </p:nvSpPr>
          <p:spPr>
            <a:xfrm>
              <a:off x="7938135" y="2755900"/>
              <a:ext cx="1079929" cy="172355"/>
            </a:xfrm>
            <a:prstGeom prst="rect">
              <a:avLst/>
            </a:prstGeom>
            <a:noFill/>
            <a:ln>
              <a:noFill/>
            </a:ln>
          </p:spPr>
          <p:txBody>
            <a:bodyPr wrap="square" lIns="0" tIns="0" rIns="0" bIns="0" anchor="t" anchorCtr="0">
              <a:spAutoFit/>
            </a:bodyPr>
            <a:lstStyle/>
            <a:p>
              <a:pPr algn="l"/>
              <a:r>
                <a:rPr lang="en-US" sz="1120" b="1" dirty="0">
                  <a:solidFill>
                    <a:srgbClr val="1D2B24"/>
                  </a:solidFill>
                  <a:latin typeface="+mn-lt"/>
                  <a:ea typeface="+mn-ea"/>
                  <a:cs typeface="+mn-cs"/>
                </a:rPr>
                <a:t>Relative clutch</a:t>
              </a:r>
            </a:p>
          </p:txBody>
        </p:sp>
        <p:sp>
          <p:nvSpPr>
            <p:cNvPr id="46" name="TextBox 46"/>
            <p:cNvSpPr txBox="1"/>
            <p:nvPr/>
          </p:nvSpPr>
          <p:spPr>
            <a:xfrm>
              <a:off x="7938516" y="3016250"/>
              <a:ext cx="1118605" cy="161583"/>
            </a:xfrm>
            <a:prstGeom prst="rect">
              <a:avLst/>
            </a:prstGeom>
            <a:noFill/>
            <a:ln>
              <a:noFill/>
            </a:ln>
          </p:spPr>
          <p:txBody>
            <a:bodyPr wrap="square" lIns="0" tIns="0" rIns="0" bIns="0" anchor="t" anchorCtr="0">
              <a:spAutoFit/>
            </a:bodyPr>
            <a:lstStyle/>
            <a:p>
              <a:pPr algn="l"/>
              <a:r>
                <a:rPr lang="en-US" sz="1050" dirty="0">
                  <a:solidFill>
                    <a:srgbClr val="657269"/>
                  </a:solidFill>
                </a:rPr>
                <a:t>C</a:t>
              </a:r>
              <a:r>
                <a:rPr lang="en-US" sz="1050" dirty="0">
                  <a:solidFill>
                    <a:srgbClr val="657269"/>
                  </a:solidFill>
                  <a:latin typeface="+mn-lt"/>
                  <a:ea typeface="+mn-ea"/>
                  <a:cs typeface="+mn-cs"/>
                </a:rPr>
                <a:t>apture reference</a:t>
              </a:r>
            </a:p>
          </p:txBody>
        </p:sp>
        <p:sp>
          <p:nvSpPr>
            <p:cNvPr id="47" name="TextBox 47"/>
            <p:cNvSpPr txBox="1"/>
            <p:nvPr/>
          </p:nvSpPr>
          <p:spPr>
            <a:xfrm>
              <a:off x="7938516" y="3244850"/>
              <a:ext cx="1244097" cy="161583"/>
            </a:xfrm>
            <a:prstGeom prst="rect">
              <a:avLst/>
            </a:prstGeom>
            <a:noFill/>
            <a:ln>
              <a:noFill/>
            </a:ln>
          </p:spPr>
          <p:txBody>
            <a:bodyPr wrap="square" lIns="0" tIns="0" rIns="0" bIns="0" anchor="t" anchorCtr="0">
              <a:spAutoFit/>
            </a:bodyPr>
            <a:lstStyle/>
            <a:p>
              <a:pPr algn="l"/>
              <a:r>
                <a:rPr lang="en-US" sz="1050" dirty="0">
                  <a:solidFill>
                    <a:srgbClr val="657269"/>
                  </a:solidFill>
                </a:rPr>
                <a:t>F</a:t>
              </a:r>
              <a:r>
                <a:rPr lang="en-US" sz="1050" dirty="0">
                  <a:solidFill>
                    <a:srgbClr val="657269"/>
                  </a:solidFill>
                  <a:latin typeface="+mn-lt"/>
                  <a:ea typeface="+mn-ea"/>
                  <a:cs typeface="+mn-cs"/>
                </a:rPr>
                <a:t>ollow incrementally</a:t>
              </a:r>
            </a:p>
          </p:txBody>
        </p:sp>
        <p:sp>
          <p:nvSpPr>
            <p:cNvPr id="48" name="TextBox 48"/>
            <p:cNvSpPr txBox="1"/>
            <p:nvPr/>
          </p:nvSpPr>
          <p:spPr>
            <a:xfrm>
              <a:off x="7938516" y="3473450"/>
              <a:ext cx="1299167" cy="161583"/>
            </a:xfrm>
            <a:prstGeom prst="rect">
              <a:avLst/>
            </a:prstGeom>
            <a:noFill/>
            <a:ln>
              <a:noFill/>
            </a:ln>
          </p:spPr>
          <p:txBody>
            <a:bodyPr wrap="square" lIns="0" tIns="0" rIns="0" bIns="0" anchor="t" anchorCtr="0">
              <a:spAutoFit/>
            </a:bodyPr>
            <a:lstStyle/>
            <a:p>
              <a:pPr algn="l"/>
              <a:r>
                <a:rPr lang="en-US" sz="1050" dirty="0">
                  <a:solidFill>
                    <a:srgbClr val="657269"/>
                  </a:solidFill>
                </a:rPr>
                <a:t>R</a:t>
              </a:r>
              <a:r>
                <a:rPr lang="en-US" sz="1050" dirty="0">
                  <a:solidFill>
                    <a:srgbClr val="657269"/>
                  </a:solidFill>
                  <a:latin typeface="+mn-lt"/>
                  <a:ea typeface="+mn-ea"/>
                  <a:cs typeface="+mn-cs"/>
                </a:rPr>
                <a:t>elease → re-anchor</a:t>
              </a:r>
            </a:p>
          </p:txBody>
        </p:sp>
        <p:sp>
          <p:nvSpPr>
            <p:cNvPr id="49" name="TextBox 49"/>
            <p:cNvSpPr txBox="1"/>
            <p:nvPr/>
          </p:nvSpPr>
          <p:spPr>
            <a:xfrm>
              <a:off x="7938135" y="3780656"/>
              <a:ext cx="1172997" cy="161583"/>
            </a:xfrm>
            <a:prstGeom prst="rect">
              <a:avLst/>
            </a:prstGeom>
            <a:noFill/>
            <a:ln>
              <a:noFill/>
            </a:ln>
          </p:spPr>
          <p:txBody>
            <a:bodyPr wrap="square" lIns="0" tIns="0" rIns="0" bIns="0" anchor="t" anchorCtr="0">
              <a:spAutoFit/>
            </a:bodyPr>
            <a:lstStyle/>
            <a:p>
              <a:pPr algn="l"/>
              <a:r>
                <a:rPr lang="en-US" sz="1050" b="1" dirty="0">
                  <a:solidFill>
                    <a:srgbClr val="52765A"/>
                  </a:solidFill>
                </a:rPr>
                <a:t>N</a:t>
              </a:r>
              <a:r>
                <a:rPr lang="en-US" sz="1050" b="1" dirty="0">
                  <a:solidFill>
                    <a:srgbClr val="52765A"/>
                  </a:solidFill>
                  <a:latin typeface="+mn-lt"/>
                  <a:ea typeface="+mn-ea"/>
                  <a:cs typeface="+mn-cs"/>
                </a:rPr>
                <a:t>o absolute pose</a:t>
              </a:r>
            </a:p>
          </p:txBody>
        </p:sp>
      </p:grpSp>
      <p:sp>
        <p:nvSpPr>
          <p:cNvPr id="52" name="Line 52"/>
          <p:cNvSpPr/>
          <p:nvPr/>
        </p:nvSpPr>
        <p:spPr>
          <a:xfrm flipV="1">
            <a:off x="9036767" y="3352965"/>
            <a:ext cx="445851" cy="0"/>
          </a:xfrm>
          <a:prstGeom prst="line">
            <a:avLst/>
          </a:prstGeom>
          <a:noFill/>
          <a:ln w="19050">
            <a:solidFill>
              <a:srgbClr val="52765A"/>
            </a:solidFill>
            <a:tailEnd type="triangle" w="lg" len="lg"/>
          </a:ln>
        </p:spPr>
        <p:txBody>
          <a:bodyPr/>
          <a:lstStyle/>
          <a:p>
            <a:endParaRPr lang="zh-CN" altLang="en-US"/>
          </a:p>
        </p:txBody>
      </p:sp>
      <p:sp>
        <p:nvSpPr>
          <p:cNvPr id="53" name="Rectangle 53"/>
          <p:cNvSpPr/>
          <p:nvPr/>
        </p:nvSpPr>
        <p:spPr>
          <a:xfrm>
            <a:off x="4355392" y="4991100"/>
            <a:ext cx="6877236" cy="476250"/>
          </a:xfrm>
          <a:prstGeom prst="roundRect">
            <a:avLst>
              <a:gd name="adj" fmla="val 24000"/>
            </a:avLst>
          </a:prstGeom>
          <a:solidFill>
            <a:srgbClr val="F2EEE7"/>
          </a:solidFill>
          <a:ln>
            <a:noFill/>
          </a:ln>
        </p:spPr>
        <p:txBody>
          <a:bodyPr/>
          <a:lstStyle/>
          <a:p>
            <a:endParaRPr lang="zh-CN" altLang="en-US"/>
          </a:p>
        </p:txBody>
      </p:sp>
      <p:sp>
        <p:nvSpPr>
          <p:cNvPr id="54" name="TextBox 54"/>
          <p:cNvSpPr txBox="1"/>
          <p:nvPr/>
        </p:nvSpPr>
        <p:spPr>
          <a:xfrm>
            <a:off x="4554464" y="5148433"/>
            <a:ext cx="5314998" cy="161583"/>
          </a:xfrm>
          <a:prstGeom prst="rect">
            <a:avLst/>
          </a:prstGeom>
          <a:noFill/>
          <a:ln>
            <a:noFill/>
          </a:ln>
        </p:spPr>
        <p:txBody>
          <a:bodyPr wrap="square" lIns="0" tIns="0" rIns="0" bIns="0" anchor="t" anchorCtr="0">
            <a:spAutoFit/>
          </a:bodyPr>
          <a:lstStyle/>
          <a:p>
            <a:pPr algn="l"/>
            <a:r>
              <a:rPr lang="en-US" sz="1050" b="1" dirty="0">
                <a:solidFill>
                  <a:srgbClr val="1D2B24"/>
                </a:solidFill>
                <a:latin typeface="+mn-lt"/>
                <a:ea typeface="+mn-ea"/>
                <a:cs typeface="+mn-cs"/>
              </a:rPr>
              <a:t>Video returns independently: JPEG fallback, WebRTC when explicitly enabled.</a:t>
            </a:r>
          </a:p>
        </p:txBody>
      </p:sp>
      <p:sp>
        <p:nvSpPr>
          <p:cNvPr id="58" name="Line 52">
            <a:extLst>
              <a:ext uri="{FF2B5EF4-FFF2-40B4-BE49-F238E27FC236}">
                <a16:creationId xmlns:a16="http://schemas.microsoft.com/office/drawing/2014/main" id="{C898BE8C-5DCC-394C-80B9-6228C3A7898C}"/>
              </a:ext>
            </a:extLst>
          </p:cNvPr>
          <p:cNvSpPr/>
          <p:nvPr/>
        </p:nvSpPr>
        <p:spPr>
          <a:xfrm flipV="1">
            <a:off x="5939212" y="3367998"/>
            <a:ext cx="445851" cy="0"/>
          </a:xfrm>
          <a:prstGeom prst="line">
            <a:avLst/>
          </a:prstGeom>
          <a:noFill/>
          <a:ln w="19050">
            <a:solidFill>
              <a:srgbClr val="52765A"/>
            </a:solidFill>
            <a:tailEnd type="triangle" w="lg" len="lg"/>
          </a:ln>
        </p:spPr>
        <p:txBody>
          <a:bodyPr/>
          <a:lstStyle/>
          <a:p>
            <a:endParaRPr lang="zh-CN" altLang="en-US"/>
          </a:p>
        </p:txBody>
      </p:sp>
      <p:sp>
        <p:nvSpPr>
          <p:cNvPr id="59" name="Line 52">
            <a:extLst>
              <a:ext uri="{FF2B5EF4-FFF2-40B4-BE49-F238E27FC236}">
                <a16:creationId xmlns:a16="http://schemas.microsoft.com/office/drawing/2014/main" id="{00D71C57-4D89-5877-3053-B538DD91270D}"/>
              </a:ext>
            </a:extLst>
          </p:cNvPr>
          <p:cNvSpPr/>
          <p:nvPr/>
        </p:nvSpPr>
        <p:spPr>
          <a:xfrm flipV="1">
            <a:off x="3872824" y="3345696"/>
            <a:ext cx="445851" cy="0"/>
          </a:xfrm>
          <a:prstGeom prst="line">
            <a:avLst/>
          </a:prstGeom>
          <a:noFill/>
          <a:ln w="19050">
            <a:solidFill>
              <a:srgbClr val="52765A"/>
            </a:solidFill>
            <a:tailEnd type="triangle" w="lg" len="lg"/>
          </a:ln>
        </p:spPr>
        <p:txBody>
          <a:bodyPr/>
          <a:lstStyle/>
          <a:p>
            <a:endParaRPr lang="zh-CN" altLang="en-US"/>
          </a:p>
        </p:txBody>
      </p:sp>
    </p:spTree>
  </p:cSld>
  <p:transition xmlns:p="http://schemas.openxmlformats.org/presentationml/2006/main" spd="slow">
    <p:fade/>
  </p:transition>
  <p:clrMapOvr>
    <a:masterClrMapping/>
  </p:clrMapOvr>
  <mc:AlternateContent xmlns:mc="http://schemas.openxmlformats.org/markup-compatibility/2006">
    <mc:Choice xmlns:p14="http://schemas.microsoft.com/office/powerpoint/2010/main" Requires="p1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 name="TextBox 2"/>
          <p:cNvSpPr txBox="1"/>
          <p:nvPr/>
        </p:nvSpPr>
        <p:spPr>
          <a:xfrm>
            <a:off x="604838" y="342900"/>
            <a:ext cx="2311176" cy="176212"/>
          </a:xfrm>
          <a:prstGeom prst="rect">
            <a:avLst/>
          </a:prstGeom>
          <a:noFill/>
          <a:ln>
            <a:noFill/>
          </a:ln>
        </p:spPr>
        <p:txBody>
          <a:bodyPr wrap="none" lIns="0" tIns="0" rIns="0" bIns="0" anchor="t" anchorCtr="0">
            <a:spAutoFit/>
          </a:bodyPr>
          <a:lstStyle/>
          <a:p>
            <a:pPr algn="l"/>
            <a:r>
              <a:rPr lang="en-US" sz="900" b="1" spc="120" dirty="0">
                <a:solidFill>
                  <a:srgbClr val="52765A"/>
                </a:solidFill>
                <a:latin typeface="+mn-lt"/>
                <a:ea typeface="+mn-ea"/>
                <a:cs typeface="+mn-cs"/>
              </a:rPr>
              <a:t>03 / CONSTRAINED PLANNING</a:t>
            </a:r>
          </a:p>
        </p:txBody>
      </p:sp>
      <p:sp>
        <p:nvSpPr>
          <p:cNvPr id="3" name="TextBox 3"/>
          <p:cNvSpPr txBox="1"/>
          <p:nvPr/>
        </p:nvSpPr>
        <p:spPr>
          <a:xfrm>
            <a:off x="598170" y="596900"/>
            <a:ext cx="8903447" cy="440055"/>
          </a:xfrm>
          <a:prstGeom prst="rect">
            <a:avLst/>
          </a:prstGeom>
          <a:noFill/>
          <a:ln>
            <a:noFill/>
          </a:ln>
        </p:spPr>
        <p:txBody>
          <a:bodyPr wrap="none" lIns="0" tIns="0" rIns="0" bIns="0" anchor="t" anchorCtr="0">
            <a:spAutoFit/>
          </a:bodyPr>
          <a:lstStyle/>
          <a:p>
            <a:pPr algn="l"/>
            <a:r>
              <a:rPr lang="en-US" sz="2250" b="1" dirty="0">
                <a:solidFill>
                  <a:srgbClr val="1D2B24"/>
                </a:solidFill>
                <a:latin typeface="+mn-lt"/>
                <a:ea typeface="+mn-ea"/>
                <a:cs typeface="+mn-cs"/>
              </a:rPr>
              <a:t>Mink is the safety envelope around every commanded motion</a:t>
            </a:r>
          </a:p>
        </p:txBody>
      </p:sp>
      <p:sp>
        <p:nvSpPr>
          <p:cNvPr id="4" name="TextBox 4"/>
          <p:cNvSpPr txBox="1"/>
          <p:nvPr/>
        </p:nvSpPr>
        <p:spPr>
          <a:xfrm>
            <a:off x="603504" y="1000125"/>
            <a:ext cx="6060865" cy="234696"/>
          </a:xfrm>
          <a:prstGeom prst="rect">
            <a:avLst/>
          </a:prstGeom>
          <a:noFill/>
          <a:ln>
            <a:noFill/>
          </a:ln>
        </p:spPr>
        <p:txBody>
          <a:bodyPr wrap="none" lIns="0" tIns="0" rIns="0" bIns="0" anchor="t" anchorCtr="0">
            <a:spAutoFit/>
          </a:bodyPr>
          <a:lstStyle/>
          <a:p>
            <a:pPr algn="l"/>
            <a:r>
              <a:rPr lang="en-US" sz="1200" dirty="0">
                <a:solidFill>
                  <a:srgbClr val="657269"/>
                </a:solidFill>
                <a:latin typeface="+mn-lt"/>
                <a:ea typeface="+mn-ea"/>
                <a:cs typeface="+mn-cs"/>
              </a:rPr>
              <a:t>The planner solves the task, then accepts only a legal, smooth, model-checked step.</a:t>
            </a:r>
          </a:p>
        </p:txBody>
      </p:sp>
      <p:sp>
        <p:nvSpPr>
          <p:cNvPr id="5" name="Line 5"/>
          <p:cNvSpPr/>
          <p:nvPr/>
        </p:nvSpPr>
        <p:spPr>
          <a:xfrm>
            <a:off x="609600" y="1381125"/>
            <a:ext cx="10972800" cy="9525"/>
          </a:xfrm>
          <a:custGeom>
            <a:avLst/>
            <a:gdLst/>
            <a:ahLst/>
            <a:cxnLst/>
            <a:rect l="l" t="t" r="r" b="b"/>
            <a:pathLst>
              <a:path w="10972800" h="9525">
                <a:moveTo>
                  <a:pt x="0" y="0"/>
                </a:moveTo>
                <a:lnTo>
                  <a:pt x="10972800" y="0"/>
                </a:lnTo>
              </a:path>
            </a:pathLst>
          </a:custGeom>
          <a:noFill/>
          <a:ln w="9525">
            <a:solidFill>
              <a:srgbClr val="C9D4CB"/>
            </a:solidFill>
          </a:ln>
        </p:spPr>
        <p:txBody>
          <a:bodyPr/>
          <a:lstStyle/>
          <a:p>
            <a:endParaRPr lang="zh-CN" altLang="en-US"/>
          </a:p>
        </p:txBody>
      </p:sp>
      <p:sp>
        <p:nvSpPr>
          <p:cNvPr id="6" name="TextBox 6"/>
          <p:cNvSpPr txBox="1"/>
          <p:nvPr/>
        </p:nvSpPr>
        <p:spPr>
          <a:xfrm>
            <a:off x="604838" y="6464300"/>
            <a:ext cx="3027374" cy="147638"/>
          </a:xfrm>
          <a:prstGeom prst="rect">
            <a:avLst/>
          </a:prstGeom>
          <a:noFill/>
          <a:ln>
            <a:noFill/>
          </a:ln>
        </p:spPr>
        <p:txBody>
          <a:bodyPr wrap="none" lIns="0" tIns="0" rIns="0" bIns="0" anchor="t" anchorCtr="0">
            <a:spAutoFit/>
          </a:bodyPr>
          <a:lstStyle/>
          <a:p>
            <a:pPr algn="l"/>
            <a:r>
              <a:rPr lang="en-US" sz="750" b="1" spc="60" dirty="0">
                <a:solidFill>
                  <a:srgbClr val="657269"/>
                </a:solidFill>
                <a:latin typeface="+mn-lt"/>
                <a:ea typeface="+mn-ea"/>
                <a:cs typeface="+mn-cs"/>
              </a:rPr>
              <a:t>DEXMAN_LEROBOT / VR TELEOPERATION SYSTEM</a:t>
            </a:r>
          </a:p>
        </p:txBody>
      </p:sp>
      <p:sp>
        <p:nvSpPr>
          <p:cNvPr id="7" name="TextBox 7"/>
          <p:cNvSpPr txBox="1"/>
          <p:nvPr/>
        </p:nvSpPr>
        <p:spPr>
          <a:xfrm>
            <a:off x="11268866" y="6464300"/>
            <a:ext cx="318296" cy="147638"/>
          </a:xfrm>
          <a:prstGeom prst="rect">
            <a:avLst/>
          </a:prstGeom>
          <a:noFill/>
          <a:ln>
            <a:noFill/>
          </a:ln>
        </p:spPr>
        <p:txBody>
          <a:bodyPr wrap="none" lIns="0" tIns="0" rIns="0" bIns="0" anchor="t" anchorCtr="0">
            <a:spAutoFit/>
          </a:bodyPr>
          <a:lstStyle/>
          <a:p>
            <a:pPr algn="r"/>
            <a:r>
              <a:rPr lang="en-US" sz="750" b="1" dirty="0">
                <a:solidFill>
                  <a:srgbClr val="657269"/>
                </a:solidFill>
                <a:latin typeface="+mn-lt"/>
                <a:ea typeface="+mn-ea"/>
                <a:cs typeface="+mn-cs"/>
              </a:rPr>
              <a:t>03 / 10</a:t>
            </a:r>
          </a:p>
        </p:txBody>
      </p:sp>
      <p:sp>
        <p:nvSpPr>
          <p:cNvPr id="8" name="Rectangle 8"/>
          <p:cNvSpPr/>
          <p:nvPr/>
        </p:nvSpPr>
        <p:spPr>
          <a:xfrm>
            <a:off x="609600" y="1752600"/>
            <a:ext cx="3257550" cy="3733800"/>
          </a:xfrm>
          <a:prstGeom prst="roundRect">
            <a:avLst>
              <a:gd name="adj" fmla="val 5848"/>
            </a:avLst>
          </a:prstGeom>
          <a:solidFill>
            <a:srgbClr val="1D2B24"/>
          </a:solidFill>
          <a:ln>
            <a:noFill/>
          </a:ln>
        </p:spPr>
        <p:txBody>
          <a:bodyPr/>
          <a:lstStyle/>
          <a:p>
            <a:endParaRPr lang="zh-CN" altLang="en-US" dirty="0"/>
          </a:p>
        </p:txBody>
      </p:sp>
      <p:sp>
        <p:nvSpPr>
          <p:cNvPr id="9" name="TextBox 9"/>
          <p:cNvSpPr txBox="1"/>
          <p:nvPr/>
        </p:nvSpPr>
        <p:spPr>
          <a:xfrm>
            <a:off x="890588" y="1981200"/>
            <a:ext cx="1677855" cy="176212"/>
          </a:xfrm>
          <a:prstGeom prst="rect">
            <a:avLst/>
          </a:prstGeom>
          <a:noFill/>
          <a:ln>
            <a:noFill/>
          </a:ln>
        </p:spPr>
        <p:txBody>
          <a:bodyPr wrap="none" lIns="0" tIns="0" rIns="0" bIns="0" anchor="t" anchorCtr="0">
            <a:spAutoFit/>
          </a:bodyPr>
          <a:lstStyle/>
          <a:p>
            <a:pPr algn="l"/>
            <a:r>
              <a:rPr lang="en-US" sz="900" b="1" spc="90" dirty="0">
                <a:solidFill>
                  <a:srgbClr val="A7C6A5"/>
                </a:solidFill>
                <a:latin typeface="+mn-lt"/>
                <a:ea typeface="+mn-ea"/>
                <a:cs typeface="+mn-cs"/>
              </a:rPr>
              <a:t>RELATIVE FOLLOWING</a:t>
            </a:r>
          </a:p>
        </p:txBody>
      </p:sp>
      <p:sp>
        <p:nvSpPr>
          <p:cNvPr id="15" name="Line 15"/>
          <p:cNvSpPr/>
          <p:nvPr/>
        </p:nvSpPr>
        <p:spPr>
          <a:xfrm>
            <a:off x="895350" y="3016250"/>
            <a:ext cx="2686050" cy="9525"/>
          </a:xfrm>
          <a:custGeom>
            <a:avLst/>
            <a:gdLst/>
            <a:ahLst/>
            <a:cxnLst/>
            <a:rect l="l" t="t" r="r" b="b"/>
            <a:pathLst>
              <a:path w="2686050" h="9525">
                <a:moveTo>
                  <a:pt x="0" y="0"/>
                </a:moveTo>
                <a:lnTo>
                  <a:pt x="2686050" y="0"/>
                </a:lnTo>
              </a:path>
            </a:pathLst>
          </a:custGeom>
          <a:noFill/>
          <a:ln w="9525">
            <a:solidFill>
              <a:srgbClr val="567064"/>
            </a:solidFill>
          </a:ln>
        </p:spPr>
        <p:txBody>
          <a:bodyPr/>
          <a:lstStyle/>
          <a:p>
            <a:endParaRPr lang="zh-CN" altLang="en-US"/>
          </a:p>
        </p:txBody>
      </p:sp>
      <p:grpSp>
        <p:nvGrpSpPr>
          <p:cNvPr id="99" name="组合 98">
            <a:extLst>
              <a:ext uri="{FF2B5EF4-FFF2-40B4-BE49-F238E27FC236}">
                <a16:creationId xmlns:a16="http://schemas.microsoft.com/office/drawing/2014/main" id="{D266EA28-C0D0-3694-3D3C-2B5B1F5C5059}"/>
              </a:ext>
            </a:extLst>
          </p:cNvPr>
          <p:cNvGrpSpPr/>
          <p:nvPr/>
        </p:nvGrpSpPr>
        <p:grpSpPr>
          <a:xfrm>
            <a:off x="867807" y="3326320"/>
            <a:ext cx="1684744" cy="1527913"/>
            <a:chOff x="867807" y="3326320"/>
            <a:chExt cx="1684744" cy="1392315"/>
          </a:xfrm>
        </p:grpSpPr>
        <p:sp>
          <p:nvSpPr>
            <p:cNvPr id="16" name="TextBox 16"/>
            <p:cNvSpPr txBox="1"/>
            <p:nvPr/>
          </p:nvSpPr>
          <p:spPr>
            <a:xfrm>
              <a:off x="876574" y="3326320"/>
              <a:ext cx="650819" cy="161583"/>
            </a:xfrm>
            <a:prstGeom prst="rect">
              <a:avLst/>
            </a:prstGeom>
            <a:noFill/>
            <a:ln>
              <a:noFill/>
            </a:ln>
          </p:spPr>
          <p:txBody>
            <a:bodyPr wrap="none" lIns="0" tIns="0" rIns="0" bIns="0" anchor="t" anchorCtr="0">
              <a:spAutoFit/>
            </a:bodyPr>
            <a:lstStyle/>
            <a:p>
              <a:pPr algn="l"/>
              <a:r>
                <a:rPr lang="en-US" altLang="zh-CN" sz="1050" b="1" dirty="0">
                  <a:solidFill>
                    <a:srgbClr val="A7C6A5"/>
                  </a:solidFill>
                </a:rPr>
                <a:t>Main Task</a:t>
              </a:r>
              <a:endParaRPr lang="zh-CN" sz="1050" b="1" dirty="0">
                <a:solidFill>
                  <a:srgbClr val="A7C6A5"/>
                </a:solidFill>
                <a:latin typeface="+mn-lt"/>
                <a:ea typeface="+mn-ea"/>
                <a:cs typeface="+mn-cs"/>
              </a:endParaRPr>
            </a:p>
          </p:txBody>
        </p:sp>
        <p:sp>
          <p:nvSpPr>
            <p:cNvPr id="17" name="TextBox 17"/>
            <p:cNvSpPr txBox="1"/>
            <p:nvPr/>
          </p:nvSpPr>
          <p:spPr>
            <a:xfrm>
              <a:off x="867807" y="3573481"/>
              <a:ext cx="1370568" cy="161583"/>
            </a:xfrm>
            <a:prstGeom prst="rect">
              <a:avLst/>
            </a:prstGeom>
            <a:noFill/>
            <a:ln>
              <a:noFill/>
            </a:ln>
          </p:spPr>
          <p:txBody>
            <a:bodyPr wrap="none" lIns="0" tIns="0" rIns="0" bIns="0" anchor="t" anchorCtr="0">
              <a:spAutoFit/>
            </a:bodyPr>
            <a:lstStyle/>
            <a:p>
              <a:pPr marL="171450" indent="-171450" algn="l">
                <a:buFont typeface="Arial" panose="020B0604020202020204" pitchFamily="34" charset="0"/>
                <a:buChar char="•"/>
              </a:pPr>
              <a:r>
                <a:rPr lang="en-US" sz="1050" dirty="0">
                  <a:solidFill>
                    <a:srgbClr val="FFFFFF"/>
                  </a:solidFill>
                </a:rPr>
                <a:t>P</a:t>
              </a:r>
              <a:r>
                <a:rPr lang="en-US" sz="1050" dirty="0">
                  <a:solidFill>
                    <a:srgbClr val="FFFFFF"/>
                  </a:solidFill>
                  <a:latin typeface="+mn-lt"/>
                  <a:ea typeface="+mn-ea"/>
                  <a:cs typeface="+mn-cs"/>
                </a:rPr>
                <a:t>alm / TCP tracking</a:t>
              </a:r>
            </a:p>
          </p:txBody>
        </p:sp>
        <p:sp>
          <p:nvSpPr>
            <p:cNvPr id="18" name="TextBox 18"/>
            <p:cNvSpPr txBox="1"/>
            <p:nvPr/>
          </p:nvSpPr>
          <p:spPr>
            <a:xfrm>
              <a:off x="876574" y="3812837"/>
              <a:ext cx="1324080" cy="147243"/>
            </a:xfrm>
            <a:prstGeom prst="rect">
              <a:avLst/>
            </a:prstGeom>
            <a:noFill/>
            <a:ln>
              <a:noFill/>
            </a:ln>
          </p:spPr>
          <p:txBody>
            <a:bodyPr wrap="none" lIns="0" tIns="0" rIns="0" bIns="0" anchor="t" anchorCtr="0">
              <a:spAutoFit/>
            </a:bodyPr>
            <a:lstStyle/>
            <a:p>
              <a:pPr algn="l"/>
              <a:r>
                <a:rPr lang="en-US" altLang="zh-CN" sz="1050" b="1" dirty="0">
                  <a:solidFill>
                    <a:srgbClr val="A7C6A5"/>
                  </a:solidFill>
                </a:rPr>
                <a:t>Null-space constrain</a:t>
              </a:r>
              <a:endParaRPr lang="zh-CN" sz="1050" b="1" dirty="0">
                <a:solidFill>
                  <a:srgbClr val="A7C6A5"/>
                </a:solidFill>
                <a:latin typeface="+mn-lt"/>
                <a:ea typeface="+mn-ea"/>
                <a:cs typeface="+mn-cs"/>
              </a:endParaRPr>
            </a:p>
          </p:txBody>
        </p:sp>
        <p:sp>
          <p:nvSpPr>
            <p:cNvPr id="19" name="TextBox 19"/>
            <p:cNvSpPr txBox="1"/>
            <p:nvPr/>
          </p:nvSpPr>
          <p:spPr>
            <a:xfrm>
              <a:off x="876574" y="4062729"/>
              <a:ext cx="1317668" cy="161583"/>
            </a:xfrm>
            <a:prstGeom prst="rect">
              <a:avLst/>
            </a:prstGeom>
            <a:noFill/>
            <a:ln>
              <a:noFill/>
            </a:ln>
          </p:spPr>
          <p:txBody>
            <a:bodyPr wrap="none" lIns="0" tIns="0" rIns="0" bIns="0" anchor="t" anchorCtr="0">
              <a:spAutoFit/>
            </a:bodyPr>
            <a:lstStyle/>
            <a:p>
              <a:pPr marL="171450" indent="-171450" algn="l">
                <a:buFont typeface="Arial" panose="020B0604020202020204" pitchFamily="34" charset="0"/>
                <a:buChar char="•"/>
              </a:pPr>
              <a:r>
                <a:rPr lang="en-US" sz="1050" dirty="0">
                  <a:solidFill>
                    <a:srgbClr val="FFFFFF"/>
                  </a:solidFill>
                </a:rPr>
                <a:t>E</a:t>
              </a:r>
              <a:r>
                <a:rPr lang="en-US" sz="1050" dirty="0">
                  <a:solidFill>
                    <a:srgbClr val="FFFFFF"/>
                  </a:solidFill>
                  <a:latin typeface="+mn-lt"/>
                  <a:ea typeface="+mn-ea"/>
                  <a:cs typeface="+mn-cs"/>
                </a:rPr>
                <a:t>lbow + home bias</a:t>
              </a:r>
            </a:p>
          </p:txBody>
        </p:sp>
        <p:sp>
          <p:nvSpPr>
            <p:cNvPr id="20" name="TextBox 20"/>
            <p:cNvSpPr txBox="1"/>
            <p:nvPr/>
          </p:nvSpPr>
          <p:spPr>
            <a:xfrm>
              <a:off x="876574" y="4323207"/>
              <a:ext cx="439223" cy="161583"/>
            </a:xfrm>
            <a:prstGeom prst="rect">
              <a:avLst/>
            </a:prstGeom>
            <a:noFill/>
            <a:ln>
              <a:noFill/>
            </a:ln>
          </p:spPr>
          <p:txBody>
            <a:bodyPr wrap="none" lIns="0" tIns="0" rIns="0" bIns="0" anchor="t" anchorCtr="0">
              <a:spAutoFit/>
            </a:bodyPr>
            <a:lstStyle/>
            <a:p>
              <a:pPr algn="l"/>
              <a:r>
                <a:rPr lang="en-US" altLang="zh-CN" sz="1050" b="1" dirty="0">
                  <a:solidFill>
                    <a:srgbClr val="A7C6A5"/>
                  </a:solidFill>
                </a:rPr>
                <a:t>Output</a:t>
              </a:r>
              <a:endParaRPr lang="zh-CN" sz="1050" b="1" dirty="0">
                <a:solidFill>
                  <a:srgbClr val="A7C6A5"/>
                </a:solidFill>
                <a:latin typeface="+mn-lt"/>
                <a:ea typeface="+mn-ea"/>
                <a:cs typeface="+mn-cs"/>
              </a:endParaRPr>
            </a:p>
          </p:txBody>
        </p:sp>
        <p:sp>
          <p:nvSpPr>
            <p:cNvPr id="21" name="TextBox 21"/>
            <p:cNvSpPr txBox="1"/>
            <p:nvPr/>
          </p:nvSpPr>
          <p:spPr>
            <a:xfrm>
              <a:off x="895046" y="4557052"/>
              <a:ext cx="1657505" cy="161583"/>
            </a:xfrm>
            <a:prstGeom prst="rect">
              <a:avLst/>
            </a:prstGeom>
            <a:noFill/>
            <a:ln>
              <a:noFill/>
            </a:ln>
          </p:spPr>
          <p:txBody>
            <a:bodyPr wrap="none" lIns="0" tIns="0" rIns="0" bIns="0" anchor="t" anchorCtr="0">
              <a:spAutoFit/>
            </a:bodyPr>
            <a:lstStyle/>
            <a:p>
              <a:pPr marL="171450" indent="-171450" algn="l">
                <a:buFont typeface="Arial" panose="020B0604020202020204" pitchFamily="34" charset="0"/>
                <a:buChar char="•"/>
              </a:pPr>
              <a:r>
                <a:rPr lang="en-US" sz="1050" dirty="0">
                  <a:solidFill>
                    <a:srgbClr val="FFFFFF"/>
                  </a:solidFill>
                </a:rPr>
                <a:t>J</a:t>
              </a:r>
              <a:r>
                <a:rPr lang="en-US" sz="1050" dirty="0">
                  <a:solidFill>
                    <a:srgbClr val="FFFFFF"/>
                  </a:solidFill>
                  <a:latin typeface="+mn-lt"/>
                  <a:ea typeface="+mn-ea"/>
                  <a:cs typeface="+mn-cs"/>
                </a:rPr>
                <a:t>oint command or freeze</a:t>
              </a:r>
            </a:p>
          </p:txBody>
        </p:sp>
      </p:grpSp>
      <p:sp>
        <p:nvSpPr>
          <p:cNvPr id="22" name="TextBox 22"/>
          <p:cNvSpPr txBox="1"/>
          <p:nvPr/>
        </p:nvSpPr>
        <p:spPr>
          <a:xfrm>
            <a:off x="876574" y="5067422"/>
            <a:ext cx="2481739" cy="191643"/>
          </a:xfrm>
          <a:prstGeom prst="rect">
            <a:avLst/>
          </a:prstGeom>
          <a:noFill/>
          <a:ln>
            <a:noFill/>
          </a:ln>
        </p:spPr>
        <p:txBody>
          <a:bodyPr wrap="none" lIns="0" tIns="0" rIns="0" bIns="0" anchor="t" anchorCtr="0">
            <a:spAutoFit/>
          </a:bodyPr>
          <a:lstStyle/>
          <a:p>
            <a:pPr algn="l"/>
            <a:r>
              <a:rPr lang="en-US" sz="980" dirty="0">
                <a:solidFill>
                  <a:srgbClr val="D5E0D6"/>
                </a:solidFill>
                <a:latin typeface="+mn-lt"/>
                <a:ea typeface="+mn-ea"/>
                <a:cs typeface="+mn-cs"/>
              </a:rPr>
              <a:t>Release clutch → freeze + clear reference</a:t>
            </a:r>
          </a:p>
        </p:txBody>
      </p:sp>
      <p:grpSp>
        <p:nvGrpSpPr>
          <p:cNvPr id="90" name="组合 89">
            <a:extLst>
              <a:ext uri="{FF2B5EF4-FFF2-40B4-BE49-F238E27FC236}">
                <a16:creationId xmlns:a16="http://schemas.microsoft.com/office/drawing/2014/main" id="{C6C2F60C-7284-8A68-CCD9-CD95B23537E7}"/>
              </a:ext>
            </a:extLst>
          </p:cNvPr>
          <p:cNvGrpSpPr/>
          <p:nvPr/>
        </p:nvGrpSpPr>
        <p:grpSpPr>
          <a:xfrm>
            <a:off x="4305300" y="1797050"/>
            <a:ext cx="5372100" cy="266700"/>
            <a:chOff x="4438650" y="1752600"/>
            <a:chExt cx="5372100" cy="266700"/>
          </a:xfrm>
        </p:grpSpPr>
        <p:grpSp>
          <p:nvGrpSpPr>
            <p:cNvPr id="86" name="组合 85">
              <a:extLst>
                <a:ext uri="{FF2B5EF4-FFF2-40B4-BE49-F238E27FC236}">
                  <a16:creationId xmlns:a16="http://schemas.microsoft.com/office/drawing/2014/main" id="{9EFAC55C-F57B-8214-19C7-6295B19EA216}"/>
                </a:ext>
              </a:extLst>
            </p:cNvPr>
            <p:cNvGrpSpPr/>
            <p:nvPr/>
          </p:nvGrpSpPr>
          <p:grpSpPr>
            <a:xfrm>
              <a:off x="4438650" y="1752600"/>
              <a:ext cx="1028700" cy="266700"/>
              <a:chOff x="4438650" y="1752600"/>
              <a:chExt cx="1028700" cy="266700"/>
            </a:xfrm>
          </p:grpSpPr>
          <p:sp>
            <p:nvSpPr>
              <p:cNvPr id="23" name="Rectangle 23"/>
              <p:cNvSpPr/>
              <p:nvPr/>
            </p:nvSpPr>
            <p:spPr>
              <a:xfrm>
                <a:off x="4438650" y="1752600"/>
                <a:ext cx="1028700" cy="266700"/>
              </a:xfrm>
              <a:prstGeom prst="roundRect">
                <a:avLst>
                  <a:gd name="adj" fmla="val 50000"/>
                </a:avLst>
              </a:prstGeom>
              <a:solidFill>
                <a:srgbClr val="DDE8DE"/>
              </a:solidFill>
              <a:ln>
                <a:noFill/>
              </a:ln>
            </p:spPr>
            <p:txBody>
              <a:bodyPr/>
              <a:lstStyle/>
              <a:p>
                <a:endParaRPr lang="zh-CN" altLang="en-US"/>
              </a:p>
            </p:txBody>
          </p:sp>
          <p:sp>
            <p:nvSpPr>
              <p:cNvPr id="24" name="TextBox 24"/>
              <p:cNvSpPr txBox="1"/>
              <p:nvPr/>
            </p:nvSpPr>
            <p:spPr>
              <a:xfrm>
                <a:off x="4664460" y="1819275"/>
                <a:ext cx="577081" cy="138499"/>
              </a:xfrm>
              <a:prstGeom prst="rect">
                <a:avLst/>
              </a:prstGeom>
              <a:noFill/>
              <a:ln>
                <a:noFill/>
              </a:ln>
            </p:spPr>
            <p:txBody>
              <a:bodyPr wrap="none" lIns="0" tIns="0" rIns="0" bIns="0" anchor="t" anchorCtr="0">
                <a:spAutoFit/>
              </a:bodyPr>
              <a:lstStyle/>
              <a:p>
                <a:pPr algn="ctr"/>
                <a:r>
                  <a:rPr lang="en-US" sz="900" b="1" dirty="0">
                    <a:solidFill>
                      <a:srgbClr val="52765A"/>
                    </a:solidFill>
                  </a:rPr>
                  <a:t>EE</a:t>
                </a:r>
                <a:r>
                  <a:rPr lang="en-US" sz="900" b="1" dirty="0">
                    <a:solidFill>
                      <a:srgbClr val="52765A"/>
                    </a:solidFill>
                    <a:latin typeface="+mn-lt"/>
                    <a:ea typeface="+mn-ea"/>
                    <a:cs typeface="+mn-cs"/>
                  </a:rPr>
                  <a:t> SOLVE</a:t>
                </a:r>
              </a:p>
            </p:txBody>
          </p:sp>
        </p:grpSp>
        <p:grpSp>
          <p:nvGrpSpPr>
            <p:cNvPr id="87" name="组合 86">
              <a:extLst>
                <a:ext uri="{FF2B5EF4-FFF2-40B4-BE49-F238E27FC236}">
                  <a16:creationId xmlns:a16="http://schemas.microsoft.com/office/drawing/2014/main" id="{4E58AB50-A614-84C3-5AA3-FC8E6F82A0F4}"/>
                </a:ext>
              </a:extLst>
            </p:cNvPr>
            <p:cNvGrpSpPr/>
            <p:nvPr/>
          </p:nvGrpSpPr>
          <p:grpSpPr>
            <a:xfrm>
              <a:off x="5791200" y="1752600"/>
              <a:ext cx="1143000" cy="266700"/>
              <a:chOff x="5791200" y="1752600"/>
              <a:chExt cx="1143000" cy="266700"/>
            </a:xfrm>
          </p:grpSpPr>
          <p:sp>
            <p:nvSpPr>
              <p:cNvPr id="25" name="Rectangle 25"/>
              <p:cNvSpPr/>
              <p:nvPr/>
            </p:nvSpPr>
            <p:spPr>
              <a:xfrm>
                <a:off x="5791200" y="1752600"/>
                <a:ext cx="1143000" cy="266700"/>
              </a:xfrm>
              <a:prstGeom prst="roundRect">
                <a:avLst>
                  <a:gd name="adj" fmla="val 50000"/>
                </a:avLst>
              </a:prstGeom>
              <a:solidFill>
                <a:srgbClr val="DDE8DE"/>
              </a:solidFill>
              <a:ln>
                <a:noFill/>
              </a:ln>
            </p:spPr>
            <p:txBody>
              <a:bodyPr/>
              <a:lstStyle/>
              <a:p>
                <a:endParaRPr lang="zh-CN" altLang="en-US"/>
              </a:p>
            </p:txBody>
          </p:sp>
          <p:sp>
            <p:nvSpPr>
              <p:cNvPr id="26" name="TextBox 26"/>
              <p:cNvSpPr txBox="1"/>
              <p:nvPr/>
            </p:nvSpPr>
            <p:spPr>
              <a:xfrm>
                <a:off x="5948978" y="1819275"/>
                <a:ext cx="827445" cy="176212"/>
              </a:xfrm>
              <a:prstGeom prst="rect">
                <a:avLst/>
              </a:prstGeom>
              <a:noFill/>
              <a:ln>
                <a:noFill/>
              </a:ln>
            </p:spPr>
            <p:txBody>
              <a:bodyPr wrap="none" lIns="0" tIns="0" rIns="0" bIns="0" anchor="t" anchorCtr="0">
                <a:spAutoFit/>
              </a:bodyPr>
              <a:lstStyle/>
              <a:p>
                <a:pPr algn="ctr"/>
                <a:r>
                  <a:rPr lang="en-US" sz="900" b="1" dirty="0">
                    <a:solidFill>
                      <a:srgbClr val="52765A"/>
                    </a:solidFill>
                    <a:latin typeface="+mn-lt"/>
                    <a:ea typeface="+mn-ea"/>
                    <a:cs typeface="+mn-cs"/>
                  </a:rPr>
                  <a:t>NULL SPACE</a:t>
                </a:r>
              </a:p>
            </p:txBody>
          </p:sp>
        </p:grpSp>
        <p:grpSp>
          <p:nvGrpSpPr>
            <p:cNvPr id="88" name="组合 87">
              <a:extLst>
                <a:ext uri="{FF2B5EF4-FFF2-40B4-BE49-F238E27FC236}">
                  <a16:creationId xmlns:a16="http://schemas.microsoft.com/office/drawing/2014/main" id="{1553D0D6-DBD6-ED9D-E030-259D619ED43E}"/>
                </a:ext>
              </a:extLst>
            </p:cNvPr>
            <p:cNvGrpSpPr/>
            <p:nvPr/>
          </p:nvGrpSpPr>
          <p:grpSpPr>
            <a:xfrm>
              <a:off x="7258050" y="1752600"/>
              <a:ext cx="1104900" cy="266700"/>
              <a:chOff x="7258050" y="1752600"/>
              <a:chExt cx="1104900" cy="266700"/>
            </a:xfrm>
          </p:grpSpPr>
          <p:sp>
            <p:nvSpPr>
              <p:cNvPr id="27" name="Rectangle 27"/>
              <p:cNvSpPr/>
              <p:nvPr/>
            </p:nvSpPr>
            <p:spPr>
              <a:xfrm>
                <a:off x="7258050" y="1752600"/>
                <a:ext cx="1104900" cy="266700"/>
              </a:xfrm>
              <a:prstGeom prst="roundRect">
                <a:avLst>
                  <a:gd name="adj" fmla="val 50000"/>
                </a:avLst>
              </a:prstGeom>
              <a:solidFill>
                <a:srgbClr val="DDE8DE"/>
              </a:solidFill>
              <a:ln>
                <a:noFill/>
              </a:ln>
            </p:spPr>
            <p:txBody>
              <a:bodyPr/>
              <a:lstStyle/>
              <a:p>
                <a:endParaRPr lang="zh-CN" altLang="en-US"/>
              </a:p>
            </p:txBody>
          </p:sp>
          <p:sp>
            <p:nvSpPr>
              <p:cNvPr id="28" name="TextBox 28"/>
              <p:cNvSpPr txBox="1"/>
              <p:nvPr/>
            </p:nvSpPr>
            <p:spPr>
              <a:xfrm>
                <a:off x="7574553" y="1819275"/>
                <a:ext cx="471893" cy="176212"/>
              </a:xfrm>
              <a:prstGeom prst="rect">
                <a:avLst/>
              </a:prstGeom>
              <a:noFill/>
              <a:ln>
                <a:noFill/>
              </a:ln>
            </p:spPr>
            <p:txBody>
              <a:bodyPr wrap="none" lIns="0" tIns="0" rIns="0" bIns="0" anchor="t" anchorCtr="0">
                <a:spAutoFit/>
              </a:bodyPr>
              <a:lstStyle/>
              <a:p>
                <a:pPr algn="ctr"/>
                <a:r>
                  <a:rPr lang="en-US" sz="900" b="1" dirty="0">
                    <a:solidFill>
                      <a:srgbClr val="52765A"/>
                    </a:solidFill>
                    <a:latin typeface="+mn-lt"/>
                    <a:ea typeface="+mn-ea"/>
                    <a:cs typeface="+mn-cs"/>
                  </a:rPr>
                  <a:t>VERIFY</a:t>
                </a:r>
              </a:p>
            </p:txBody>
          </p:sp>
        </p:grpSp>
        <p:grpSp>
          <p:nvGrpSpPr>
            <p:cNvPr id="89" name="组合 88">
              <a:extLst>
                <a:ext uri="{FF2B5EF4-FFF2-40B4-BE49-F238E27FC236}">
                  <a16:creationId xmlns:a16="http://schemas.microsoft.com/office/drawing/2014/main" id="{7E24B160-8CE0-3356-AAE2-B04431C533BF}"/>
                </a:ext>
              </a:extLst>
            </p:cNvPr>
            <p:cNvGrpSpPr/>
            <p:nvPr/>
          </p:nvGrpSpPr>
          <p:grpSpPr>
            <a:xfrm>
              <a:off x="8705850" y="1752600"/>
              <a:ext cx="1104900" cy="266700"/>
              <a:chOff x="8705850" y="1752600"/>
              <a:chExt cx="1104900" cy="266700"/>
            </a:xfrm>
          </p:grpSpPr>
          <p:sp>
            <p:nvSpPr>
              <p:cNvPr id="29" name="Rectangle 29"/>
              <p:cNvSpPr/>
              <p:nvPr/>
            </p:nvSpPr>
            <p:spPr>
              <a:xfrm>
                <a:off x="8705850" y="1752600"/>
                <a:ext cx="1104900" cy="266700"/>
              </a:xfrm>
              <a:prstGeom prst="roundRect">
                <a:avLst>
                  <a:gd name="adj" fmla="val 50000"/>
                </a:avLst>
              </a:prstGeom>
              <a:solidFill>
                <a:srgbClr val="DDE8DE"/>
              </a:solidFill>
              <a:ln>
                <a:noFill/>
              </a:ln>
            </p:spPr>
            <p:txBody>
              <a:bodyPr/>
              <a:lstStyle/>
              <a:p>
                <a:endParaRPr lang="zh-CN" altLang="en-US"/>
              </a:p>
            </p:txBody>
          </p:sp>
          <p:sp>
            <p:nvSpPr>
              <p:cNvPr id="30" name="TextBox 30"/>
              <p:cNvSpPr txBox="1"/>
              <p:nvPr/>
            </p:nvSpPr>
            <p:spPr>
              <a:xfrm>
                <a:off x="8841019" y="1819275"/>
                <a:ext cx="834563" cy="176212"/>
              </a:xfrm>
              <a:prstGeom prst="rect">
                <a:avLst/>
              </a:prstGeom>
              <a:noFill/>
              <a:ln>
                <a:noFill/>
              </a:ln>
            </p:spPr>
            <p:txBody>
              <a:bodyPr wrap="none" lIns="0" tIns="0" rIns="0" bIns="0" anchor="t" anchorCtr="0">
                <a:spAutoFit/>
              </a:bodyPr>
              <a:lstStyle/>
              <a:p>
                <a:pPr algn="ctr"/>
                <a:r>
                  <a:rPr lang="en-US" sz="900" b="1" dirty="0">
                    <a:solidFill>
                      <a:srgbClr val="52765A"/>
                    </a:solidFill>
                    <a:latin typeface="+mn-lt"/>
                    <a:ea typeface="+mn-ea"/>
                    <a:cs typeface="+mn-cs"/>
                  </a:rPr>
                  <a:t>SEND / HOLD</a:t>
                </a:r>
              </a:p>
            </p:txBody>
          </p:sp>
        </p:grpSp>
        <p:sp>
          <p:nvSpPr>
            <p:cNvPr id="31" name="Line 31"/>
            <p:cNvSpPr/>
            <p:nvPr/>
          </p:nvSpPr>
          <p:spPr>
            <a:xfrm>
              <a:off x="5490210" y="1893570"/>
              <a:ext cx="247650" cy="1"/>
            </a:xfrm>
            <a:prstGeom prst="line">
              <a:avLst/>
            </a:prstGeom>
            <a:noFill/>
            <a:ln w="19050">
              <a:solidFill>
                <a:srgbClr val="52765A"/>
              </a:solidFill>
              <a:tailEnd type="triangle" w="lg" len="lg"/>
            </a:ln>
          </p:spPr>
          <p:txBody>
            <a:bodyPr/>
            <a:lstStyle/>
            <a:p>
              <a:endParaRPr lang="zh-CN" altLang="en-US"/>
            </a:p>
          </p:txBody>
        </p:sp>
        <p:sp>
          <p:nvSpPr>
            <p:cNvPr id="32" name="Line 32"/>
            <p:cNvSpPr/>
            <p:nvPr/>
          </p:nvSpPr>
          <p:spPr>
            <a:xfrm>
              <a:off x="6957060" y="1893570"/>
              <a:ext cx="247650" cy="1"/>
            </a:xfrm>
            <a:prstGeom prst="line">
              <a:avLst/>
            </a:prstGeom>
            <a:noFill/>
            <a:ln w="19050">
              <a:solidFill>
                <a:srgbClr val="52765A"/>
              </a:solidFill>
              <a:tailEnd type="triangle" w="lg" len="lg"/>
            </a:ln>
          </p:spPr>
          <p:txBody>
            <a:bodyPr/>
            <a:lstStyle/>
            <a:p>
              <a:endParaRPr lang="zh-CN" altLang="en-US"/>
            </a:p>
          </p:txBody>
        </p:sp>
        <p:sp>
          <p:nvSpPr>
            <p:cNvPr id="33" name="Line 33"/>
            <p:cNvSpPr/>
            <p:nvPr/>
          </p:nvSpPr>
          <p:spPr>
            <a:xfrm>
              <a:off x="8385810" y="1893570"/>
              <a:ext cx="266700" cy="1"/>
            </a:xfrm>
            <a:prstGeom prst="line">
              <a:avLst/>
            </a:prstGeom>
            <a:noFill/>
            <a:ln w="19050">
              <a:solidFill>
                <a:srgbClr val="52765A"/>
              </a:solidFill>
              <a:tailEnd type="triangle" w="lg" len="lg"/>
            </a:ln>
          </p:spPr>
          <p:txBody>
            <a:bodyPr/>
            <a:lstStyle/>
            <a:p>
              <a:endParaRPr lang="zh-CN" altLang="en-US"/>
            </a:p>
          </p:txBody>
        </p:sp>
      </p:grpSp>
      <p:grpSp>
        <p:nvGrpSpPr>
          <p:cNvPr id="93" name="组合 92">
            <a:extLst>
              <a:ext uri="{FF2B5EF4-FFF2-40B4-BE49-F238E27FC236}">
                <a16:creationId xmlns:a16="http://schemas.microsoft.com/office/drawing/2014/main" id="{33634FE8-8C8C-5D86-FBE4-D677EE83102B}"/>
              </a:ext>
            </a:extLst>
          </p:cNvPr>
          <p:cNvGrpSpPr/>
          <p:nvPr/>
        </p:nvGrpSpPr>
        <p:grpSpPr>
          <a:xfrm>
            <a:off x="4305300" y="2400300"/>
            <a:ext cx="2647950" cy="1200150"/>
            <a:chOff x="4305300" y="2400300"/>
            <a:chExt cx="2647950" cy="1200150"/>
          </a:xfrm>
        </p:grpSpPr>
        <p:sp>
          <p:nvSpPr>
            <p:cNvPr id="34" name="Rectangle 34"/>
            <p:cNvSpPr/>
            <p:nvPr/>
          </p:nvSpPr>
          <p:spPr>
            <a:xfrm>
              <a:off x="4305300" y="2400300"/>
              <a:ext cx="2647950" cy="1200150"/>
            </a:xfrm>
            <a:prstGeom prst="roundRect">
              <a:avLst>
                <a:gd name="adj" fmla="val 12698"/>
              </a:avLst>
            </a:prstGeom>
            <a:solidFill>
              <a:srgbClr val="FFFFFF"/>
            </a:solidFill>
            <a:ln w="9525">
              <a:solidFill>
                <a:srgbClr val="C9D4CB"/>
              </a:solidFill>
            </a:ln>
          </p:spPr>
          <p:txBody>
            <a:bodyPr/>
            <a:lstStyle/>
            <a:p>
              <a:endParaRPr lang="zh-CN" altLang="en-US"/>
            </a:p>
          </p:txBody>
        </p:sp>
        <p:sp>
          <p:nvSpPr>
            <p:cNvPr id="35" name="Rectangle 35"/>
            <p:cNvSpPr/>
            <p:nvPr/>
          </p:nvSpPr>
          <p:spPr>
            <a:xfrm>
              <a:off x="4305300" y="2526028"/>
              <a:ext cx="45719" cy="961875"/>
            </a:xfrm>
            <a:prstGeom prst="roundRect">
              <a:avLst>
                <a:gd name="adj" fmla="val 50000"/>
              </a:avLst>
            </a:prstGeom>
            <a:solidFill>
              <a:srgbClr val="52765A"/>
            </a:solidFill>
            <a:ln>
              <a:noFill/>
            </a:ln>
          </p:spPr>
          <p:txBody>
            <a:bodyPr/>
            <a:lstStyle/>
            <a:p>
              <a:endParaRPr lang="zh-CN" altLang="en-US"/>
            </a:p>
          </p:txBody>
        </p:sp>
        <p:sp>
          <p:nvSpPr>
            <p:cNvPr id="36" name="TextBox 36"/>
            <p:cNvSpPr txBox="1"/>
            <p:nvPr/>
          </p:nvSpPr>
          <p:spPr>
            <a:xfrm>
              <a:off x="4508754" y="2543175"/>
              <a:ext cx="1127436" cy="234696"/>
            </a:xfrm>
            <a:prstGeom prst="rect">
              <a:avLst/>
            </a:prstGeom>
            <a:noFill/>
            <a:ln>
              <a:noFill/>
            </a:ln>
          </p:spPr>
          <p:txBody>
            <a:bodyPr wrap="none" lIns="0" tIns="0" rIns="0" bIns="0" anchor="t" anchorCtr="0">
              <a:spAutoFit/>
            </a:bodyPr>
            <a:lstStyle/>
            <a:p>
              <a:pPr algn="l"/>
              <a:r>
                <a:rPr lang="en-US" sz="1200" b="1" dirty="0">
                  <a:solidFill>
                    <a:srgbClr val="1D2B24"/>
                  </a:solidFill>
                  <a:latin typeface="+mn-lt"/>
                  <a:ea typeface="+mn-ea"/>
                  <a:cs typeface="+mn-cs"/>
                </a:rPr>
                <a:t>1 Task + limits</a:t>
              </a:r>
            </a:p>
          </p:txBody>
        </p:sp>
        <p:sp>
          <p:nvSpPr>
            <p:cNvPr id="37" name="Ellipse 37"/>
            <p:cNvSpPr/>
            <p:nvPr/>
          </p:nvSpPr>
          <p:spPr>
            <a:xfrm>
              <a:off x="4533900" y="2895600"/>
              <a:ext cx="57150" cy="57150"/>
            </a:xfrm>
            <a:prstGeom prst="ellipse">
              <a:avLst/>
            </a:prstGeom>
            <a:solidFill>
              <a:srgbClr val="52765A"/>
            </a:solidFill>
            <a:ln>
              <a:noFill/>
            </a:ln>
          </p:spPr>
          <p:txBody>
            <a:bodyPr/>
            <a:lstStyle/>
            <a:p>
              <a:endParaRPr lang="zh-CN" altLang="en-US"/>
            </a:p>
          </p:txBody>
        </p:sp>
        <p:sp>
          <p:nvSpPr>
            <p:cNvPr id="38" name="TextBox 38"/>
            <p:cNvSpPr txBox="1"/>
            <p:nvPr/>
          </p:nvSpPr>
          <p:spPr>
            <a:xfrm>
              <a:off x="4700016" y="2844800"/>
              <a:ext cx="1076830"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Mink FrameTask</a:t>
              </a:r>
            </a:p>
          </p:txBody>
        </p:sp>
        <p:sp>
          <p:nvSpPr>
            <p:cNvPr id="39" name="Ellipse 39"/>
            <p:cNvSpPr/>
            <p:nvPr/>
          </p:nvSpPr>
          <p:spPr>
            <a:xfrm>
              <a:off x="4533900" y="3124200"/>
              <a:ext cx="57150" cy="57150"/>
            </a:xfrm>
            <a:prstGeom prst="ellipse">
              <a:avLst/>
            </a:prstGeom>
            <a:solidFill>
              <a:srgbClr val="52765A"/>
            </a:solidFill>
            <a:ln>
              <a:noFill/>
            </a:ln>
          </p:spPr>
          <p:txBody>
            <a:bodyPr/>
            <a:lstStyle/>
            <a:p>
              <a:endParaRPr lang="zh-CN" altLang="en-US"/>
            </a:p>
          </p:txBody>
        </p:sp>
        <p:sp>
          <p:nvSpPr>
            <p:cNvPr id="40" name="TextBox 40"/>
            <p:cNvSpPr txBox="1"/>
            <p:nvPr/>
          </p:nvSpPr>
          <p:spPr>
            <a:xfrm>
              <a:off x="4700016" y="3073400"/>
              <a:ext cx="1190886"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URDF joint ranges</a:t>
              </a:r>
            </a:p>
          </p:txBody>
        </p:sp>
        <p:sp>
          <p:nvSpPr>
            <p:cNvPr id="41" name="Ellipse 41"/>
            <p:cNvSpPr/>
            <p:nvPr/>
          </p:nvSpPr>
          <p:spPr>
            <a:xfrm>
              <a:off x="4533900" y="3352800"/>
              <a:ext cx="57150" cy="57150"/>
            </a:xfrm>
            <a:prstGeom prst="ellipse">
              <a:avLst/>
            </a:prstGeom>
            <a:solidFill>
              <a:srgbClr val="52765A"/>
            </a:solidFill>
            <a:ln>
              <a:noFill/>
            </a:ln>
          </p:spPr>
          <p:txBody>
            <a:bodyPr/>
            <a:lstStyle/>
            <a:p>
              <a:endParaRPr lang="zh-CN" altLang="en-US"/>
            </a:p>
          </p:txBody>
        </p:sp>
        <p:sp>
          <p:nvSpPr>
            <p:cNvPr id="42" name="TextBox 42"/>
            <p:cNvSpPr txBox="1"/>
            <p:nvPr/>
          </p:nvSpPr>
          <p:spPr>
            <a:xfrm>
              <a:off x="4700016" y="3302000"/>
              <a:ext cx="1314885"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dynamic dt: 5–50 ms</a:t>
              </a:r>
            </a:p>
          </p:txBody>
        </p:sp>
      </p:grpSp>
      <p:grpSp>
        <p:nvGrpSpPr>
          <p:cNvPr id="95" name="组合 94">
            <a:extLst>
              <a:ext uri="{FF2B5EF4-FFF2-40B4-BE49-F238E27FC236}">
                <a16:creationId xmlns:a16="http://schemas.microsoft.com/office/drawing/2014/main" id="{A1F70847-F49E-8B18-9DBD-EC921605F183}"/>
              </a:ext>
            </a:extLst>
          </p:cNvPr>
          <p:cNvGrpSpPr/>
          <p:nvPr/>
        </p:nvGrpSpPr>
        <p:grpSpPr>
          <a:xfrm>
            <a:off x="4305300" y="3790950"/>
            <a:ext cx="2647950" cy="1200150"/>
            <a:chOff x="4305300" y="3790950"/>
            <a:chExt cx="2647950" cy="1200150"/>
          </a:xfrm>
        </p:grpSpPr>
        <p:sp>
          <p:nvSpPr>
            <p:cNvPr id="52" name="Rectangle 52"/>
            <p:cNvSpPr/>
            <p:nvPr/>
          </p:nvSpPr>
          <p:spPr>
            <a:xfrm>
              <a:off x="4305300" y="3790950"/>
              <a:ext cx="2647950" cy="1200150"/>
            </a:xfrm>
            <a:prstGeom prst="roundRect">
              <a:avLst>
                <a:gd name="adj" fmla="val 12698"/>
              </a:avLst>
            </a:prstGeom>
            <a:solidFill>
              <a:srgbClr val="FFFFFF"/>
            </a:solidFill>
            <a:ln w="9525">
              <a:solidFill>
                <a:srgbClr val="C9D4CB"/>
              </a:solidFill>
            </a:ln>
          </p:spPr>
          <p:txBody>
            <a:bodyPr/>
            <a:lstStyle/>
            <a:p>
              <a:endParaRPr lang="zh-CN" altLang="en-US"/>
            </a:p>
          </p:txBody>
        </p:sp>
        <p:sp>
          <p:nvSpPr>
            <p:cNvPr id="53" name="Rectangle 53"/>
            <p:cNvSpPr/>
            <p:nvPr/>
          </p:nvSpPr>
          <p:spPr>
            <a:xfrm>
              <a:off x="4305300" y="3948112"/>
              <a:ext cx="45719" cy="940890"/>
            </a:xfrm>
            <a:prstGeom prst="roundRect">
              <a:avLst>
                <a:gd name="adj" fmla="val 50000"/>
              </a:avLst>
            </a:prstGeom>
            <a:solidFill>
              <a:srgbClr val="B5794B"/>
            </a:solidFill>
            <a:ln>
              <a:noFill/>
            </a:ln>
          </p:spPr>
          <p:txBody>
            <a:bodyPr/>
            <a:lstStyle/>
            <a:p>
              <a:endParaRPr lang="zh-CN" altLang="en-US"/>
            </a:p>
          </p:txBody>
        </p:sp>
        <p:sp>
          <p:nvSpPr>
            <p:cNvPr id="54" name="TextBox 54"/>
            <p:cNvSpPr txBox="1"/>
            <p:nvPr/>
          </p:nvSpPr>
          <p:spPr>
            <a:xfrm>
              <a:off x="4508754" y="3933825"/>
              <a:ext cx="1579329" cy="234696"/>
            </a:xfrm>
            <a:prstGeom prst="rect">
              <a:avLst/>
            </a:prstGeom>
            <a:noFill/>
            <a:ln>
              <a:noFill/>
            </a:ln>
          </p:spPr>
          <p:txBody>
            <a:bodyPr wrap="none" lIns="0" tIns="0" rIns="0" bIns="0" anchor="t" anchorCtr="0">
              <a:spAutoFit/>
            </a:bodyPr>
            <a:lstStyle/>
            <a:p>
              <a:pPr algn="l"/>
              <a:r>
                <a:rPr lang="en-US" sz="1200" b="1" dirty="0">
                  <a:solidFill>
                    <a:srgbClr val="1D2B24"/>
                  </a:solidFill>
                  <a:latin typeface="+mn-lt"/>
                  <a:ea typeface="+mn-ea"/>
                  <a:cs typeface="+mn-cs"/>
                </a:rPr>
                <a:t>3 Collision envelope</a:t>
              </a:r>
            </a:p>
          </p:txBody>
        </p:sp>
        <p:sp>
          <p:nvSpPr>
            <p:cNvPr id="55" name="Ellipse 55"/>
            <p:cNvSpPr/>
            <p:nvPr/>
          </p:nvSpPr>
          <p:spPr>
            <a:xfrm>
              <a:off x="4533900" y="4286250"/>
              <a:ext cx="57150" cy="57150"/>
            </a:xfrm>
            <a:prstGeom prst="ellipse">
              <a:avLst/>
            </a:prstGeom>
            <a:solidFill>
              <a:srgbClr val="B5794B"/>
            </a:solidFill>
            <a:ln>
              <a:noFill/>
            </a:ln>
          </p:spPr>
          <p:txBody>
            <a:bodyPr/>
            <a:lstStyle/>
            <a:p>
              <a:endParaRPr lang="zh-CN" altLang="en-US"/>
            </a:p>
          </p:txBody>
        </p:sp>
        <p:sp>
          <p:nvSpPr>
            <p:cNvPr id="56" name="TextBox 56"/>
            <p:cNvSpPr txBox="1"/>
            <p:nvPr/>
          </p:nvSpPr>
          <p:spPr>
            <a:xfrm>
              <a:off x="4700016" y="4235450"/>
              <a:ext cx="1726435" cy="161583"/>
            </a:xfrm>
            <a:prstGeom prst="rect">
              <a:avLst/>
            </a:prstGeom>
            <a:noFill/>
            <a:ln>
              <a:noFill/>
            </a:ln>
          </p:spPr>
          <p:txBody>
            <a:bodyPr wrap="none" lIns="0" tIns="0" rIns="0" bIns="0" anchor="t" anchorCtr="0">
              <a:spAutoFit/>
            </a:bodyPr>
            <a:lstStyle/>
            <a:p>
              <a:pPr algn="l"/>
              <a:r>
                <a:rPr lang="en-US" sz="1050" dirty="0">
                  <a:solidFill>
                    <a:srgbClr val="657269"/>
                  </a:solidFill>
                </a:rPr>
                <a:t>A</a:t>
              </a:r>
              <a:r>
                <a:rPr lang="en-US" sz="1050" dirty="0">
                  <a:solidFill>
                    <a:srgbClr val="657269"/>
                  </a:solidFill>
                  <a:latin typeface="+mn-lt"/>
                  <a:ea typeface="+mn-ea"/>
                  <a:cs typeface="+mn-cs"/>
                </a:rPr>
                <a:t>rm: 5 cm hard / 8 cm detect</a:t>
              </a:r>
            </a:p>
          </p:txBody>
        </p:sp>
        <p:sp>
          <p:nvSpPr>
            <p:cNvPr id="57" name="Ellipse 57"/>
            <p:cNvSpPr/>
            <p:nvPr/>
          </p:nvSpPr>
          <p:spPr>
            <a:xfrm>
              <a:off x="4533900" y="4514850"/>
              <a:ext cx="57150" cy="57150"/>
            </a:xfrm>
            <a:prstGeom prst="ellipse">
              <a:avLst/>
            </a:prstGeom>
            <a:solidFill>
              <a:srgbClr val="B5794B"/>
            </a:solidFill>
            <a:ln>
              <a:noFill/>
            </a:ln>
          </p:spPr>
          <p:txBody>
            <a:bodyPr/>
            <a:lstStyle/>
            <a:p>
              <a:endParaRPr lang="zh-CN" altLang="en-US"/>
            </a:p>
          </p:txBody>
        </p:sp>
        <p:sp>
          <p:nvSpPr>
            <p:cNvPr id="58" name="TextBox 58"/>
            <p:cNvSpPr txBox="1"/>
            <p:nvPr/>
          </p:nvSpPr>
          <p:spPr>
            <a:xfrm>
              <a:off x="4700016" y="4464050"/>
              <a:ext cx="1644681" cy="161583"/>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Hand collision</a:t>
              </a:r>
              <a:r>
                <a:rPr lang="zh-CN" altLang="en-US" sz="1050" dirty="0">
                  <a:solidFill>
                    <a:srgbClr val="657269"/>
                  </a:solidFill>
                  <a:latin typeface="+mn-lt"/>
                  <a:ea typeface="+mn-ea"/>
                  <a:cs typeface="+mn-cs"/>
                </a:rPr>
                <a:t> </a:t>
              </a:r>
              <a:r>
                <a:rPr lang="en-US" altLang="zh-CN" sz="1050" dirty="0" err="1">
                  <a:solidFill>
                    <a:srgbClr val="657269"/>
                  </a:solidFill>
                  <a:latin typeface="+mn-lt"/>
                  <a:ea typeface="+mn-ea"/>
                  <a:cs typeface="+mn-cs"/>
                </a:rPr>
                <a:t>avaoid</a:t>
              </a:r>
              <a:r>
                <a:rPr lang="en-US" sz="1050" dirty="0">
                  <a:solidFill>
                    <a:srgbClr val="657269"/>
                  </a:solidFill>
                  <a:latin typeface="+mn-lt"/>
                  <a:ea typeface="+mn-ea"/>
                  <a:cs typeface="+mn-cs"/>
                </a:rPr>
                <a:t>: 0 cm</a:t>
              </a:r>
            </a:p>
          </p:txBody>
        </p:sp>
        <p:sp>
          <p:nvSpPr>
            <p:cNvPr id="59" name="Ellipse 59"/>
            <p:cNvSpPr/>
            <p:nvPr/>
          </p:nvSpPr>
          <p:spPr>
            <a:xfrm>
              <a:off x="4533900" y="4743450"/>
              <a:ext cx="57150" cy="57150"/>
            </a:xfrm>
            <a:prstGeom prst="ellipse">
              <a:avLst/>
            </a:prstGeom>
            <a:solidFill>
              <a:srgbClr val="B5794B"/>
            </a:solidFill>
            <a:ln>
              <a:noFill/>
            </a:ln>
          </p:spPr>
          <p:txBody>
            <a:bodyPr/>
            <a:lstStyle/>
            <a:p>
              <a:endParaRPr lang="zh-CN" altLang="en-US"/>
            </a:p>
          </p:txBody>
        </p:sp>
        <p:sp>
          <p:nvSpPr>
            <p:cNvPr id="60" name="TextBox 60"/>
            <p:cNvSpPr txBox="1"/>
            <p:nvPr/>
          </p:nvSpPr>
          <p:spPr>
            <a:xfrm>
              <a:off x="4700016" y="4692650"/>
              <a:ext cx="1357744" cy="161583"/>
            </a:xfrm>
            <a:prstGeom prst="rect">
              <a:avLst/>
            </a:prstGeom>
            <a:noFill/>
            <a:ln>
              <a:noFill/>
            </a:ln>
          </p:spPr>
          <p:txBody>
            <a:bodyPr wrap="none" lIns="0" tIns="0" rIns="0" bIns="0" anchor="t" anchorCtr="0">
              <a:spAutoFit/>
            </a:bodyPr>
            <a:lstStyle/>
            <a:p>
              <a:r>
                <a:rPr lang="en-US" sz="1050" dirty="0">
                  <a:solidFill>
                    <a:srgbClr val="657269"/>
                  </a:solidFill>
                  <a:latin typeface="+mn-lt"/>
                  <a:ea typeface="+mn-ea"/>
                  <a:cs typeface="+mn-cs"/>
                </a:rPr>
                <a:t>Hand decelerate: </a:t>
              </a:r>
              <a:r>
                <a:rPr lang="en-US" altLang="zh-CN" sz="1050" dirty="0">
                  <a:solidFill>
                    <a:srgbClr val="657269"/>
                  </a:solidFill>
                </a:rPr>
                <a:t>3</a:t>
              </a:r>
              <a:r>
                <a:rPr lang="en-US" sz="1050" dirty="0">
                  <a:solidFill>
                    <a:srgbClr val="657269"/>
                  </a:solidFill>
                  <a:latin typeface="+mn-lt"/>
                  <a:ea typeface="+mn-ea"/>
                  <a:cs typeface="+mn-cs"/>
                </a:rPr>
                <a:t> cm</a:t>
              </a:r>
            </a:p>
          </p:txBody>
        </p:sp>
      </p:grpSp>
      <p:sp>
        <p:nvSpPr>
          <p:cNvPr id="70" name="Rectangle 70"/>
          <p:cNvSpPr/>
          <p:nvPr/>
        </p:nvSpPr>
        <p:spPr>
          <a:xfrm>
            <a:off x="9982200" y="2400300"/>
            <a:ext cx="1707976" cy="2590800"/>
          </a:xfrm>
          <a:prstGeom prst="roundRect">
            <a:avLst>
              <a:gd name="adj" fmla="val 9524"/>
            </a:avLst>
          </a:prstGeom>
          <a:solidFill>
            <a:srgbClr val="EEF3EE"/>
          </a:solidFill>
          <a:ln w="9525">
            <a:solidFill>
              <a:srgbClr val="C9D4CB"/>
            </a:solidFill>
          </a:ln>
        </p:spPr>
        <p:txBody>
          <a:bodyPr/>
          <a:lstStyle/>
          <a:p>
            <a:endParaRPr lang="zh-CN" altLang="en-US"/>
          </a:p>
        </p:txBody>
      </p:sp>
      <p:sp>
        <p:nvSpPr>
          <p:cNvPr id="71" name="TextBox 71"/>
          <p:cNvSpPr txBox="1"/>
          <p:nvPr/>
        </p:nvSpPr>
        <p:spPr>
          <a:xfrm>
            <a:off x="10316484" y="2597150"/>
            <a:ext cx="931632" cy="205359"/>
          </a:xfrm>
          <a:prstGeom prst="rect">
            <a:avLst/>
          </a:prstGeom>
          <a:noFill/>
          <a:ln>
            <a:noFill/>
          </a:ln>
        </p:spPr>
        <p:txBody>
          <a:bodyPr wrap="none" lIns="0" tIns="0" rIns="0" bIns="0" anchor="t" anchorCtr="0">
            <a:spAutoFit/>
          </a:bodyPr>
          <a:lstStyle/>
          <a:p>
            <a:pPr algn="ctr"/>
            <a:r>
              <a:rPr lang="en-US" sz="1050" b="1" dirty="0">
                <a:solidFill>
                  <a:srgbClr val="52765A"/>
                </a:solidFill>
                <a:latin typeface="+mn-lt"/>
                <a:ea typeface="+mn-ea"/>
                <a:cs typeface="+mn-cs"/>
              </a:rPr>
              <a:t>SMOOTHING</a:t>
            </a:r>
          </a:p>
        </p:txBody>
      </p:sp>
      <p:grpSp>
        <p:nvGrpSpPr>
          <p:cNvPr id="97" name="组合 96">
            <a:extLst>
              <a:ext uri="{FF2B5EF4-FFF2-40B4-BE49-F238E27FC236}">
                <a16:creationId xmlns:a16="http://schemas.microsoft.com/office/drawing/2014/main" id="{C3495A6B-2AD3-1B05-66B7-3B0F6817A475}"/>
              </a:ext>
            </a:extLst>
          </p:cNvPr>
          <p:cNvGrpSpPr/>
          <p:nvPr/>
        </p:nvGrpSpPr>
        <p:grpSpPr>
          <a:xfrm>
            <a:off x="10195833" y="2911931"/>
            <a:ext cx="1450801" cy="1979612"/>
            <a:chOff x="10239375" y="3035300"/>
            <a:chExt cx="1450801" cy="1979612"/>
          </a:xfrm>
        </p:grpSpPr>
        <p:sp>
          <p:nvSpPr>
            <p:cNvPr id="72" name="Ellipse 72"/>
            <p:cNvSpPr/>
            <p:nvPr/>
          </p:nvSpPr>
          <p:spPr>
            <a:xfrm>
              <a:off x="10239375" y="3067050"/>
              <a:ext cx="95250" cy="95250"/>
            </a:xfrm>
            <a:prstGeom prst="ellipse">
              <a:avLst/>
            </a:prstGeom>
            <a:solidFill>
              <a:srgbClr val="52765A"/>
            </a:solidFill>
            <a:ln>
              <a:noFill/>
            </a:ln>
          </p:spPr>
          <p:txBody>
            <a:bodyPr/>
            <a:lstStyle/>
            <a:p>
              <a:endParaRPr lang="zh-CN" altLang="en-US"/>
            </a:p>
          </p:txBody>
        </p:sp>
        <p:sp>
          <p:nvSpPr>
            <p:cNvPr id="73" name="TextBox 73"/>
            <p:cNvSpPr txBox="1"/>
            <p:nvPr/>
          </p:nvSpPr>
          <p:spPr>
            <a:xfrm>
              <a:off x="10434066" y="3035300"/>
              <a:ext cx="517997" cy="205359"/>
            </a:xfrm>
            <a:prstGeom prst="rect">
              <a:avLst/>
            </a:prstGeom>
            <a:noFill/>
            <a:ln>
              <a:noFill/>
            </a:ln>
          </p:spPr>
          <p:txBody>
            <a:bodyPr wrap="none" lIns="0" tIns="0" rIns="0" bIns="0" anchor="t" anchorCtr="0">
              <a:spAutoFit/>
            </a:bodyPr>
            <a:lstStyle/>
            <a:p>
              <a:pPr algn="l"/>
              <a:r>
                <a:rPr lang="en-US" sz="1050" b="1" dirty="0">
                  <a:solidFill>
                    <a:srgbClr val="1D2B24"/>
                  </a:solidFill>
                  <a:latin typeface="+mn-lt"/>
                  <a:ea typeface="+mn-ea"/>
                  <a:cs typeface="+mn-cs"/>
                </a:rPr>
                <a:t>Lead-in</a:t>
              </a:r>
            </a:p>
          </p:txBody>
        </p:sp>
        <p:sp>
          <p:nvSpPr>
            <p:cNvPr id="74" name="TextBox 74"/>
            <p:cNvSpPr txBox="1"/>
            <p:nvPr/>
          </p:nvSpPr>
          <p:spPr>
            <a:xfrm>
              <a:off x="10434638" y="3238500"/>
              <a:ext cx="1020019" cy="176212"/>
            </a:xfrm>
            <a:prstGeom prst="rect">
              <a:avLst/>
            </a:prstGeom>
            <a:noFill/>
            <a:ln>
              <a:noFill/>
            </a:ln>
          </p:spPr>
          <p:txBody>
            <a:bodyPr wrap="none" lIns="0" tIns="0" rIns="0" bIns="0" anchor="t" anchorCtr="0">
              <a:spAutoFit/>
            </a:bodyPr>
            <a:lstStyle/>
            <a:p>
              <a:pPr algn="l"/>
              <a:r>
                <a:rPr lang="en-US" sz="900" dirty="0">
                  <a:solidFill>
                    <a:srgbClr val="657269"/>
                  </a:solidFill>
                  <a:latin typeface="+mn-lt"/>
                  <a:ea typeface="+mn-ea"/>
                  <a:cs typeface="+mn-cs"/>
                </a:rPr>
                <a:t>full rate ≤ 2 cm / 5°</a:t>
              </a:r>
            </a:p>
          </p:txBody>
        </p:sp>
        <p:sp>
          <p:nvSpPr>
            <p:cNvPr id="75" name="Ellipse 75"/>
            <p:cNvSpPr/>
            <p:nvPr/>
          </p:nvSpPr>
          <p:spPr>
            <a:xfrm>
              <a:off x="10239375" y="3600450"/>
              <a:ext cx="95250" cy="95250"/>
            </a:xfrm>
            <a:prstGeom prst="ellipse">
              <a:avLst/>
            </a:prstGeom>
            <a:solidFill>
              <a:srgbClr val="52765A"/>
            </a:solidFill>
            <a:ln>
              <a:noFill/>
            </a:ln>
          </p:spPr>
          <p:txBody>
            <a:bodyPr/>
            <a:lstStyle/>
            <a:p>
              <a:endParaRPr lang="zh-CN" altLang="en-US"/>
            </a:p>
          </p:txBody>
        </p:sp>
        <p:sp>
          <p:nvSpPr>
            <p:cNvPr id="76" name="TextBox 76"/>
            <p:cNvSpPr txBox="1"/>
            <p:nvPr/>
          </p:nvSpPr>
          <p:spPr>
            <a:xfrm>
              <a:off x="10434066" y="3568700"/>
              <a:ext cx="408955" cy="205359"/>
            </a:xfrm>
            <a:prstGeom prst="rect">
              <a:avLst/>
            </a:prstGeom>
            <a:noFill/>
            <a:ln>
              <a:noFill/>
            </a:ln>
          </p:spPr>
          <p:txBody>
            <a:bodyPr wrap="none" lIns="0" tIns="0" rIns="0" bIns="0" anchor="t" anchorCtr="0">
              <a:spAutoFit/>
            </a:bodyPr>
            <a:lstStyle/>
            <a:p>
              <a:pPr algn="l"/>
              <a:r>
                <a:rPr lang="en-US" sz="1050" b="1" dirty="0">
                  <a:solidFill>
                    <a:srgbClr val="1D2B24"/>
                  </a:solidFill>
                  <a:latin typeface="+mn-lt"/>
                  <a:ea typeface="+mn-ea"/>
                  <a:cs typeface="+mn-cs"/>
                </a:rPr>
                <a:t>Ramp</a:t>
              </a:r>
            </a:p>
          </p:txBody>
        </p:sp>
        <p:sp>
          <p:nvSpPr>
            <p:cNvPr id="77" name="TextBox 77"/>
            <p:cNvSpPr txBox="1"/>
            <p:nvPr/>
          </p:nvSpPr>
          <p:spPr>
            <a:xfrm>
              <a:off x="10434638" y="3771900"/>
              <a:ext cx="1066919" cy="176212"/>
            </a:xfrm>
            <a:prstGeom prst="rect">
              <a:avLst/>
            </a:prstGeom>
            <a:noFill/>
            <a:ln>
              <a:noFill/>
            </a:ln>
          </p:spPr>
          <p:txBody>
            <a:bodyPr wrap="none" lIns="0" tIns="0" rIns="0" bIns="0" anchor="t" anchorCtr="0">
              <a:spAutoFit/>
            </a:bodyPr>
            <a:lstStyle/>
            <a:p>
              <a:pPr algn="l"/>
              <a:r>
                <a:rPr lang="en-US" sz="900" dirty="0">
                  <a:solidFill>
                    <a:srgbClr val="657269"/>
                  </a:solidFill>
                  <a:latin typeface="+mn-lt"/>
                  <a:ea typeface="+mn-ea"/>
                  <a:cs typeface="+mn-cs"/>
                </a:rPr>
                <a:t>soft slowdown zone</a:t>
              </a:r>
            </a:p>
          </p:txBody>
        </p:sp>
        <p:sp>
          <p:nvSpPr>
            <p:cNvPr id="78" name="Ellipse 78"/>
            <p:cNvSpPr/>
            <p:nvPr/>
          </p:nvSpPr>
          <p:spPr>
            <a:xfrm>
              <a:off x="10239375" y="4133850"/>
              <a:ext cx="95250" cy="95250"/>
            </a:xfrm>
            <a:prstGeom prst="ellipse">
              <a:avLst/>
            </a:prstGeom>
            <a:solidFill>
              <a:srgbClr val="52765A"/>
            </a:solidFill>
            <a:ln>
              <a:noFill/>
            </a:ln>
          </p:spPr>
          <p:txBody>
            <a:bodyPr/>
            <a:lstStyle/>
            <a:p>
              <a:endParaRPr lang="zh-CN" altLang="en-US"/>
            </a:p>
          </p:txBody>
        </p:sp>
        <p:sp>
          <p:nvSpPr>
            <p:cNvPr id="79" name="TextBox 79"/>
            <p:cNvSpPr txBox="1"/>
            <p:nvPr/>
          </p:nvSpPr>
          <p:spPr>
            <a:xfrm>
              <a:off x="10434066" y="4102100"/>
              <a:ext cx="329137" cy="205359"/>
            </a:xfrm>
            <a:prstGeom prst="rect">
              <a:avLst/>
            </a:prstGeom>
            <a:noFill/>
            <a:ln>
              <a:noFill/>
            </a:ln>
          </p:spPr>
          <p:txBody>
            <a:bodyPr wrap="none" lIns="0" tIns="0" rIns="0" bIns="0" anchor="t" anchorCtr="0">
              <a:spAutoFit/>
            </a:bodyPr>
            <a:lstStyle/>
            <a:p>
              <a:pPr algn="l"/>
              <a:r>
                <a:rPr lang="en-US" sz="1050" b="1" dirty="0">
                  <a:solidFill>
                    <a:srgbClr val="1D2B24"/>
                  </a:solidFill>
                  <a:latin typeface="+mn-lt"/>
                  <a:ea typeface="+mn-ea"/>
                  <a:cs typeface="+mn-cs"/>
                </a:rPr>
                <a:t>Stop</a:t>
              </a:r>
            </a:p>
          </p:txBody>
        </p:sp>
        <p:sp>
          <p:nvSpPr>
            <p:cNvPr id="80" name="TextBox 80"/>
            <p:cNvSpPr txBox="1"/>
            <p:nvPr/>
          </p:nvSpPr>
          <p:spPr>
            <a:xfrm>
              <a:off x="10434638" y="4305300"/>
              <a:ext cx="1026695" cy="176212"/>
            </a:xfrm>
            <a:prstGeom prst="rect">
              <a:avLst/>
            </a:prstGeom>
            <a:noFill/>
            <a:ln>
              <a:noFill/>
            </a:ln>
          </p:spPr>
          <p:txBody>
            <a:bodyPr wrap="none" lIns="0" tIns="0" rIns="0" bIns="0" anchor="t" anchorCtr="0">
              <a:spAutoFit/>
            </a:bodyPr>
            <a:lstStyle/>
            <a:p>
              <a:pPr algn="l"/>
              <a:r>
                <a:rPr lang="en-US" sz="900" dirty="0">
                  <a:solidFill>
                    <a:srgbClr val="657269"/>
                  </a:solidFill>
                  <a:latin typeface="+mn-lt"/>
                  <a:ea typeface="+mn-ea"/>
                  <a:cs typeface="+mn-cs"/>
                </a:rPr>
                <a:t>zero at hard bound</a:t>
              </a:r>
            </a:p>
          </p:txBody>
        </p:sp>
        <p:sp>
          <p:nvSpPr>
            <p:cNvPr id="81" name="Ellipse 81"/>
            <p:cNvSpPr/>
            <p:nvPr/>
          </p:nvSpPr>
          <p:spPr>
            <a:xfrm>
              <a:off x="10239375" y="4667250"/>
              <a:ext cx="95250" cy="95250"/>
            </a:xfrm>
            <a:prstGeom prst="ellipse">
              <a:avLst/>
            </a:prstGeom>
            <a:solidFill>
              <a:srgbClr val="52765A"/>
            </a:solidFill>
            <a:ln>
              <a:noFill/>
            </a:ln>
          </p:spPr>
          <p:txBody>
            <a:bodyPr/>
            <a:lstStyle/>
            <a:p>
              <a:endParaRPr lang="zh-CN" altLang="en-US"/>
            </a:p>
          </p:txBody>
        </p:sp>
        <p:sp>
          <p:nvSpPr>
            <p:cNvPr id="82" name="TextBox 82"/>
            <p:cNvSpPr txBox="1"/>
            <p:nvPr/>
          </p:nvSpPr>
          <p:spPr>
            <a:xfrm>
              <a:off x="10434066" y="4635500"/>
              <a:ext cx="408955" cy="205359"/>
            </a:xfrm>
            <a:prstGeom prst="rect">
              <a:avLst/>
            </a:prstGeom>
            <a:noFill/>
            <a:ln>
              <a:noFill/>
            </a:ln>
          </p:spPr>
          <p:txBody>
            <a:bodyPr wrap="none" lIns="0" tIns="0" rIns="0" bIns="0" anchor="t" anchorCtr="0">
              <a:spAutoFit/>
            </a:bodyPr>
            <a:lstStyle/>
            <a:p>
              <a:pPr algn="l"/>
              <a:r>
                <a:rPr lang="en-US" sz="1050" b="1" dirty="0">
                  <a:solidFill>
                    <a:srgbClr val="1D2B24"/>
                  </a:solidFill>
                  <a:latin typeface="+mn-lt"/>
                  <a:ea typeface="+mn-ea"/>
                  <a:cs typeface="+mn-cs"/>
                </a:rPr>
                <a:t>Home</a:t>
              </a:r>
            </a:p>
          </p:txBody>
        </p:sp>
        <p:sp>
          <p:nvSpPr>
            <p:cNvPr id="83" name="TextBox 83"/>
            <p:cNvSpPr txBox="1"/>
            <p:nvPr/>
          </p:nvSpPr>
          <p:spPr>
            <a:xfrm>
              <a:off x="10434638" y="4838700"/>
              <a:ext cx="1255538" cy="176212"/>
            </a:xfrm>
            <a:prstGeom prst="rect">
              <a:avLst/>
            </a:prstGeom>
            <a:noFill/>
            <a:ln>
              <a:noFill/>
            </a:ln>
          </p:spPr>
          <p:txBody>
            <a:bodyPr wrap="none" lIns="0" tIns="0" rIns="0" bIns="0" anchor="t" anchorCtr="0">
              <a:spAutoFit/>
            </a:bodyPr>
            <a:lstStyle/>
            <a:p>
              <a:pPr algn="l"/>
              <a:r>
                <a:rPr lang="en-US" sz="900" dirty="0">
                  <a:solidFill>
                    <a:srgbClr val="657269"/>
                  </a:solidFill>
                  <a:latin typeface="+mn-lt"/>
                  <a:ea typeface="+mn-ea"/>
                  <a:cs typeface="+mn-cs"/>
                </a:rPr>
                <a:t>direct joint interpolation</a:t>
              </a:r>
            </a:p>
          </p:txBody>
        </p:sp>
      </p:grpSp>
      <mc:AlternateContent xmlns:mc="http://schemas.openxmlformats.org/markup-compatibility/2006">
        <mc:Choice xmlns:a14="http://schemas.microsoft.com/office/drawing/2010/main" Requires="a14">
          <p:sp>
            <p:nvSpPr>
              <p:cNvPr id="85" name="文本框 84">
                <a:extLst>
                  <a:ext uri="{FF2B5EF4-FFF2-40B4-BE49-F238E27FC236}">
                    <a16:creationId xmlns:a16="http://schemas.microsoft.com/office/drawing/2014/main" id="{A78F27A0-BA40-85EF-A68F-1D97DD01A89D}"/>
                  </a:ext>
                </a:extLst>
              </p:cNvPr>
              <p:cNvSpPr txBox="1"/>
              <p:nvPr/>
            </p:nvSpPr>
            <p:spPr>
              <a:xfrm>
                <a:off x="701170" y="2309664"/>
                <a:ext cx="3165980" cy="474810"/>
              </a:xfrm>
              <a:prstGeom prst="rect">
                <a:avLst/>
              </a:prstGeom>
              <a:noFill/>
            </p:spPr>
            <p:txBody>
              <a:bodyPr wrap="square">
                <a:spAutoFit/>
              </a:bodyPr>
              <a:lstStyle/>
              <a:p>
                <a:pPr/>
                <a14:m>
                  <m:oMathPara xmlns:m="http://schemas.openxmlformats.org/officeDocument/2006/math">
                    <m:oMath>
                      <m:sSubSup>
                        <m:sSubSupPr>
                          <m:ctrlPr>
                            <a:rPr lang="en-US" altLang="zh-CN" b="0" i="1" smtClean="0">
                              <a:solidFill>
                                <a:schemeClr val="bg1"/>
                              </a:solidFill>
                              <a:latin typeface="Cambria Math" panose="02040503050406030204" pitchFamily="18" charset="0"/>
                            </a:rPr>
                          </m:ctrlPr>
                        </m:sSubSupPr>
                        <m:e>
                          <m:r>
                            <a:rPr lang="en-US" altLang="zh-CN" b="0" i="1" smtClean="0">
                              <a:solidFill>
                                <a:schemeClr val="bg1"/>
                              </a:solidFill>
                              <a:latin typeface="Cambria Math" panose="02040503050406030204" pitchFamily="18" charset="0"/>
                            </a:rPr>
                            <m:t>𝑇</m:t>
                          </m:r>
                        </m:e>
                        <m:sub>
                          <m:r>
                            <a:rPr lang="en-US" altLang="zh-CN" b="0" i="1" smtClean="0">
                              <a:solidFill>
                                <a:schemeClr val="bg1"/>
                              </a:solidFill>
                              <a:latin typeface="Cambria Math" panose="02040503050406030204" pitchFamily="18" charset="0"/>
                            </a:rPr>
                            <m:t>𝑐𝑚𝑑</m:t>
                          </m:r>
                        </m:sub>
                        <m:sup>
                          <m:r>
                            <a:rPr lang="en-US" altLang="zh-CN" b="0" i="1" smtClean="0">
                              <a:solidFill>
                                <a:schemeClr val="bg1"/>
                              </a:solidFill>
                              <a:latin typeface="Cambria Math" panose="02040503050406030204" pitchFamily="18" charset="0"/>
                            </a:rPr>
                            <m:t>𝑒𝑒</m:t>
                          </m:r>
                        </m:sup>
                      </m:sSubSup>
                      <m:r>
                        <a:rPr lang="en-US" altLang="zh-CN" b="0" i="1" smtClean="0">
                          <a:solidFill>
                            <a:schemeClr val="bg1"/>
                          </a:solidFill>
                          <a:latin typeface="Cambria Math" panose="02040503050406030204" pitchFamily="18" charset="0"/>
                        </a:rPr>
                        <m:t>=</m:t>
                      </m:r>
                      <m:sSubSup>
                        <m:sSubSupPr>
                          <m:ctrlPr>
                            <a:rPr lang="en-US" altLang="zh-CN" b="0" i="1" smtClean="0">
                              <a:solidFill>
                                <a:schemeClr val="bg1"/>
                              </a:solidFill>
                              <a:latin typeface="Cambria Math" panose="02040503050406030204" pitchFamily="18" charset="0"/>
                            </a:rPr>
                          </m:ctrlPr>
                        </m:sSubSupPr>
                        <m:e>
                          <m:r>
                            <a:rPr lang="en-US" altLang="zh-CN" b="0" i="1" smtClean="0">
                              <a:solidFill>
                                <a:schemeClr val="bg1"/>
                              </a:solidFill>
                              <a:latin typeface="Cambria Math" panose="02040503050406030204" pitchFamily="18" charset="0"/>
                            </a:rPr>
                            <m:t>𝑇</m:t>
                          </m:r>
                        </m:e>
                        <m:sub>
                          <m:r>
                            <a:rPr lang="en-US" altLang="zh-CN" b="0" i="1" smtClean="0">
                              <a:solidFill>
                                <a:schemeClr val="bg1"/>
                              </a:solidFill>
                              <a:latin typeface="Cambria Math" panose="02040503050406030204" pitchFamily="18" charset="0"/>
                            </a:rPr>
                            <m:t>𝑟𝑒𝑓</m:t>
                          </m:r>
                        </m:sub>
                        <m:sup>
                          <m:r>
                            <a:rPr lang="en-US" altLang="zh-CN" b="0" i="1" smtClean="0">
                              <a:solidFill>
                                <a:schemeClr val="bg1"/>
                              </a:solidFill>
                              <a:latin typeface="Cambria Math" panose="02040503050406030204" pitchFamily="18" charset="0"/>
                            </a:rPr>
                            <m:t>𝑒𝑒</m:t>
                          </m:r>
                        </m:sup>
                      </m:sSubSup>
                      <m:r>
                        <a:rPr lang="en-US" altLang="zh-CN" b="0" i="1" smtClean="0">
                          <a:solidFill>
                            <a:schemeClr val="bg1"/>
                          </a:solidFill>
                          <a:latin typeface="Cambria Math" panose="02040503050406030204" pitchFamily="18" charset="0"/>
                        </a:rPr>
                        <m:t>⋅</m:t>
                      </m:r>
                      <m:sSup>
                        <m:sSupPr>
                          <m:ctrlPr>
                            <a:rPr lang="en-US" altLang="zh-CN" b="0" i="1" smtClean="0">
                              <a:solidFill>
                                <a:schemeClr val="bg1"/>
                              </a:solidFill>
                              <a:latin typeface="Cambria Math" panose="02040503050406030204" pitchFamily="18" charset="0"/>
                            </a:rPr>
                          </m:ctrlPr>
                        </m:sSupPr>
                        <m:e>
                          <m:d>
                            <m:dPr>
                              <m:ctrlPr>
                                <a:rPr lang="en-US" altLang="zh-CN" b="0" i="1" smtClean="0">
                                  <a:solidFill>
                                    <a:schemeClr val="bg1"/>
                                  </a:solidFill>
                                  <a:latin typeface="Cambria Math" panose="02040503050406030204" pitchFamily="18" charset="0"/>
                                </a:rPr>
                              </m:ctrlPr>
                            </m:dPr>
                            <m:e>
                              <m:sSubSup>
                                <m:sSubSupPr>
                                  <m:ctrlPr>
                                    <a:rPr lang="en-US" altLang="zh-CN" b="0" i="1" smtClean="0">
                                      <a:solidFill>
                                        <a:schemeClr val="bg1"/>
                                      </a:solidFill>
                                      <a:latin typeface="Cambria Math" panose="02040503050406030204" pitchFamily="18" charset="0"/>
                                    </a:rPr>
                                  </m:ctrlPr>
                                </m:sSubSupPr>
                                <m:e>
                                  <m:r>
                                    <a:rPr lang="en-US" altLang="zh-CN" b="0" i="1" smtClean="0">
                                      <a:solidFill>
                                        <a:schemeClr val="bg1"/>
                                      </a:solidFill>
                                      <a:latin typeface="Cambria Math" panose="02040503050406030204" pitchFamily="18" charset="0"/>
                                    </a:rPr>
                                    <m:t>𝑇</m:t>
                                  </m:r>
                                </m:e>
                                <m:sub>
                                  <m:r>
                                    <a:rPr lang="en-US" altLang="zh-CN" b="0" i="1" smtClean="0">
                                      <a:solidFill>
                                        <a:schemeClr val="bg1"/>
                                      </a:solidFill>
                                      <a:latin typeface="Cambria Math" panose="02040503050406030204" pitchFamily="18" charset="0"/>
                                    </a:rPr>
                                    <m:t>𝑟𝑒𝑓</m:t>
                                  </m:r>
                                </m:sub>
                                <m:sup>
                                  <m:r>
                                    <a:rPr lang="en-US" altLang="zh-CN" b="0" i="1" smtClean="0">
                                      <a:solidFill>
                                        <a:schemeClr val="bg1"/>
                                      </a:solidFill>
                                      <a:latin typeface="Cambria Math" panose="02040503050406030204" pitchFamily="18" charset="0"/>
                                    </a:rPr>
                                    <m:t>𝑣𝑟</m:t>
                                  </m:r>
                                </m:sup>
                              </m:sSubSup>
                            </m:e>
                          </m:d>
                        </m:e>
                        <m:sup>
                          <m:r>
                            <a:rPr lang="en-US" altLang="zh-CN" b="0" i="1" smtClean="0">
                              <a:solidFill>
                                <a:schemeClr val="bg1"/>
                              </a:solidFill>
                              <a:latin typeface="Cambria Math" panose="02040503050406030204" pitchFamily="18" charset="0"/>
                            </a:rPr>
                            <m:t>−1</m:t>
                          </m:r>
                        </m:sup>
                      </m:sSup>
                      <m:r>
                        <a:rPr lang="en-US" altLang="zh-CN" b="0" i="1" smtClean="0">
                          <a:solidFill>
                            <a:schemeClr val="bg1"/>
                          </a:solidFill>
                          <a:latin typeface="Cambria Math" panose="02040503050406030204" pitchFamily="18" charset="0"/>
                        </a:rPr>
                        <m:t>⋅</m:t>
                      </m:r>
                      <m:sSubSup>
                        <m:sSubSupPr>
                          <m:ctrlPr>
                            <a:rPr lang="en-US" altLang="zh-CN" b="0" i="1" smtClean="0">
                              <a:solidFill>
                                <a:schemeClr val="bg1"/>
                              </a:solidFill>
                              <a:latin typeface="Cambria Math" panose="02040503050406030204" pitchFamily="18" charset="0"/>
                            </a:rPr>
                          </m:ctrlPr>
                        </m:sSubSupPr>
                        <m:e>
                          <m:r>
                            <a:rPr lang="en-US" altLang="zh-CN" b="0" i="1" smtClean="0">
                              <a:solidFill>
                                <a:schemeClr val="bg1"/>
                              </a:solidFill>
                              <a:latin typeface="Cambria Math" panose="02040503050406030204" pitchFamily="18" charset="0"/>
                            </a:rPr>
                            <m:t>𝑇</m:t>
                          </m:r>
                        </m:e>
                        <m:sub>
                          <m:r>
                            <a:rPr lang="en-US" altLang="zh-CN" b="0" i="1" smtClean="0">
                              <a:solidFill>
                                <a:schemeClr val="bg1"/>
                              </a:solidFill>
                              <a:latin typeface="Cambria Math" panose="02040503050406030204" pitchFamily="18" charset="0"/>
                            </a:rPr>
                            <m:t>𝑛𝑜𝑤</m:t>
                          </m:r>
                        </m:sub>
                        <m:sup>
                          <m:r>
                            <a:rPr lang="en-US" altLang="zh-CN" b="0" i="1" smtClean="0">
                              <a:solidFill>
                                <a:schemeClr val="bg1"/>
                              </a:solidFill>
                              <a:latin typeface="Cambria Math" panose="02040503050406030204" pitchFamily="18" charset="0"/>
                            </a:rPr>
                            <m:t>𝑣𝑟</m:t>
                          </m:r>
                        </m:sup>
                      </m:sSubSup>
                    </m:oMath>
                  </m:oMathPara>
                </a14:m>
                <a:endParaRPr lang="zh-CN" altLang="en-US" dirty="0">
                  <a:solidFill>
                    <a:schemeClr val="bg1"/>
                  </a:solidFill>
                </a:endParaRPr>
              </a:p>
            </p:txBody>
          </p:sp>
        </mc:Choice>
        <mc:Fallback>
          <p:sp>
            <p:nvSpPr>
              <p:cNvPr id="85" name="文本框 84">
                <a:extLst>
                  <a:ext uri="{FF2B5EF4-FFF2-40B4-BE49-F238E27FC236}">
                    <a16:creationId xmlns:a16="http://schemas.microsoft.com/office/drawing/2014/main" id="{A78F27A0-BA40-85EF-A68F-1D97DD01A89D}"/>
                  </a:ext>
                </a:extLst>
              </p:cNvPr>
              <p:cNvSpPr txBox="1">
                <a:spLocks noRot="1" noChangeAspect="1" noMove="1" noResize="1" noEditPoints="1" noAdjustHandles="1" noChangeArrowheads="1" noChangeShapeType="1" noTextEdit="1"/>
              </p:cNvSpPr>
              <p:nvPr/>
            </p:nvSpPr>
            <p:spPr>
              <a:xfrm>
                <a:off x="701170" y="2309664"/>
                <a:ext cx="3165980" cy="474810"/>
              </a:xfrm>
              <a:prstGeom prst="rect">
                <a:avLst/>
              </a:prstGeom>
              <a:blipFill>
                <a:blip r:embed="rId3"/>
                <a:stretch>
                  <a:fillRect b="-2564"/>
                </a:stretch>
              </a:blipFill>
            </p:spPr>
            <p:txBody>
              <a:bodyPr/>
              <a:lstStyle/>
              <a:p>
                <a:r>
                  <a:rPr lang="zh-CN" altLang="en-US">
                    <a:noFill/>
                  </a:rPr>
                  <a:t> </a:t>
                </a:r>
              </a:p>
            </p:txBody>
          </p:sp>
        </mc:Fallback>
      </mc:AlternateContent>
      <p:grpSp>
        <p:nvGrpSpPr>
          <p:cNvPr id="94" name="组合 93">
            <a:extLst>
              <a:ext uri="{FF2B5EF4-FFF2-40B4-BE49-F238E27FC236}">
                <a16:creationId xmlns:a16="http://schemas.microsoft.com/office/drawing/2014/main" id="{92C8AF7C-1618-0557-0D57-711163E0D5DE}"/>
              </a:ext>
            </a:extLst>
          </p:cNvPr>
          <p:cNvGrpSpPr/>
          <p:nvPr/>
        </p:nvGrpSpPr>
        <p:grpSpPr>
          <a:xfrm>
            <a:off x="7086600" y="2400300"/>
            <a:ext cx="2647950" cy="1200150"/>
            <a:chOff x="7086600" y="2400300"/>
            <a:chExt cx="2647950" cy="1200150"/>
          </a:xfrm>
        </p:grpSpPr>
        <p:sp>
          <p:nvSpPr>
            <p:cNvPr id="43" name="Rectangle 43"/>
            <p:cNvSpPr/>
            <p:nvPr/>
          </p:nvSpPr>
          <p:spPr>
            <a:xfrm>
              <a:off x="7086600" y="2400300"/>
              <a:ext cx="2647950" cy="1200150"/>
            </a:xfrm>
            <a:prstGeom prst="roundRect">
              <a:avLst>
                <a:gd name="adj" fmla="val 12698"/>
              </a:avLst>
            </a:prstGeom>
            <a:solidFill>
              <a:srgbClr val="FFFFFF"/>
            </a:solidFill>
            <a:ln w="9525">
              <a:solidFill>
                <a:srgbClr val="C9D4CB"/>
              </a:solidFill>
            </a:ln>
          </p:spPr>
          <p:txBody>
            <a:bodyPr/>
            <a:lstStyle/>
            <a:p>
              <a:endParaRPr lang="zh-CN" altLang="en-US"/>
            </a:p>
          </p:txBody>
        </p:sp>
        <p:sp>
          <p:nvSpPr>
            <p:cNvPr id="45" name="TextBox 45"/>
            <p:cNvSpPr txBox="1"/>
            <p:nvPr/>
          </p:nvSpPr>
          <p:spPr>
            <a:xfrm>
              <a:off x="7290054" y="2543175"/>
              <a:ext cx="1408951" cy="234696"/>
            </a:xfrm>
            <a:prstGeom prst="rect">
              <a:avLst/>
            </a:prstGeom>
            <a:noFill/>
            <a:ln>
              <a:noFill/>
            </a:ln>
          </p:spPr>
          <p:txBody>
            <a:bodyPr wrap="none" lIns="0" tIns="0" rIns="0" bIns="0" anchor="t" anchorCtr="0">
              <a:spAutoFit/>
            </a:bodyPr>
            <a:lstStyle/>
            <a:p>
              <a:pPr algn="l"/>
              <a:r>
                <a:rPr lang="en-US" sz="1200" b="1" dirty="0">
                  <a:solidFill>
                    <a:srgbClr val="1D2B24"/>
                  </a:solidFill>
                  <a:latin typeface="+mn-lt"/>
                  <a:ea typeface="+mn-ea"/>
                  <a:cs typeface="+mn-cs"/>
                </a:rPr>
                <a:t>2 Strict null-space</a:t>
              </a:r>
            </a:p>
          </p:txBody>
        </p:sp>
        <p:sp>
          <p:nvSpPr>
            <p:cNvPr id="46" name="Ellipse 46"/>
            <p:cNvSpPr/>
            <p:nvPr/>
          </p:nvSpPr>
          <p:spPr>
            <a:xfrm>
              <a:off x="7315200" y="2895600"/>
              <a:ext cx="57150" cy="57150"/>
            </a:xfrm>
            <a:prstGeom prst="ellipse">
              <a:avLst/>
            </a:prstGeom>
            <a:solidFill>
              <a:srgbClr val="52765A"/>
            </a:solidFill>
            <a:ln>
              <a:noFill/>
            </a:ln>
          </p:spPr>
          <p:txBody>
            <a:bodyPr/>
            <a:lstStyle/>
            <a:p>
              <a:endParaRPr lang="zh-CN" altLang="en-US"/>
            </a:p>
          </p:txBody>
        </p:sp>
        <p:sp>
          <p:nvSpPr>
            <p:cNvPr id="47" name="TextBox 47"/>
            <p:cNvSpPr txBox="1"/>
            <p:nvPr/>
          </p:nvSpPr>
          <p:spPr>
            <a:xfrm>
              <a:off x="7481316" y="2844800"/>
              <a:ext cx="1351332" cy="161583"/>
            </a:xfrm>
            <a:prstGeom prst="rect">
              <a:avLst/>
            </a:prstGeom>
            <a:noFill/>
            <a:ln>
              <a:noFill/>
            </a:ln>
          </p:spPr>
          <p:txBody>
            <a:bodyPr wrap="none" lIns="0" tIns="0" rIns="0" bIns="0" anchor="t" anchorCtr="0">
              <a:spAutoFit/>
            </a:bodyPr>
            <a:lstStyle/>
            <a:p>
              <a:pPr algn="l"/>
              <a:r>
                <a:rPr lang="en-US" sz="1050" dirty="0">
                  <a:solidFill>
                    <a:srgbClr val="657269"/>
                  </a:solidFill>
                </a:rPr>
                <a:t>E</a:t>
              </a:r>
              <a:r>
                <a:rPr lang="en-US" sz="1050" dirty="0">
                  <a:solidFill>
                    <a:srgbClr val="657269"/>
                  </a:solidFill>
                  <a:latin typeface="+mn-lt"/>
                  <a:ea typeface="+mn-ea"/>
                  <a:cs typeface="+mn-cs"/>
                </a:rPr>
                <a:t>lbow ceiling 0.563 m</a:t>
              </a:r>
            </a:p>
          </p:txBody>
        </p:sp>
        <p:sp>
          <p:nvSpPr>
            <p:cNvPr id="48" name="Ellipse 48"/>
            <p:cNvSpPr/>
            <p:nvPr/>
          </p:nvSpPr>
          <p:spPr>
            <a:xfrm>
              <a:off x="7315200" y="3124200"/>
              <a:ext cx="57150" cy="57150"/>
            </a:xfrm>
            <a:prstGeom prst="ellipse">
              <a:avLst/>
            </a:prstGeom>
            <a:solidFill>
              <a:srgbClr val="52765A"/>
            </a:solidFill>
            <a:ln>
              <a:noFill/>
            </a:ln>
          </p:spPr>
          <p:txBody>
            <a:bodyPr/>
            <a:lstStyle/>
            <a:p>
              <a:endParaRPr lang="zh-CN" altLang="en-US"/>
            </a:p>
          </p:txBody>
        </p:sp>
        <p:sp>
          <p:nvSpPr>
            <p:cNvPr id="49" name="TextBox 49"/>
            <p:cNvSpPr txBox="1"/>
            <p:nvPr/>
          </p:nvSpPr>
          <p:spPr>
            <a:xfrm>
              <a:off x="7481316" y="3073400"/>
              <a:ext cx="1338508" cy="161583"/>
            </a:xfrm>
            <a:prstGeom prst="rect">
              <a:avLst/>
            </a:prstGeom>
            <a:noFill/>
            <a:ln>
              <a:noFill/>
            </a:ln>
          </p:spPr>
          <p:txBody>
            <a:bodyPr wrap="none" lIns="0" tIns="0" rIns="0" bIns="0" anchor="t" anchorCtr="0">
              <a:spAutoFit/>
            </a:bodyPr>
            <a:lstStyle/>
            <a:p>
              <a:pPr algn="l"/>
              <a:r>
                <a:rPr lang="en-US" sz="1050" dirty="0">
                  <a:solidFill>
                    <a:srgbClr val="657269"/>
                  </a:solidFill>
                </a:rPr>
                <a:t>J</a:t>
              </a:r>
              <a:r>
                <a:rPr lang="en-US" sz="1050" dirty="0">
                  <a:solidFill>
                    <a:srgbClr val="657269"/>
                  </a:solidFill>
                  <a:latin typeface="+mn-lt"/>
                  <a:ea typeface="+mn-ea"/>
                  <a:cs typeface="+mn-cs"/>
                </a:rPr>
                <a:t>oint 1 / 3 / 4 → Home</a:t>
              </a:r>
            </a:p>
          </p:txBody>
        </p:sp>
        <p:sp>
          <p:nvSpPr>
            <p:cNvPr id="50" name="Ellipse 50"/>
            <p:cNvSpPr/>
            <p:nvPr/>
          </p:nvSpPr>
          <p:spPr>
            <a:xfrm>
              <a:off x="7315200" y="3352800"/>
              <a:ext cx="57150" cy="57150"/>
            </a:xfrm>
            <a:prstGeom prst="ellipse">
              <a:avLst/>
            </a:prstGeom>
            <a:solidFill>
              <a:srgbClr val="52765A"/>
            </a:solidFill>
            <a:ln>
              <a:noFill/>
            </a:ln>
          </p:spPr>
          <p:txBody>
            <a:bodyPr/>
            <a:lstStyle/>
            <a:p>
              <a:endParaRPr lang="zh-CN" altLang="en-US"/>
            </a:p>
          </p:txBody>
        </p:sp>
        <p:sp>
          <p:nvSpPr>
            <p:cNvPr id="51" name="TextBox 51"/>
            <p:cNvSpPr txBox="1"/>
            <p:nvPr/>
          </p:nvSpPr>
          <p:spPr>
            <a:xfrm>
              <a:off x="7481316" y="3302000"/>
              <a:ext cx="1447512" cy="161583"/>
            </a:xfrm>
            <a:prstGeom prst="rect">
              <a:avLst/>
            </a:prstGeom>
            <a:noFill/>
            <a:ln>
              <a:noFill/>
            </a:ln>
          </p:spPr>
          <p:txBody>
            <a:bodyPr wrap="none" lIns="0" tIns="0" rIns="0" bIns="0" anchor="t" anchorCtr="0">
              <a:spAutoFit/>
            </a:bodyPr>
            <a:lstStyle/>
            <a:p>
              <a:pPr algn="l"/>
              <a:r>
                <a:rPr lang="en-US" sz="1050" dirty="0">
                  <a:solidFill>
                    <a:srgbClr val="657269"/>
                  </a:solidFill>
                </a:rPr>
                <a:t>E</a:t>
              </a:r>
              <a:r>
                <a:rPr lang="en-US" sz="1050" dirty="0">
                  <a:solidFill>
                    <a:srgbClr val="657269"/>
                  </a:solidFill>
                  <a:latin typeface="+mn-lt"/>
                  <a:ea typeface="+mn-ea"/>
                  <a:cs typeface="+mn-cs"/>
                </a:rPr>
                <a:t>scape only when stuck</a:t>
              </a:r>
            </a:p>
          </p:txBody>
        </p:sp>
        <p:sp>
          <p:nvSpPr>
            <p:cNvPr id="91" name="Rectangle 35">
              <a:extLst>
                <a:ext uri="{FF2B5EF4-FFF2-40B4-BE49-F238E27FC236}">
                  <a16:creationId xmlns:a16="http://schemas.microsoft.com/office/drawing/2014/main" id="{8E89B67E-9CCC-5814-5989-BFC7BF959ABD}"/>
                </a:ext>
              </a:extLst>
            </p:cNvPr>
            <p:cNvSpPr/>
            <p:nvPr/>
          </p:nvSpPr>
          <p:spPr>
            <a:xfrm>
              <a:off x="7086635" y="2535312"/>
              <a:ext cx="45719" cy="961875"/>
            </a:xfrm>
            <a:prstGeom prst="roundRect">
              <a:avLst>
                <a:gd name="adj" fmla="val 50000"/>
              </a:avLst>
            </a:prstGeom>
            <a:solidFill>
              <a:srgbClr val="52765A"/>
            </a:solidFill>
            <a:ln>
              <a:noFill/>
            </a:ln>
          </p:spPr>
          <p:txBody>
            <a:bodyPr/>
            <a:lstStyle/>
            <a:p>
              <a:endParaRPr lang="zh-CN" altLang="en-US"/>
            </a:p>
          </p:txBody>
        </p:sp>
      </p:grpSp>
      <p:grpSp>
        <p:nvGrpSpPr>
          <p:cNvPr id="96" name="组合 95">
            <a:extLst>
              <a:ext uri="{FF2B5EF4-FFF2-40B4-BE49-F238E27FC236}">
                <a16:creationId xmlns:a16="http://schemas.microsoft.com/office/drawing/2014/main" id="{9DBCC145-BABC-6825-6CC5-ABB385C431D3}"/>
              </a:ext>
            </a:extLst>
          </p:cNvPr>
          <p:cNvGrpSpPr/>
          <p:nvPr/>
        </p:nvGrpSpPr>
        <p:grpSpPr>
          <a:xfrm>
            <a:off x="7086600" y="3790950"/>
            <a:ext cx="2647950" cy="1200150"/>
            <a:chOff x="7086600" y="3790950"/>
            <a:chExt cx="2647950" cy="1200150"/>
          </a:xfrm>
        </p:grpSpPr>
        <p:sp>
          <p:nvSpPr>
            <p:cNvPr id="61" name="Rectangle 61"/>
            <p:cNvSpPr/>
            <p:nvPr/>
          </p:nvSpPr>
          <p:spPr>
            <a:xfrm>
              <a:off x="7086600" y="3790950"/>
              <a:ext cx="2647950" cy="1200150"/>
            </a:xfrm>
            <a:prstGeom prst="roundRect">
              <a:avLst>
                <a:gd name="adj" fmla="val 12698"/>
              </a:avLst>
            </a:prstGeom>
            <a:solidFill>
              <a:srgbClr val="FFFFFF"/>
            </a:solidFill>
            <a:ln w="9525">
              <a:solidFill>
                <a:srgbClr val="C9D4CB"/>
              </a:solidFill>
            </a:ln>
          </p:spPr>
          <p:txBody>
            <a:bodyPr/>
            <a:lstStyle/>
            <a:p>
              <a:endParaRPr lang="zh-CN" altLang="en-US"/>
            </a:p>
          </p:txBody>
        </p:sp>
        <p:sp>
          <p:nvSpPr>
            <p:cNvPr id="63" name="TextBox 63"/>
            <p:cNvSpPr txBox="1"/>
            <p:nvPr/>
          </p:nvSpPr>
          <p:spPr>
            <a:xfrm>
              <a:off x="7290054" y="3933825"/>
              <a:ext cx="1520446" cy="234696"/>
            </a:xfrm>
            <a:prstGeom prst="rect">
              <a:avLst/>
            </a:prstGeom>
            <a:noFill/>
            <a:ln>
              <a:noFill/>
            </a:ln>
          </p:spPr>
          <p:txBody>
            <a:bodyPr wrap="none" lIns="0" tIns="0" rIns="0" bIns="0" anchor="t" anchorCtr="0">
              <a:spAutoFit/>
            </a:bodyPr>
            <a:lstStyle/>
            <a:p>
              <a:pPr algn="l"/>
              <a:r>
                <a:rPr lang="en-US" sz="1200" b="1" dirty="0">
                  <a:solidFill>
                    <a:srgbClr val="1D2B24"/>
                  </a:solidFill>
                  <a:latin typeface="+mn-lt"/>
                  <a:ea typeface="+mn-ea"/>
                  <a:cs typeface="+mn-cs"/>
                </a:rPr>
                <a:t>4 Exact FK shaping</a:t>
              </a:r>
            </a:p>
          </p:txBody>
        </p:sp>
        <p:sp>
          <p:nvSpPr>
            <p:cNvPr id="64" name="Ellipse 64"/>
            <p:cNvSpPr/>
            <p:nvPr/>
          </p:nvSpPr>
          <p:spPr>
            <a:xfrm>
              <a:off x="7315200" y="4286250"/>
              <a:ext cx="57150" cy="57150"/>
            </a:xfrm>
            <a:prstGeom prst="ellipse">
              <a:avLst/>
            </a:prstGeom>
            <a:solidFill>
              <a:srgbClr val="52765A"/>
            </a:solidFill>
            <a:ln>
              <a:noFill/>
            </a:ln>
          </p:spPr>
          <p:txBody>
            <a:bodyPr/>
            <a:lstStyle/>
            <a:p>
              <a:endParaRPr lang="zh-CN" altLang="en-US"/>
            </a:p>
          </p:txBody>
        </p:sp>
        <p:sp>
          <p:nvSpPr>
            <p:cNvPr id="65" name="TextBox 65"/>
            <p:cNvSpPr txBox="1"/>
            <p:nvPr/>
          </p:nvSpPr>
          <p:spPr>
            <a:xfrm>
              <a:off x="7481316" y="4235450"/>
              <a:ext cx="1355665"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0.50 m/s, 90°/s follow</a:t>
              </a:r>
            </a:p>
          </p:txBody>
        </p:sp>
        <p:sp>
          <p:nvSpPr>
            <p:cNvPr id="66" name="Ellipse 66"/>
            <p:cNvSpPr/>
            <p:nvPr/>
          </p:nvSpPr>
          <p:spPr>
            <a:xfrm>
              <a:off x="7315200" y="4514850"/>
              <a:ext cx="57150" cy="57150"/>
            </a:xfrm>
            <a:prstGeom prst="ellipse">
              <a:avLst/>
            </a:prstGeom>
            <a:solidFill>
              <a:srgbClr val="52765A"/>
            </a:solidFill>
            <a:ln>
              <a:noFill/>
            </a:ln>
          </p:spPr>
          <p:txBody>
            <a:bodyPr/>
            <a:lstStyle/>
            <a:p>
              <a:endParaRPr lang="zh-CN" altLang="en-US"/>
            </a:p>
          </p:txBody>
        </p:sp>
        <p:sp>
          <p:nvSpPr>
            <p:cNvPr id="67" name="TextBox 67"/>
            <p:cNvSpPr txBox="1"/>
            <p:nvPr/>
          </p:nvSpPr>
          <p:spPr>
            <a:xfrm>
              <a:off x="7481316" y="4464050"/>
              <a:ext cx="1536368"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4 cm / 8° hard re-anchor</a:t>
              </a:r>
            </a:p>
          </p:txBody>
        </p:sp>
        <p:sp>
          <p:nvSpPr>
            <p:cNvPr id="68" name="Ellipse 68"/>
            <p:cNvSpPr/>
            <p:nvPr/>
          </p:nvSpPr>
          <p:spPr>
            <a:xfrm>
              <a:off x="7315200" y="4743450"/>
              <a:ext cx="57150" cy="57150"/>
            </a:xfrm>
            <a:prstGeom prst="ellipse">
              <a:avLst/>
            </a:prstGeom>
            <a:solidFill>
              <a:srgbClr val="52765A"/>
            </a:solidFill>
            <a:ln>
              <a:noFill/>
            </a:ln>
          </p:spPr>
          <p:txBody>
            <a:bodyPr/>
            <a:lstStyle/>
            <a:p>
              <a:endParaRPr lang="zh-CN" altLang="en-US"/>
            </a:p>
          </p:txBody>
        </p:sp>
        <p:sp>
          <p:nvSpPr>
            <p:cNvPr id="69" name="TextBox 69"/>
            <p:cNvSpPr txBox="1"/>
            <p:nvPr/>
          </p:nvSpPr>
          <p:spPr>
            <a:xfrm>
              <a:off x="7481316" y="4692650"/>
              <a:ext cx="1800173" cy="161583"/>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Freeze measured q on failure</a:t>
              </a:r>
            </a:p>
          </p:txBody>
        </p:sp>
        <p:sp>
          <p:nvSpPr>
            <p:cNvPr id="92" name="Rectangle 35">
              <a:extLst>
                <a:ext uri="{FF2B5EF4-FFF2-40B4-BE49-F238E27FC236}">
                  <a16:creationId xmlns:a16="http://schemas.microsoft.com/office/drawing/2014/main" id="{7C2ABAC2-666B-DCD6-DCB8-396D38AF3719}"/>
                </a:ext>
              </a:extLst>
            </p:cNvPr>
            <p:cNvSpPr/>
            <p:nvPr/>
          </p:nvSpPr>
          <p:spPr>
            <a:xfrm>
              <a:off x="7091783" y="3927127"/>
              <a:ext cx="45719" cy="961875"/>
            </a:xfrm>
            <a:prstGeom prst="roundRect">
              <a:avLst>
                <a:gd name="adj" fmla="val 50000"/>
              </a:avLst>
            </a:prstGeom>
            <a:solidFill>
              <a:srgbClr val="52765A"/>
            </a:solidFill>
            <a:ln>
              <a:noFill/>
            </a:ln>
          </p:spPr>
          <p:txBody>
            <a:bodyPr/>
            <a:lstStyle/>
            <a:p>
              <a:endParaRPr lang="zh-CN" altLang="en-US"/>
            </a:p>
          </p:txBody>
        </p:sp>
      </p:grpSp>
    </p:spTree>
  </p:cSld>
  <p:transition xmlns:p="http://schemas.openxmlformats.org/presentationml/2006/main" spd="slow">
    <p:fade/>
  </p:transition>
  <p:clrMapOvr>
    <a:masterClrMapping/>
  </p:clrMapOvr>
  <mc:AlternateContent xmlns:mc="http://schemas.openxmlformats.org/markup-compatibility/2006">
    <mc:Choice xmlns:p14="http://schemas.microsoft.com/office/powerpoint/2010/main" Requires="p1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 name="TextBox 2"/>
          <p:cNvSpPr txBox="1"/>
          <p:nvPr/>
        </p:nvSpPr>
        <p:spPr>
          <a:xfrm>
            <a:off x="604838" y="342900"/>
            <a:ext cx="2572900" cy="176212"/>
          </a:xfrm>
          <a:prstGeom prst="rect">
            <a:avLst/>
          </a:prstGeom>
          <a:noFill/>
          <a:ln>
            <a:noFill/>
          </a:ln>
        </p:spPr>
        <p:txBody>
          <a:bodyPr wrap="none" lIns="0" tIns="0" rIns="0" bIns="0" anchor="t" anchorCtr="0">
            <a:spAutoFit/>
          </a:bodyPr>
          <a:lstStyle/>
          <a:p>
            <a:pPr algn="l"/>
            <a:r>
              <a:rPr lang="en-US" sz="900" b="1" spc="120" dirty="0">
                <a:solidFill>
                  <a:srgbClr val="52765A"/>
                </a:solidFill>
                <a:latin typeface="+mn-lt"/>
                <a:ea typeface="+mn-ea"/>
                <a:cs typeface="+mn-cs"/>
              </a:rPr>
              <a:t>04 / DEXTEROUS HAND CONTROL</a:t>
            </a:r>
          </a:p>
        </p:txBody>
      </p:sp>
      <p:sp>
        <p:nvSpPr>
          <p:cNvPr id="3" name="TextBox 3"/>
          <p:cNvSpPr txBox="1"/>
          <p:nvPr/>
        </p:nvSpPr>
        <p:spPr>
          <a:xfrm>
            <a:off x="598170" y="596900"/>
            <a:ext cx="10606192" cy="440055"/>
          </a:xfrm>
          <a:prstGeom prst="rect">
            <a:avLst/>
          </a:prstGeom>
          <a:noFill/>
          <a:ln>
            <a:noFill/>
          </a:ln>
        </p:spPr>
        <p:txBody>
          <a:bodyPr wrap="none" lIns="0" tIns="0" rIns="0" bIns="0" anchor="t" anchorCtr="0">
            <a:spAutoFit/>
          </a:bodyPr>
          <a:lstStyle/>
          <a:p>
            <a:pPr algn="l"/>
            <a:r>
              <a:rPr lang="en-US" sz="2250" b="1" dirty="0">
                <a:solidFill>
                  <a:srgbClr val="1D2B24"/>
                </a:solidFill>
                <a:latin typeface="+mn-lt"/>
                <a:ea typeface="+mn-ea"/>
                <a:cs typeface="+mn-cs"/>
              </a:rPr>
              <a:t>Retargeting preserves intent while respecting the DexH13 actuator model</a:t>
            </a:r>
          </a:p>
        </p:txBody>
      </p:sp>
      <p:sp>
        <p:nvSpPr>
          <p:cNvPr id="4" name="TextBox 4"/>
          <p:cNvSpPr txBox="1"/>
          <p:nvPr/>
        </p:nvSpPr>
        <p:spPr>
          <a:xfrm>
            <a:off x="603504" y="1000125"/>
            <a:ext cx="6770687" cy="234696"/>
          </a:xfrm>
          <a:prstGeom prst="rect">
            <a:avLst/>
          </a:prstGeom>
          <a:noFill/>
          <a:ln>
            <a:noFill/>
          </a:ln>
        </p:spPr>
        <p:txBody>
          <a:bodyPr wrap="none" lIns="0" tIns="0" rIns="0" bIns="0" anchor="t" anchorCtr="0">
            <a:spAutoFit/>
          </a:bodyPr>
          <a:lstStyle/>
          <a:p>
            <a:pPr algn="l"/>
            <a:r>
              <a:rPr lang="en-US" sz="1200" dirty="0">
                <a:solidFill>
                  <a:srgbClr val="657269"/>
                </a:solidFill>
                <a:latin typeface="+mn-lt"/>
                <a:ea typeface="+mn-ea"/>
                <a:cs typeface="+mn-cs"/>
              </a:rPr>
              <a:t>The hand pipeline is separate from arm IK, but shares the same tracked wrist and safety state.</a:t>
            </a:r>
          </a:p>
        </p:txBody>
      </p:sp>
      <p:sp>
        <p:nvSpPr>
          <p:cNvPr id="5" name="Line 5"/>
          <p:cNvSpPr/>
          <p:nvPr/>
        </p:nvSpPr>
        <p:spPr>
          <a:xfrm>
            <a:off x="609600" y="1381125"/>
            <a:ext cx="10972800" cy="9525"/>
          </a:xfrm>
          <a:custGeom>
            <a:avLst/>
            <a:gdLst/>
            <a:ahLst/>
            <a:cxnLst/>
            <a:rect l="l" t="t" r="r" b="b"/>
            <a:pathLst>
              <a:path w="10972800" h="9525">
                <a:moveTo>
                  <a:pt x="0" y="0"/>
                </a:moveTo>
                <a:lnTo>
                  <a:pt x="10972800" y="0"/>
                </a:lnTo>
              </a:path>
            </a:pathLst>
          </a:custGeom>
          <a:noFill/>
          <a:ln w="9525">
            <a:solidFill>
              <a:srgbClr val="C9D4CB"/>
            </a:solidFill>
          </a:ln>
        </p:spPr>
        <p:txBody>
          <a:bodyPr/>
          <a:lstStyle/>
          <a:p>
            <a:endParaRPr lang="zh-CN" altLang="en-US"/>
          </a:p>
        </p:txBody>
      </p:sp>
      <p:sp>
        <p:nvSpPr>
          <p:cNvPr id="6" name="TextBox 6"/>
          <p:cNvSpPr txBox="1"/>
          <p:nvPr/>
        </p:nvSpPr>
        <p:spPr>
          <a:xfrm>
            <a:off x="604838" y="6464300"/>
            <a:ext cx="3027374" cy="147638"/>
          </a:xfrm>
          <a:prstGeom prst="rect">
            <a:avLst/>
          </a:prstGeom>
          <a:noFill/>
          <a:ln>
            <a:noFill/>
          </a:ln>
        </p:spPr>
        <p:txBody>
          <a:bodyPr wrap="none" lIns="0" tIns="0" rIns="0" bIns="0" anchor="t" anchorCtr="0">
            <a:spAutoFit/>
          </a:bodyPr>
          <a:lstStyle/>
          <a:p>
            <a:pPr algn="l"/>
            <a:r>
              <a:rPr lang="en-US" sz="750" b="1" spc="60" dirty="0">
                <a:solidFill>
                  <a:srgbClr val="657269"/>
                </a:solidFill>
                <a:latin typeface="+mn-lt"/>
                <a:ea typeface="+mn-ea"/>
                <a:cs typeface="+mn-cs"/>
              </a:rPr>
              <a:t>DEXMAN_LEROBOT / VR TELEOPERATION SYSTEM</a:t>
            </a:r>
          </a:p>
        </p:txBody>
      </p:sp>
      <p:sp>
        <p:nvSpPr>
          <p:cNvPr id="7" name="TextBox 7"/>
          <p:cNvSpPr txBox="1"/>
          <p:nvPr/>
        </p:nvSpPr>
        <p:spPr>
          <a:xfrm>
            <a:off x="11268866" y="6464300"/>
            <a:ext cx="318296" cy="147638"/>
          </a:xfrm>
          <a:prstGeom prst="rect">
            <a:avLst/>
          </a:prstGeom>
          <a:noFill/>
          <a:ln>
            <a:noFill/>
          </a:ln>
        </p:spPr>
        <p:txBody>
          <a:bodyPr wrap="none" lIns="0" tIns="0" rIns="0" bIns="0" anchor="t" anchorCtr="0">
            <a:spAutoFit/>
          </a:bodyPr>
          <a:lstStyle/>
          <a:p>
            <a:pPr algn="r"/>
            <a:r>
              <a:rPr lang="en-US" sz="750" b="1" dirty="0">
                <a:solidFill>
                  <a:srgbClr val="657269"/>
                </a:solidFill>
                <a:latin typeface="+mn-lt"/>
                <a:ea typeface="+mn-ea"/>
                <a:cs typeface="+mn-cs"/>
              </a:rPr>
              <a:t>04 / 10</a:t>
            </a:r>
          </a:p>
        </p:txBody>
      </p:sp>
      <p:grpSp>
        <p:nvGrpSpPr>
          <p:cNvPr id="50" name="组合 49">
            <a:extLst>
              <a:ext uri="{FF2B5EF4-FFF2-40B4-BE49-F238E27FC236}">
                <a16:creationId xmlns:a16="http://schemas.microsoft.com/office/drawing/2014/main" id="{A2FEADF7-09C3-537D-CE3D-BE3FAF64F074}"/>
              </a:ext>
            </a:extLst>
          </p:cNvPr>
          <p:cNvGrpSpPr/>
          <p:nvPr/>
        </p:nvGrpSpPr>
        <p:grpSpPr>
          <a:xfrm>
            <a:off x="609600" y="2209800"/>
            <a:ext cx="1752600" cy="1428750"/>
            <a:chOff x="609600" y="2209800"/>
            <a:chExt cx="1752600" cy="1428750"/>
          </a:xfrm>
        </p:grpSpPr>
        <p:sp>
          <p:nvSpPr>
            <p:cNvPr id="8" name="Rectangle 8"/>
            <p:cNvSpPr/>
            <p:nvPr/>
          </p:nvSpPr>
          <p:spPr>
            <a:xfrm>
              <a:off x="609600" y="2209800"/>
              <a:ext cx="1752600" cy="1428750"/>
            </a:xfrm>
            <a:prstGeom prst="roundRect">
              <a:avLst>
                <a:gd name="adj" fmla="val 12000"/>
              </a:avLst>
            </a:prstGeom>
            <a:solidFill>
              <a:srgbClr val="FFFFFF"/>
            </a:solidFill>
            <a:ln w="9525">
              <a:solidFill>
                <a:srgbClr val="C9D4CB"/>
              </a:solidFill>
            </a:ln>
          </p:spPr>
          <p:txBody>
            <a:bodyPr/>
            <a:lstStyle/>
            <a:p>
              <a:endParaRPr lang="zh-CN" altLang="en-US"/>
            </a:p>
          </p:txBody>
        </p:sp>
        <p:sp>
          <p:nvSpPr>
            <p:cNvPr id="9" name="Ellipse 9"/>
            <p:cNvSpPr/>
            <p:nvPr/>
          </p:nvSpPr>
          <p:spPr>
            <a:xfrm>
              <a:off x="742950" y="2343150"/>
              <a:ext cx="304800" cy="304800"/>
            </a:xfrm>
            <a:prstGeom prst="ellipse">
              <a:avLst/>
            </a:prstGeom>
            <a:solidFill>
              <a:srgbClr val="DDE8DE"/>
            </a:solidFill>
            <a:ln>
              <a:noFill/>
            </a:ln>
          </p:spPr>
          <p:txBody>
            <a:bodyPr/>
            <a:lstStyle/>
            <a:p>
              <a:endParaRPr lang="zh-CN" altLang="en-US"/>
            </a:p>
          </p:txBody>
        </p:sp>
        <p:sp>
          <p:nvSpPr>
            <p:cNvPr id="10" name="TextBox 10"/>
            <p:cNvSpPr txBox="1"/>
            <p:nvPr/>
          </p:nvSpPr>
          <p:spPr>
            <a:xfrm>
              <a:off x="850706" y="2415426"/>
              <a:ext cx="89287" cy="205359"/>
            </a:xfrm>
            <a:prstGeom prst="rect">
              <a:avLst/>
            </a:prstGeom>
            <a:noFill/>
            <a:ln>
              <a:noFill/>
            </a:ln>
          </p:spPr>
          <p:txBody>
            <a:bodyPr wrap="none" lIns="0" tIns="0" rIns="0" bIns="0" anchor="t" anchorCtr="0">
              <a:spAutoFit/>
            </a:bodyPr>
            <a:lstStyle/>
            <a:p>
              <a:pPr algn="ctr"/>
              <a:r>
                <a:rPr lang="en-US" sz="1050" b="1" dirty="0">
                  <a:solidFill>
                    <a:srgbClr val="52765A"/>
                  </a:solidFill>
                  <a:latin typeface="+mn-lt"/>
                  <a:ea typeface="+mn-ea"/>
                  <a:cs typeface="+mn-cs"/>
                </a:rPr>
                <a:t>1</a:t>
              </a:r>
            </a:p>
          </p:txBody>
        </p:sp>
        <p:sp>
          <p:nvSpPr>
            <p:cNvPr id="11" name="TextBox 11"/>
            <p:cNvSpPr txBox="1"/>
            <p:nvPr/>
          </p:nvSpPr>
          <p:spPr>
            <a:xfrm>
              <a:off x="742950" y="2819400"/>
              <a:ext cx="636534" cy="250317"/>
            </a:xfrm>
            <a:prstGeom prst="rect">
              <a:avLst/>
            </a:prstGeom>
            <a:noFill/>
            <a:ln>
              <a:noFill/>
            </a:ln>
          </p:spPr>
          <p:txBody>
            <a:bodyPr wrap="none" lIns="0" tIns="0" rIns="0" bIns="0" anchor="t" anchorCtr="0">
              <a:spAutoFit/>
            </a:bodyPr>
            <a:lstStyle/>
            <a:p>
              <a:pPr algn="l"/>
              <a:r>
                <a:rPr lang="en-US" sz="1280" b="1" dirty="0">
                  <a:solidFill>
                    <a:srgbClr val="1D2B24"/>
                  </a:solidFill>
                  <a:latin typeface="+mn-lt"/>
                  <a:ea typeface="+mn-ea"/>
                  <a:cs typeface="+mn-cs"/>
                </a:rPr>
                <a:t>WebXR</a:t>
              </a:r>
            </a:p>
          </p:txBody>
        </p:sp>
        <p:sp>
          <p:nvSpPr>
            <p:cNvPr id="12" name="TextBox 12"/>
            <p:cNvSpPr txBox="1"/>
            <p:nvPr/>
          </p:nvSpPr>
          <p:spPr>
            <a:xfrm>
              <a:off x="744093" y="3111500"/>
              <a:ext cx="1263166" cy="161583"/>
            </a:xfrm>
            <a:prstGeom prst="rect">
              <a:avLst/>
            </a:prstGeom>
            <a:noFill/>
            <a:ln>
              <a:noFill/>
            </a:ln>
          </p:spPr>
          <p:txBody>
            <a:bodyPr wrap="none" lIns="0" tIns="0" rIns="0" bIns="0" anchor="t" anchorCtr="0">
              <a:spAutoFit/>
            </a:bodyPr>
            <a:lstStyle/>
            <a:p>
              <a:r>
                <a:rPr lang="en-US" sz="1050" dirty="0">
                  <a:solidFill>
                    <a:srgbClr val="657269"/>
                  </a:solidFill>
                  <a:latin typeface="+mn-lt"/>
                  <a:ea typeface="+mn-ea"/>
                  <a:cs typeface="+mn-cs"/>
                </a:rPr>
                <a:t>25 joints</a:t>
              </a:r>
              <a:r>
                <a:rPr lang="zh-CN" altLang="en-US" sz="1050" dirty="0">
                  <a:solidFill>
                    <a:srgbClr val="657269"/>
                  </a:solidFill>
                  <a:latin typeface="+mn-lt"/>
                  <a:ea typeface="+mn-ea"/>
                  <a:cs typeface="+mn-cs"/>
                </a:rPr>
                <a:t> </a:t>
              </a:r>
              <a:r>
                <a:rPr lang="en-US" altLang="zh-CN" sz="1050" dirty="0">
                  <a:solidFill>
                    <a:srgbClr val="657269"/>
                  </a:solidFill>
                </a:rPr>
                <a:t>+ wrist pose</a:t>
              </a:r>
            </a:p>
          </p:txBody>
        </p:sp>
      </p:grpSp>
      <p:sp>
        <p:nvSpPr>
          <p:cNvPr id="14" name="Line 14"/>
          <p:cNvSpPr/>
          <p:nvPr/>
        </p:nvSpPr>
        <p:spPr>
          <a:xfrm>
            <a:off x="2434118" y="2924175"/>
            <a:ext cx="266700" cy="1"/>
          </a:xfrm>
          <a:prstGeom prst="line">
            <a:avLst/>
          </a:prstGeom>
          <a:noFill/>
          <a:ln w="19050">
            <a:solidFill>
              <a:srgbClr val="52765A"/>
            </a:solidFill>
            <a:tailEnd type="triangle" w="lg" len="lg"/>
          </a:ln>
        </p:spPr>
        <p:txBody>
          <a:bodyPr/>
          <a:lstStyle/>
          <a:p>
            <a:endParaRPr lang="zh-CN" altLang="en-US"/>
          </a:p>
        </p:txBody>
      </p:sp>
      <p:grpSp>
        <p:nvGrpSpPr>
          <p:cNvPr id="51" name="组合 50">
            <a:extLst>
              <a:ext uri="{FF2B5EF4-FFF2-40B4-BE49-F238E27FC236}">
                <a16:creationId xmlns:a16="http://schemas.microsoft.com/office/drawing/2014/main" id="{DF8C69D6-0150-A9BF-957B-EF8471031240}"/>
              </a:ext>
            </a:extLst>
          </p:cNvPr>
          <p:cNvGrpSpPr/>
          <p:nvPr/>
        </p:nvGrpSpPr>
        <p:grpSpPr>
          <a:xfrm>
            <a:off x="2781300" y="2209800"/>
            <a:ext cx="1752600" cy="1428750"/>
            <a:chOff x="2781300" y="2209800"/>
            <a:chExt cx="1752600" cy="1428750"/>
          </a:xfrm>
        </p:grpSpPr>
        <p:sp>
          <p:nvSpPr>
            <p:cNvPr id="15" name="Rectangle 15"/>
            <p:cNvSpPr/>
            <p:nvPr/>
          </p:nvSpPr>
          <p:spPr>
            <a:xfrm>
              <a:off x="2781300" y="2209800"/>
              <a:ext cx="1752600" cy="1428750"/>
            </a:xfrm>
            <a:prstGeom prst="roundRect">
              <a:avLst>
                <a:gd name="adj" fmla="val 12000"/>
              </a:avLst>
            </a:prstGeom>
            <a:solidFill>
              <a:srgbClr val="FFFFFF"/>
            </a:solidFill>
            <a:ln w="9525">
              <a:solidFill>
                <a:srgbClr val="C9D4CB"/>
              </a:solidFill>
            </a:ln>
          </p:spPr>
          <p:txBody>
            <a:bodyPr/>
            <a:lstStyle/>
            <a:p>
              <a:endParaRPr lang="zh-CN" altLang="en-US"/>
            </a:p>
          </p:txBody>
        </p:sp>
        <p:sp>
          <p:nvSpPr>
            <p:cNvPr id="16" name="Ellipse 16"/>
            <p:cNvSpPr/>
            <p:nvPr/>
          </p:nvSpPr>
          <p:spPr>
            <a:xfrm>
              <a:off x="2914650" y="2343150"/>
              <a:ext cx="304800" cy="304800"/>
            </a:xfrm>
            <a:prstGeom prst="ellipse">
              <a:avLst/>
            </a:prstGeom>
            <a:solidFill>
              <a:srgbClr val="DDE8DE"/>
            </a:solidFill>
            <a:ln>
              <a:noFill/>
            </a:ln>
          </p:spPr>
          <p:txBody>
            <a:bodyPr/>
            <a:lstStyle/>
            <a:p>
              <a:endParaRPr lang="zh-CN" altLang="en-US"/>
            </a:p>
          </p:txBody>
        </p:sp>
        <p:sp>
          <p:nvSpPr>
            <p:cNvPr id="17" name="TextBox 17"/>
            <p:cNvSpPr txBox="1"/>
            <p:nvPr/>
          </p:nvSpPr>
          <p:spPr>
            <a:xfrm>
              <a:off x="3022406" y="2415426"/>
              <a:ext cx="89287" cy="205359"/>
            </a:xfrm>
            <a:prstGeom prst="rect">
              <a:avLst/>
            </a:prstGeom>
            <a:noFill/>
            <a:ln>
              <a:noFill/>
            </a:ln>
          </p:spPr>
          <p:txBody>
            <a:bodyPr wrap="none" lIns="0" tIns="0" rIns="0" bIns="0" anchor="t" anchorCtr="0">
              <a:spAutoFit/>
            </a:bodyPr>
            <a:lstStyle/>
            <a:p>
              <a:pPr algn="ctr"/>
              <a:r>
                <a:rPr lang="en-US" sz="1050" b="1" dirty="0">
                  <a:solidFill>
                    <a:srgbClr val="52765A"/>
                  </a:solidFill>
                  <a:latin typeface="+mn-lt"/>
                  <a:ea typeface="+mn-ea"/>
                  <a:cs typeface="+mn-cs"/>
                </a:rPr>
                <a:t>2</a:t>
              </a:r>
            </a:p>
          </p:txBody>
        </p:sp>
        <p:sp>
          <p:nvSpPr>
            <p:cNvPr id="18" name="TextBox 18"/>
            <p:cNvSpPr txBox="1"/>
            <p:nvPr/>
          </p:nvSpPr>
          <p:spPr>
            <a:xfrm>
              <a:off x="2914650" y="2819399"/>
              <a:ext cx="947878" cy="250317"/>
            </a:xfrm>
            <a:prstGeom prst="rect">
              <a:avLst/>
            </a:prstGeom>
            <a:noFill/>
            <a:ln>
              <a:noFill/>
            </a:ln>
          </p:spPr>
          <p:txBody>
            <a:bodyPr wrap="none" lIns="0" tIns="0" rIns="0" bIns="0" anchor="t" anchorCtr="0">
              <a:spAutoFit/>
            </a:bodyPr>
            <a:lstStyle/>
            <a:p>
              <a:pPr algn="l"/>
              <a:r>
                <a:rPr lang="en-US" sz="1280" b="1" dirty="0">
                  <a:solidFill>
                    <a:srgbClr val="1D2B24"/>
                  </a:solidFill>
                  <a:latin typeface="+mn-lt"/>
                  <a:ea typeface="+mn-ea"/>
                  <a:cs typeface="+mn-cs"/>
                </a:rPr>
                <a:t>Palm frame</a:t>
              </a:r>
            </a:p>
          </p:txBody>
        </p:sp>
        <p:sp>
          <p:nvSpPr>
            <p:cNvPr id="19" name="TextBox 19"/>
            <p:cNvSpPr txBox="1"/>
            <p:nvPr/>
          </p:nvSpPr>
          <p:spPr>
            <a:xfrm>
              <a:off x="2915793" y="3111499"/>
              <a:ext cx="1537280" cy="161583"/>
            </a:xfrm>
            <a:prstGeom prst="rect">
              <a:avLst/>
            </a:prstGeom>
            <a:noFill/>
            <a:ln>
              <a:noFill/>
            </a:ln>
          </p:spPr>
          <p:txBody>
            <a:bodyPr wrap="none" lIns="0" tIns="0" rIns="0" bIns="0" anchor="t" anchorCtr="0">
              <a:spAutoFit/>
            </a:bodyPr>
            <a:lstStyle/>
            <a:p>
              <a:r>
                <a:rPr lang="en-US" sz="1050" dirty="0" err="1">
                  <a:solidFill>
                    <a:srgbClr val="657269"/>
                  </a:solidFill>
                  <a:latin typeface="+mn-lt"/>
                  <a:ea typeface="+mn-ea"/>
                  <a:cs typeface="+mn-cs"/>
                </a:rPr>
                <a:t>OpenXR</a:t>
              </a:r>
              <a:r>
                <a:rPr lang="en-US" sz="1050" dirty="0">
                  <a:solidFill>
                    <a:srgbClr val="657269"/>
                  </a:solidFill>
                  <a:latin typeface="+mn-lt"/>
                  <a:ea typeface="+mn-ea"/>
                  <a:cs typeface="+mn-cs"/>
                </a:rPr>
                <a:t> →</a:t>
              </a:r>
              <a:r>
                <a:rPr lang="zh-CN" altLang="en-US" sz="1050" dirty="0">
                  <a:solidFill>
                    <a:srgbClr val="657269"/>
                  </a:solidFill>
                  <a:latin typeface="+mn-lt"/>
                  <a:ea typeface="+mn-ea"/>
                  <a:cs typeface="+mn-cs"/>
                </a:rPr>
                <a:t> </a:t>
              </a:r>
              <a:r>
                <a:rPr lang="en-US" altLang="zh-CN" sz="1050" dirty="0">
                  <a:solidFill>
                    <a:srgbClr val="657269"/>
                  </a:solidFill>
                </a:rPr>
                <a:t>DexH13 axes</a:t>
              </a:r>
            </a:p>
          </p:txBody>
        </p:sp>
      </p:grpSp>
      <p:sp>
        <p:nvSpPr>
          <p:cNvPr id="21" name="Line 21"/>
          <p:cNvSpPr/>
          <p:nvPr/>
        </p:nvSpPr>
        <p:spPr>
          <a:xfrm>
            <a:off x="4605818" y="2924175"/>
            <a:ext cx="266700" cy="1"/>
          </a:xfrm>
          <a:prstGeom prst="line">
            <a:avLst/>
          </a:prstGeom>
          <a:noFill/>
          <a:ln w="19050">
            <a:solidFill>
              <a:srgbClr val="52765A"/>
            </a:solidFill>
            <a:tailEnd type="triangle" w="lg" len="lg"/>
          </a:ln>
        </p:spPr>
        <p:txBody>
          <a:bodyPr/>
          <a:lstStyle/>
          <a:p>
            <a:endParaRPr lang="zh-CN" altLang="en-US"/>
          </a:p>
        </p:txBody>
      </p:sp>
      <p:grpSp>
        <p:nvGrpSpPr>
          <p:cNvPr id="52" name="组合 51">
            <a:extLst>
              <a:ext uri="{FF2B5EF4-FFF2-40B4-BE49-F238E27FC236}">
                <a16:creationId xmlns:a16="http://schemas.microsoft.com/office/drawing/2014/main" id="{552BD1E9-FF52-6157-F861-EA6952BEA583}"/>
              </a:ext>
            </a:extLst>
          </p:cNvPr>
          <p:cNvGrpSpPr/>
          <p:nvPr/>
        </p:nvGrpSpPr>
        <p:grpSpPr>
          <a:xfrm>
            <a:off x="4953000" y="2209800"/>
            <a:ext cx="1752600" cy="1428750"/>
            <a:chOff x="4953000" y="2209800"/>
            <a:chExt cx="1752600" cy="1428750"/>
          </a:xfrm>
        </p:grpSpPr>
        <p:sp>
          <p:nvSpPr>
            <p:cNvPr id="22" name="Rectangle 22"/>
            <p:cNvSpPr/>
            <p:nvPr/>
          </p:nvSpPr>
          <p:spPr>
            <a:xfrm>
              <a:off x="4953000" y="2209800"/>
              <a:ext cx="1752600" cy="1428750"/>
            </a:xfrm>
            <a:prstGeom prst="roundRect">
              <a:avLst>
                <a:gd name="adj" fmla="val 12000"/>
              </a:avLst>
            </a:prstGeom>
            <a:solidFill>
              <a:srgbClr val="FFFFFF"/>
            </a:solidFill>
            <a:ln w="9525">
              <a:solidFill>
                <a:srgbClr val="C9D4CB"/>
              </a:solidFill>
            </a:ln>
          </p:spPr>
          <p:txBody>
            <a:bodyPr/>
            <a:lstStyle/>
            <a:p>
              <a:endParaRPr lang="zh-CN" altLang="en-US"/>
            </a:p>
          </p:txBody>
        </p:sp>
        <p:sp>
          <p:nvSpPr>
            <p:cNvPr id="23" name="Ellipse 23"/>
            <p:cNvSpPr/>
            <p:nvPr/>
          </p:nvSpPr>
          <p:spPr>
            <a:xfrm>
              <a:off x="5086350" y="2343150"/>
              <a:ext cx="304800" cy="304800"/>
            </a:xfrm>
            <a:prstGeom prst="ellipse">
              <a:avLst/>
            </a:prstGeom>
            <a:solidFill>
              <a:srgbClr val="DDE8DE"/>
            </a:solidFill>
            <a:ln>
              <a:noFill/>
            </a:ln>
          </p:spPr>
          <p:txBody>
            <a:bodyPr/>
            <a:lstStyle/>
            <a:p>
              <a:endParaRPr lang="zh-CN" altLang="en-US"/>
            </a:p>
          </p:txBody>
        </p:sp>
        <p:sp>
          <p:nvSpPr>
            <p:cNvPr id="24" name="TextBox 24"/>
            <p:cNvSpPr txBox="1"/>
            <p:nvPr/>
          </p:nvSpPr>
          <p:spPr>
            <a:xfrm>
              <a:off x="5194106" y="2415426"/>
              <a:ext cx="89287" cy="205359"/>
            </a:xfrm>
            <a:prstGeom prst="rect">
              <a:avLst/>
            </a:prstGeom>
            <a:noFill/>
            <a:ln>
              <a:noFill/>
            </a:ln>
          </p:spPr>
          <p:txBody>
            <a:bodyPr wrap="none" lIns="0" tIns="0" rIns="0" bIns="0" anchor="t" anchorCtr="0">
              <a:spAutoFit/>
            </a:bodyPr>
            <a:lstStyle/>
            <a:p>
              <a:pPr algn="ctr"/>
              <a:r>
                <a:rPr lang="en-US" sz="1050" b="1" dirty="0">
                  <a:solidFill>
                    <a:srgbClr val="52765A"/>
                  </a:solidFill>
                  <a:latin typeface="+mn-lt"/>
                  <a:ea typeface="+mn-ea"/>
                  <a:cs typeface="+mn-cs"/>
                </a:rPr>
                <a:t>3</a:t>
              </a:r>
            </a:p>
          </p:txBody>
        </p:sp>
        <p:sp>
          <p:nvSpPr>
            <p:cNvPr id="25" name="TextBox 25"/>
            <p:cNvSpPr txBox="1"/>
            <p:nvPr/>
          </p:nvSpPr>
          <p:spPr>
            <a:xfrm>
              <a:off x="5086350" y="2819399"/>
              <a:ext cx="712137" cy="250317"/>
            </a:xfrm>
            <a:prstGeom prst="rect">
              <a:avLst/>
            </a:prstGeom>
            <a:noFill/>
            <a:ln>
              <a:noFill/>
            </a:ln>
          </p:spPr>
          <p:txBody>
            <a:bodyPr wrap="none" lIns="0" tIns="0" rIns="0" bIns="0" anchor="t" anchorCtr="0">
              <a:spAutoFit/>
            </a:bodyPr>
            <a:lstStyle/>
            <a:p>
              <a:pPr algn="l"/>
              <a:r>
                <a:rPr lang="en-US" sz="1280" b="1" dirty="0">
                  <a:solidFill>
                    <a:srgbClr val="1D2B24"/>
                  </a:solidFill>
                  <a:latin typeface="+mn-lt"/>
                  <a:ea typeface="+mn-ea"/>
                  <a:cs typeface="+mn-cs"/>
                </a:rPr>
                <a:t>DexPilot</a:t>
              </a:r>
            </a:p>
          </p:txBody>
        </p:sp>
        <p:sp>
          <p:nvSpPr>
            <p:cNvPr id="26" name="TextBox 26"/>
            <p:cNvSpPr txBox="1"/>
            <p:nvPr/>
          </p:nvSpPr>
          <p:spPr>
            <a:xfrm>
              <a:off x="5087493" y="3111499"/>
              <a:ext cx="893888"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MediaPipe-21</a:t>
              </a:r>
            </a:p>
          </p:txBody>
        </p:sp>
        <p:sp>
          <p:nvSpPr>
            <p:cNvPr id="27" name="TextBox 27"/>
            <p:cNvSpPr txBox="1"/>
            <p:nvPr/>
          </p:nvSpPr>
          <p:spPr>
            <a:xfrm>
              <a:off x="5087493" y="3330574"/>
              <a:ext cx="764945"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optimization</a:t>
              </a:r>
            </a:p>
          </p:txBody>
        </p:sp>
      </p:grpSp>
      <p:sp>
        <p:nvSpPr>
          <p:cNvPr id="28" name="Line 28"/>
          <p:cNvSpPr/>
          <p:nvPr/>
        </p:nvSpPr>
        <p:spPr>
          <a:xfrm>
            <a:off x="6777518" y="2924175"/>
            <a:ext cx="266700" cy="1"/>
          </a:xfrm>
          <a:prstGeom prst="line">
            <a:avLst/>
          </a:prstGeom>
          <a:noFill/>
          <a:ln w="19050">
            <a:solidFill>
              <a:srgbClr val="52765A"/>
            </a:solidFill>
            <a:tailEnd type="triangle" w="lg" len="lg"/>
          </a:ln>
        </p:spPr>
        <p:txBody>
          <a:bodyPr/>
          <a:lstStyle/>
          <a:p>
            <a:endParaRPr lang="zh-CN" altLang="en-US"/>
          </a:p>
        </p:txBody>
      </p:sp>
      <p:grpSp>
        <p:nvGrpSpPr>
          <p:cNvPr id="53" name="组合 52">
            <a:extLst>
              <a:ext uri="{FF2B5EF4-FFF2-40B4-BE49-F238E27FC236}">
                <a16:creationId xmlns:a16="http://schemas.microsoft.com/office/drawing/2014/main" id="{E4771620-9B2A-7781-CE54-EA95152193D0}"/>
              </a:ext>
            </a:extLst>
          </p:cNvPr>
          <p:cNvGrpSpPr/>
          <p:nvPr/>
        </p:nvGrpSpPr>
        <p:grpSpPr>
          <a:xfrm>
            <a:off x="7124700" y="2209800"/>
            <a:ext cx="1752600" cy="1428750"/>
            <a:chOff x="7124700" y="2209800"/>
            <a:chExt cx="1752600" cy="1428750"/>
          </a:xfrm>
        </p:grpSpPr>
        <p:sp>
          <p:nvSpPr>
            <p:cNvPr id="29" name="Rectangle 29"/>
            <p:cNvSpPr/>
            <p:nvPr/>
          </p:nvSpPr>
          <p:spPr>
            <a:xfrm>
              <a:off x="7124700" y="2209800"/>
              <a:ext cx="1752600" cy="1428750"/>
            </a:xfrm>
            <a:prstGeom prst="roundRect">
              <a:avLst>
                <a:gd name="adj" fmla="val 12000"/>
              </a:avLst>
            </a:prstGeom>
            <a:solidFill>
              <a:srgbClr val="FFFFFF"/>
            </a:solidFill>
            <a:ln w="9525">
              <a:solidFill>
                <a:srgbClr val="C9D4CB"/>
              </a:solidFill>
            </a:ln>
          </p:spPr>
          <p:txBody>
            <a:bodyPr/>
            <a:lstStyle/>
            <a:p>
              <a:endParaRPr lang="zh-CN" altLang="en-US"/>
            </a:p>
          </p:txBody>
        </p:sp>
        <p:sp>
          <p:nvSpPr>
            <p:cNvPr id="30" name="Ellipse 30"/>
            <p:cNvSpPr/>
            <p:nvPr/>
          </p:nvSpPr>
          <p:spPr>
            <a:xfrm>
              <a:off x="7258050" y="2343150"/>
              <a:ext cx="304800" cy="304800"/>
            </a:xfrm>
            <a:prstGeom prst="ellipse">
              <a:avLst/>
            </a:prstGeom>
            <a:solidFill>
              <a:srgbClr val="DDE8DE"/>
            </a:solidFill>
            <a:ln>
              <a:noFill/>
            </a:ln>
          </p:spPr>
          <p:txBody>
            <a:bodyPr/>
            <a:lstStyle/>
            <a:p>
              <a:endParaRPr lang="zh-CN" altLang="en-US"/>
            </a:p>
          </p:txBody>
        </p:sp>
        <p:sp>
          <p:nvSpPr>
            <p:cNvPr id="31" name="TextBox 31"/>
            <p:cNvSpPr txBox="1"/>
            <p:nvPr/>
          </p:nvSpPr>
          <p:spPr>
            <a:xfrm>
              <a:off x="7365806" y="2415426"/>
              <a:ext cx="89287" cy="205359"/>
            </a:xfrm>
            <a:prstGeom prst="rect">
              <a:avLst/>
            </a:prstGeom>
            <a:noFill/>
            <a:ln>
              <a:noFill/>
            </a:ln>
          </p:spPr>
          <p:txBody>
            <a:bodyPr wrap="none" lIns="0" tIns="0" rIns="0" bIns="0" anchor="t" anchorCtr="0">
              <a:spAutoFit/>
            </a:bodyPr>
            <a:lstStyle/>
            <a:p>
              <a:pPr algn="ctr"/>
              <a:r>
                <a:rPr lang="en-US" sz="1050" b="1" dirty="0">
                  <a:solidFill>
                    <a:srgbClr val="52765A"/>
                  </a:solidFill>
                  <a:latin typeface="+mn-lt"/>
                  <a:ea typeface="+mn-ea"/>
                  <a:cs typeface="+mn-cs"/>
                </a:rPr>
                <a:t>4</a:t>
              </a:r>
            </a:p>
          </p:txBody>
        </p:sp>
        <p:sp>
          <p:nvSpPr>
            <p:cNvPr id="32" name="TextBox 32"/>
            <p:cNvSpPr txBox="1"/>
            <p:nvPr/>
          </p:nvSpPr>
          <p:spPr>
            <a:xfrm>
              <a:off x="7258050" y="2819399"/>
              <a:ext cx="663101" cy="250317"/>
            </a:xfrm>
            <a:prstGeom prst="rect">
              <a:avLst/>
            </a:prstGeom>
            <a:noFill/>
            <a:ln>
              <a:noFill/>
            </a:ln>
          </p:spPr>
          <p:txBody>
            <a:bodyPr wrap="none" lIns="0" tIns="0" rIns="0" bIns="0" anchor="t" anchorCtr="0">
              <a:spAutoFit/>
            </a:bodyPr>
            <a:lstStyle/>
            <a:p>
              <a:pPr algn="l"/>
              <a:r>
                <a:rPr lang="en-US" sz="1280" b="1" dirty="0">
                  <a:solidFill>
                    <a:srgbClr val="1D2B24"/>
                  </a:solidFill>
                  <a:latin typeface="+mn-lt"/>
                  <a:ea typeface="+mn-ea"/>
                  <a:cs typeface="+mn-cs"/>
                </a:rPr>
                <a:t>DexH13</a:t>
              </a:r>
            </a:p>
          </p:txBody>
        </p:sp>
        <p:sp>
          <p:nvSpPr>
            <p:cNvPr id="33" name="TextBox 33"/>
            <p:cNvSpPr txBox="1"/>
            <p:nvPr/>
          </p:nvSpPr>
          <p:spPr>
            <a:xfrm>
              <a:off x="7259193" y="3111499"/>
              <a:ext cx="607933"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16 logical</a:t>
              </a:r>
            </a:p>
          </p:txBody>
        </p:sp>
        <p:sp>
          <p:nvSpPr>
            <p:cNvPr id="34" name="TextBox 34"/>
            <p:cNvSpPr txBox="1"/>
            <p:nvPr/>
          </p:nvSpPr>
          <p:spPr>
            <a:xfrm>
              <a:off x="7259193" y="3330574"/>
              <a:ext cx="540212" cy="161583"/>
            </a:xfrm>
            <a:prstGeom prst="rect">
              <a:avLst/>
            </a:prstGeom>
            <a:noFill/>
            <a:ln>
              <a:noFill/>
            </a:ln>
          </p:spPr>
          <p:txBody>
            <a:bodyPr wrap="none" lIns="0" tIns="0" rIns="0" bIns="0" anchor="t" anchorCtr="0">
              <a:spAutoFit/>
            </a:bodyPr>
            <a:lstStyle/>
            <a:p>
              <a:pPr algn="l"/>
              <a:r>
                <a:rPr lang="en-US" altLang="zh-CN" sz="1050" dirty="0">
                  <a:solidFill>
                    <a:srgbClr val="657269"/>
                  </a:solidFill>
                </a:rPr>
                <a:t>1</a:t>
              </a:r>
              <a:r>
                <a:rPr lang="en-US" sz="1050" dirty="0">
                  <a:solidFill>
                    <a:srgbClr val="657269"/>
                  </a:solidFill>
                  <a:latin typeface="+mn-lt"/>
                  <a:ea typeface="+mn-ea"/>
                  <a:cs typeface="+mn-cs"/>
                </a:rPr>
                <a:t>3 active</a:t>
              </a:r>
            </a:p>
          </p:txBody>
        </p:sp>
      </p:grpSp>
      <p:sp>
        <p:nvSpPr>
          <p:cNvPr id="35" name="Line 35"/>
          <p:cNvSpPr/>
          <p:nvPr/>
        </p:nvSpPr>
        <p:spPr>
          <a:xfrm>
            <a:off x="8949218" y="2924175"/>
            <a:ext cx="266700" cy="1"/>
          </a:xfrm>
          <a:prstGeom prst="line">
            <a:avLst/>
          </a:prstGeom>
          <a:noFill/>
          <a:ln w="19050">
            <a:solidFill>
              <a:srgbClr val="52765A"/>
            </a:solidFill>
            <a:tailEnd type="triangle" w="lg" len="lg"/>
          </a:ln>
        </p:spPr>
        <p:txBody>
          <a:bodyPr/>
          <a:lstStyle/>
          <a:p>
            <a:endParaRPr lang="zh-CN" altLang="en-US"/>
          </a:p>
        </p:txBody>
      </p:sp>
      <p:grpSp>
        <p:nvGrpSpPr>
          <p:cNvPr id="54" name="组合 53">
            <a:extLst>
              <a:ext uri="{FF2B5EF4-FFF2-40B4-BE49-F238E27FC236}">
                <a16:creationId xmlns:a16="http://schemas.microsoft.com/office/drawing/2014/main" id="{FAD4E116-18EE-979F-E91A-264DD7999823}"/>
              </a:ext>
            </a:extLst>
          </p:cNvPr>
          <p:cNvGrpSpPr/>
          <p:nvPr/>
        </p:nvGrpSpPr>
        <p:grpSpPr>
          <a:xfrm>
            <a:off x="9296400" y="2209800"/>
            <a:ext cx="1752600" cy="1428750"/>
            <a:chOff x="9296400" y="2209800"/>
            <a:chExt cx="1752600" cy="1428750"/>
          </a:xfrm>
        </p:grpSpPr>
        <p:sp>
          <p:nvSpPr>
            <p:cNvPr id="36" name="Rectangle 36"/>
            <p:cNvSpPr/>
            <p:nvPr/>
          </p:nvSpPr>
          <p:spPr>
            <a:xfrm>
              <a:off x="9296400" y="2209800"/>
              <a:ext cx="1752600" cy="1428750"/>
            </a:xfrm>
            <a:prstGeom prst="roundRect">
              <a:avLst>
                <a:gd name="adj" fmla="val 12000"/>
              </a:avLst>
            </a:prstGeom>
            <a:solidFill>
              <a:srgbClr val="FFFFFF"/>
            </a:solidFill>
            <a:ln w="9525">
              <a:solidFill>
                <a:srgbClr val="C9D4CB"/>
              </a:solidFill>
            </a:ln>
          </p:spPr>
          <p:txBody>
            <a:bodyPr/>
            <a:lstStyle/>
            <a:p>
              <a:endParaRPr lang="zh-CN" altLang="en-US"/>
            </a:p>
          </p:txBody>
        </p:sp>
        <p:sp>
          <p:nvSpPr>
            <p:cNvPr id="37" name="Ellipse 37"/>
            <p:cNvSpPr/>
            <p:nvPr/>
          </p:nvSpPr>
          <p:spPr>
            <a:xfrm>
              <a:off x="9429750" y="2343150"/>
              <a:ext cx="304800" cy="304800"/>
            </a:xfrm>
            <a:prstGeom prst="ellipse">
              <a:avLst/>
            </a:prstGeom>
            <a:solidFill>
              <a:srgbClr val="DDE8DE"/>
            </a:solidFill>
            <a:ln>
              <a:noFill/>
            </a:ln>
          </p:spPr>
          <p:txBody>
            <a:bodyPr/>
            <a:lstStyle/>
            <a:p>
              <a:endParaRPr lang="zh-CN" altLang="en-US"/>
            </a:p>
          </p:txBody>
        </p:sp>
        <p:sp>
          <p:nvSpPr>
            <p:cNvPr id="38" name="TextBox 38"/>
            <p:cNvSpPr txBox="1"/>
            <p:nvPr/>
          </p:nvSpPr>
          <p:spPr>
            <a:xfrm>
              <a:off x="9537506" y="2415426"/>
              <a:ext cx="89287" cy="205359"/>
            </a:xfrm>
            <a:prstGeom prst="rect">
              <a:avLst/>
            </a:prstGeom>
            <a:noFill/>
            <a:ln>
              <a:noFill/>
            </a:ln>
          </p:spPr>
          <p:txBody>
            <a:bodyPr wrap="none" lIns="0" tIns="0" rIns="0" bIns="0" anchor="t" anchorCtr="0">
              <a:spAutoFit/>
            </a:bodyPr>
            <a:lstStyle/>
            <a:p>
              <a:pPr algn="ctr"/>
              <a:r>
                <a:rPr lang="en-US" sz="1050" b="1" dirty="0">
                  <a:solidFill>
                    <a:srgbClr val="52765A"/>
                  </a:solidFill>
                  <a:latin typeface="+mn-lt"/>
                  <a:ea typeface="+mn-ea"/>
                  <a:cs typeface="+mn-cs"/>
                </a:rPr>
                <a:t>5</a:t>
              </a:r>
            </a:p>
          </p:txBody>
        </p:sp>
        <p:sp>
          <p:nvSpPr>
            <p:cNvPr id="39" name="TextBox 39"/>
            <p:cNvSpPr txBox="1"/>
            <p:nvPr/>
          </p:nvSpPr>
          <p:spPr>
            <a:xfrm>
              <a:off x="9429750" y="2806868"/>
              <a:ext cx="563819" cy="250317"/>
            </a:xfrm>
            <a:prstGeom prst="rect">
              <a:avLst/>
            </a:prstGeom>
            <a:noFill/>
            <a:ln>
              <a:noFill/>
            </a:ln>
          </p:spPr>
          <p:txBody>
            <a:bodyPr wrap="none" lIns="0" tIns="0" rIns="0" bIns="0" anchor="t" anchorCtr="0">
              <a:spAutoFit/>
            </a:bodyPr>
            <a:lstStyle/>
            <a:p>
              <a:pPr algn="l"/>
              <a:r>
                <a:rPr lang="en-US" sz="1280" b="1" dirty="0">
                  <a:solidFill>
                    <a:srgbClr val="1D2B24"/>
                  </a:solidFill>
                  <a:latin typeface="+mn-lt"/>
                  <a:ea typeface="+mn-ea"/>
                  <a:cs typeface="+mn-cs"/>
                </a:rPr>
                <a:t>Bridge</a:t>
              </a:r>
            </a:p>
          </p:txBody>
        </p:sp>
        <p:sp>
          <p:nvSpPr>
            <p:cNvPr id="40" name="TextBox 40"/>
            <p:cNvSpPr txBox="1"/>
            <p:nvPr/>
          </p:nvSpPr>
          <p:spPr>
            <a:xfrm>
              <a:off x="9430893" y="3098968"/>
              <a:ext cx="812156"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native owner</a:t>
              </a:r>
            </a:p>
          </p:txBody>
        </p:sp>
        <p:sp>
          <p:nvSpPr>
            <p:cNvPr id="41" name="TextBox 41"/>
            <p:cNvSpPr txBox="1"/>
            <p:nvPr/>
          </p:nvSpPr>
          <p:spPr>
            <a:xfrm>
              <a:off x="9430893" y="3318043"/>
              <a:ext cx="886461" cy="161583"/>
            </a:xfrm>
            <a:prstGeom prst="rect">
              <a:avLst/>
            </a:prstGeom>
            <a:noFill/>
            <a:ln>
              <a:noFill/>
            </a:ln>
          </p:spPr>
          <p:txBody>
            <a:bodyPr wrap="none" lIns="0" tIns="0" rIns="0" bIns="0" anchor="t" anchorCtr="0">
              <a:spAutoFit/>
            </a:bodyPr>
            <a:lstStyle/>
            <a:p>
              <a:pPr algn="l"/>
              <a:r>
                <a:rPr lang="en-US" sz="1050" dirty="0">
                  <a:solidFill>
                    <a:srgbClr val="657269"/>
                  </a:solidFill>
                </a:rPr>
                <a:t>Move</a:t>
              </a:r>
              <a:r>
                <a:rPr lang="zh-CN" altLang="en-US" sz="1050" dirty="0">
                  <a:solidFill>
                    <a:srgbClr val="657269"/>
                  </a:solidFill>
                </a:rPr>
                <a:t> </a:t>
              </a:r>
              <a:r>
                <a:rPr lang="en-US" altLang="zh-CN" sz="1050" dirty="0">
                  <a:solidFill>
                    <a:srgbClr val="657269"/>
                  </a:solidFill>
                </a:rPr>
                <a:t>and</a:t>
              </a:r>
              <a:r>
                <a:rPr lang="zh-CN" altLang="en-US" sz="1050" dirty="0">
                  <a:solidFill>
                    <a:srgbClr val="657269"/>
                  </a:solidFill>
                </a:rPr>
                <a:t> </a:t>
              </a:r>
              <a:r>
                <a:rPr lang="en-US" altLang="zh-CN" sz="1050" dirty="0">
                  <a:solidFill>
                    <a:srgbClr val="657269"/>
                  </a:solidFill>
                </a:rPr>
                <a:t>hold</a:t>
              </a:r>
              <a:endParaRPr lang="en-US" sz="1050" dirty="0">
                <a:solidFill>
                  <a:srgbClr val="657269"/>
                </a:solidFill>
                <a:latin typeface="+mn-lt"/>
                <a:ea typeface="+mn-ea"/>
                <a:cs typeface="+mn-cs"/>
              </a:endParaRPr>
            </a:p>
          </p:txBody>
        </p:sp>
      </p:grpSp>
      <p:grpSp>
        <p:nvGrpSpPr>
          <p:cNvPr id="55" name="组合 54">
            <a:extLst>
              <a:ext uri="{FF2B5EF4-FFF2-40B4-BE49-F238E27FC236}">
                <a16:creationId xmlns:a16="http://schemas.microsoft.com/office/drawing/2014/main" id="{DCE6014F-0BF5-4F85-4CAC-568D273A39FD}"/>
              </a:ext>
            </a:extLst>
          </p:cNvPr>
          <p:cNvGrpSpPr/>
          <p:nvPr/>
        </p:nvGrpSpPr>
        <p:grpSpPr>
          <a:xfrm>
            <a:off x="609600" y="4095750"/>
            <a:ext cx="10972800" cy="1257300"/>
            <a:chOff x="609600" y="4095750"/>
            <a:chExt cx="10972800" cy="1257300"/>
          </a:xfrm>
        </p:grpSpPr>
        <p:sp>
          <p:nvSpPr>
            <p:cNvPr id="42" name="Rectangle 42"/>
            <p:cNvSpPr/>
            <p:nvPr/>
          </p:nvSpPr>
          <p:spPr>
            <a:xfrm>
              <a:off x="609600" y="4095750"/>
              <a:ext cx="10972800" cy="1257300"/>
            </a:xfrm>
            <a:prstGeom prst="roundRect">
              <a:avLst>
                <a:gd name="adj" fmla="val 13636"/>
              </a:avLst>
            </a:prstGeom>
            <a:solidFill>
              <a:srgbClr val="EEF3EE"/>
            </a:solidFill>
            <a:ln>
              <a:noFill/>
            </a:ln>
          </p:spPr>
          <p:txBody>
            <a:bodyPr/>
            <a:lstStyle/>
            <a:p>
              <a:endParaRPr lang="zh-CN" altLang="en-US"/>
            </a:p>
          </p:txBody>
        </p:sp>
        <p:sp>
          <p:nvSpPr>
            <p:cNvPr id="43" name="TextBox 43"/>
            <p:cNvSpPr txBox="1"/>
            <p:nvPr/>
          </p:nvSpPr>
          <p:spPr>
            <a:xfrm>
              <a:off x="852488" y="4305300"/>
              <a:ext cx="1633667" cy="176212"/>
            </a:xfrm>
            <a:prstGeom prst="rect">
              <a:avLst/>
            </a:prstGeom>
            <a:noFill/>
            <a:ln>
              <a:noFill/>
            </a:ln>
          </p:spPr>
          <p:txBody>
            <a:bodyPr wrap="none" lIns="0" tIns="0" rIns="0" bIns="0" anchor="t" anchorCtr="0">
              <a:spAutoFit/>
            </a:bodyPr>
            <a:lstStyle/>
            <a:p>
              <a:pPr algn="l"/>
              <a:r>
                <a:rPr lang="en-US" sz="900" b="1" spc="98" dirty="0">
                  <a:solidFill>
                    <a:srgbClr val="52765A"/>
                  </a:solidFill>
                  <a:latin typeface="+mn-lt"/>
                  <a:ea typeface="+mn-ea"/>
                  <a:cs typeface="+mn-cs"/>
                </a:rPr>
                <a:t>RETARGETING RULES</a:t>
              </a:r>
            </a:p>
          </p:txBody>
        </p:sp>
        <p:sp>
          <p:nvSpPr>
            <p:cNvPr id="44" name="TextBox 44"/>
            <p:cNvSpPr txBox="1"/>
            <p:nvPr/>
          </p:nvSpPr>
          <p:spPr>
            <a:xfrm>
              <a:off x="851535" y="4530334"/>
              <a:ext cx="4773280" cy="220028"/>
            </a:xfrm>
            <a:prstGeom prst="rect">
              <a:avLst/>
            </a:prstGeom>
            <a:noFill/>
            <a:ln>
              <a:noFill/>
            </a:ln>
          </p:spPr>
          <p:txBody>
            <a:bodyPr wrap="none" lIns="0" tIns="0" rIns="0" bIns="0" anchor="t" anchorCtr="0">
              <a:spAutoFit/>
            </a:bodyPr>
            <a:lstStyle/>
            <a:p>
              <a:pPr marL="89312" indent="-89312" algn="l">
                <a:buClr>
                  <a:srgbClr val="1D2B24"/>
                </a:buClr>
                <a:buSzTx/>
                <a:buFontTx/>
                <a:buChar char="•"/>
              </a:pPr>
              <a:r>
                <a:rPr lang="en-US" sz="1120" dirty="0">
                  <a:solidFill>
                    <a:srgbClr val="1D2B24"/>
                  </a:solidFill>
                  <a:latin typeface="+mn-lt"/>
                  <a:ea typeface="+mn-ea"/>
                  <a:cs typeface="+mn-cs"/>
                </a:rPr>
                <a:t>Wrist orientation is expressed in the palm-local frame before DexPilot.</a:t>
              </a:r>
            </a:p>
          </p:txBody>
        </p:sp>
        <p:sp>
          <p:nvSpPr>
            <p:cNvPr id="45" name="TextBox 45"/>
            <p:cNvSpPr txBox="1"/>
            <p:nvPr/>
          </p:nvSpPr>
          <p:spPr>
            <a:xfrm>
              <a:off x="851535" y="4777984"/>
              <a:ext cx="7153579" cy="220028"/>
            </a:xfrm>
            <a:prstGeom prst="rect">
              <a:avLst/>
            </a:prstGeom>
            <a:noFill/>
            <a:ln>
              <a:noFill/>
            </a:ln>
          </p:spPr>
          <p:txBody>
            <a:bodyPr wrap="none" lIns="0" tIns="0" rIns="0" bIns="0" anchor="t" anchorCtr="0">
              <a:spAutoFit/>
            </a:bodyPr>
            <a:lstStyle/>
            <a:p>
              <a:pPr marL="89312" indent="-89312" algn="l">
                <a:buClr>
                  <a:srgbClr val="1D2B24"/>
                </a:buClr>
                <a:buSzTx/>
                <a:buFontTx/>
                <a:buChar char="•"/>
              </a:pPr>
              <a:r>
                <a:rPr lang="en-US" sz="1120" dirty="0">
                  <a:solidFill>
                    <a:srgbClr val="1D2B24"/>
                  </a:solidFill>
                  <a:latin typeface="+mn-lt"/>
                  <a:ea typeface="+mn-ea"/>
                  <a:cs typeface="+mn-cs"/>
                </a:rPr>
                <a:t>Index / middle / ring joint4 are passive observations; the bridge fills them from the latest measured values.</a:t>
              </a:r>
            </a:p>
          </p:txBody>
        </p:sp>
        <p:sp>
          <p:nvSpPr>
            <p:cNvPr id="46" name="TextBox 46"/>
            <p:cNvSpPr txBox="1"/>
            <p:nvPr/>
          </p:nvSpPr>
          <p:spPr>
            <a:xfrm>
              <a:off x="851535" y="5025634"/>
              <a:ext cx="6181093" cy="220028"/>
            </a:xfrm>
            <a:prstGeom prst="rect">
              <a:avLst/>
            </a:prstGeom>
            <a:noFill/>
            <a:ln>
              <a:noFill/>
            </a:ln>
          </p:spPr>
          <p:txBody>
            <a:bodyPr wrap="none" lIns="0" tIns="0" rIns="0" bIns="0" anchor="t" anchorCtr="0">
              <a:spAutoFit/>
            </a:bodyPr>
            <a:lstStyle/>
            <a:p>
              <a:pPr marL="89312" indent="-89312" algn="l">
                <a:buClr>
                  <a:srgbClr val="1D2B24"/>
                </a:buClr>
                <a:buSzTx/>
                <a:buFontTx/>
                <a:buChar char="•"/>
              </a:pPr>
              <a:r>
                <a:rPr lang="en-US" sz="1120" dirty="0">
                  <a:solidFill>
                    <a:srgbClr val="1D2B24"/>
                  </a:solidFill>
                  <a:latin typeface="+mn-lt"/>
                  <a:ea typeface="+mn-ea"/>
                  <a:cs typeface="+mn-cs"/>
                </a:rPr>
                <a:t>Valid tracking is required before targets are sent; missing wrist orientation means no target.</a:t>
              </a:r>
            </a:p>
          </p:txBody>
        </p:sp>
      </p:grpSp>
      <p:grpSp>
        <p:nvGrpSpPr>
          <p:cNvPr id="56" name="组合 55">
            <a:extLst>
              <a:ext uri="{FF2B5EF4-FFF2-40B4-BE49-F238E27FC236}">
                <a16:creationId xmlns:a16="http://schemas.microsoft.com/office/drawing/2014/main" id="{11B6C031-379B-FDF0-F24B-5574E1563046}"/>
              </a:ext>
            </a:extLst>
          </p:cNvPr>
          <p:cNvGrpSpPr/>
          <p:nvPr/>
        </p:nvGrpSpPr>
        <p:grpSpPr>
          <a:xfrm>
            <a:off x="609600" y="5600700"/>
            <a:ext cx="10972800" cy="419100"/>
            <a:chOff x="609600" y="5600700"/>
            <a:chExt cx="10972800" cy="419100"/>
          </a:xfrm>
        </p:grpSpPr>
        <p:sp>
          <p:nvSpPr>
            <p:cNvPr id="47" name="Rectangle 47"/>
            <p:cNvSpPr/>
            <p:nvPr/>
          </p:nvSpPr>
          <p:spPr>
            <a:xfrm>
              <a:off x="609600" y="5600700"/>
              <a:ext cx="10972800" cy="419100"/>
            </a:xfrm>
            <a:prstGeom prst="roundRect">
              <a:avLst>
                <a:gd name="adj" fmla="val 27273"/>
              </a:avLst>
            </a:prstGeom>
            <a:solidFill>
              <a:srgbClr val="F2EEE7"/>
            </a:solidFill>
            <a:ln>
              <a:noFill/>
            </a:ln>
          </p:spPr>
          <p:txBody>
            <a:bodyPr/>
            <a:lstStyle/>
            <a:p>
              <a:endParaRPr lang="zh-CN" altLang="en-US"/>
            </a:p>
          </p:txBody>
        </p:sp>
        <p:sp>
          <p:nvSpPr>
            <p:cNvPr id="48" name="TextBox 48"/>
            <p:cNvSpPr txBox="1"/>
            <p:nvPr/>
          </p:nvSpPr>
          <p:spPr>
            <a:xfrm>
              <a:off x="832866" y="5730126"/>
              <a:ext cx="7901263" cy="205359"/>
            </a:xfrm>
            <a:prstGeom prst="rect">
              <a:avLst/>
            </a:prstGeom>
            <a:noFill/>
            <a:ln>
              <a:noFill/>
            </a:ln>
          </p:spPr>
          <p:txBody>
            <a:bodyPr wrap="none" lIns="0" tIns="0" rIns="0" bIns="0" anchor="t" anchorCtr="0">
              <a:spAutoFit/>
            </a:bodyPr>
            <a:lstStyle/>
            <a:p>
              <a:pPr algn="l"/>
              <a:r>
                <a:rPr lang="en-US" sz="1050" b="1" dirty="0">
                  <a:solidFill>
                    <a:srgbClr val="1D2B24"/>
                  </a:solidFill>
                  <a:latin typeface="+mn-lt"/>
                  <a:ea typeface="+mn-ea"/>
                  <a:cs typeface="+mn-cs"/>
                </a:rPr>
                <a:t>Watchdog behavior: no fresh command → stop using old targets; fault recovery never auto-enables or auto-resumes.</a:t>
              </a:r>
            </a:p>
          </p:txBody>
        </p:sp>
      </p:grpSp>
    </p:spTree>
  </p:cSld>
  <p:transition xmlns:p="http://schemas.openxmlformats.org/presentationml/2006/main" spd="slow">
    <p:fade/>
  </p:transition>
  <p:clrMapOvr>
    <a:masterClrMapping/>
  </p:clrMapOvr>
  <mc:AlternateContent xmlns:mc="http://schemas.openxmlformats.org/markup-compatibility/2006">
    <mc:Choice xmlns:p14="http://schemas.microsoft.com/office/powerpoint/2010/main" Requires="p1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 name="TextBox 2"/>
          <p:cNvSpPr txBox="1"/>
          <p:nvPr/>
        </p:nvSpPr>
        <p:spPr>
          <a:xfrm>
            <a:off x="604838" y="342900"/>
            <a:ext cx="2049554" cy="176212"/>
          </a:xfrm>
          <a:prstGeom prst="rect">
            <a:avLst/>
          </a:prstGeom>
          <a:noFill/>
          <a:ln>
            <a:noFill/>
          </a:ln>
        </p:spPr>
        <p:txBody>
          <a:bodyPr wrap="none" lIns="0" tIns="0" rIns="0" bIns="0" anchor="t" anchorCtr="0">
            <a:spAutoFit/>
          </a:bodyPr>
          <a:lstStyle/>
          <a:p>
            <a:pPr algn="l"/>
            <a:r>
              <a:rPr lang="en-US" sz="900" b="1" spc="120" dirty="0">
                <a:solidFill>
                  <a:srgbClr val="52765A"/>
                </a:solidFill>
                <a:latin typeface="+mn-lt"/>
                <a:ea typeface="+mn-ea"/>
                <a:cs typeface="+mn-cs"/>
              </a:rPr>
              <a:t>05 / EXECUTION &amp; SAFETY</a:t>
            </a:r>
          </a:p>
        </p:txBody>
      </p:sp>
      <p:sp>
        <p:nvSpPr>
          <p:cNvPr id="3" name="TextBox 3"/>
          <p:cNvSpPr txBox="1"/>
          <p:nvPr/>
        </p:nvSpPr>
        <p:spPr>
          <a:xfrm>
            <a:off x="598170" y="596900"/>
            <a:ext cx="9105532" cy="440055"/>
          </a:xfrm>
          <a:prstGeom prst="rect">
            <a:avLst/>
          </a:prstGeom>
          <a:noFill/>
          <a:ln>
            <a:noFill/>
          </a:ln>
        </p:spPr>
        <p:txBody>
          <a:bodyPr wrap="none" lIns="0" tIns="0" rIns="0" bIns="0" anchor="t" anchorCtr="0">
            <a:spAutoFit/>
          </a:bodyPr>
          <a:lstStyle/>
          <a:p>
            <a:pPr algn="l"/>
            <a:r>
              <a:rPr lang="en-US" sz="2250" b="1" dirty="0">
                <a:solidFill>
                  <a:srgbClr val="1D2B24"/>
                </a:solidFill>
                <a:latin typeface="+mn-lt"/>
                <a:ea typeface="+mn-ea"/>
                <a:cs typeface="+mn-cs"/>
              </a:rPr>
              <a:t>Impedance control is a mode inside a fail-closed state machine</a:t>
            </a:r>
          </a:p>
        </p:txBody>
      </p:sp>
      <p:sp>
        <p:nvSpPr>
          <p:cNvPr id="4" name="TextBox 4"/>
          <p:cNvSpPr txBox="1"/>
          <p:nvPr/>
        </p:nvSpPr>
        <p:spPr>
          <a:xfrm>
            <a:off x="603504" y="1000125"/>
            <a:ext cx="7460983" cy="234696"/>
          </a:xfrm>
          <a:prstGeom prst="rect">
            <a:avLst/>
          </a:prstGeom>
          <a:noFill/>
          <a:ln>
            <a:noFill/>
          </a:ln>
        </p:spPr>
        <p:txBody>
          <a:bodyPr wrap="none" lIns="0" tIns="0" rIns="0" bIns="0" anchor="t" anchorCtr="0">
            <a:spAutoFit/>
          </a:bodyPr>
          <a:lstStyle/>
          <a:p>
            <a:pPr algn="l"/>
            <a:r>
              <a:rPr lang="en-US" sz="1200" dirty="0">
                <a:solidFill>
                  <a:srgbClr val="657269"/>
                </a:solidFill>
                <a:latin typeface="+mn-lt"/>
                <a:ea typeface="+mn-ea"/>
                <a:cs typeface="+mn-cs"/>
              </a:rPr>
              <a:t>The operator can move the system only after explicit readiness, authorization, and fresh communication.</a:t>
            </a:r>
          </a:p>
        </p:txBody>
      </p:sp>
      <p:sp>
        <p:nvSpPr>
          <p:cNvPr id="5" name="Line 5"/>
          <p:cNvSpPr/>
          <p:nvPr/>
        </p:nvSpPr>
        <p:spPr>
          <a:xfrm>
            <a:off x="609600" y="1381125"/>
            <a:ext cx="10972800" cy="9525"/>
          </a:xfrm>
          <a:custGeom>
            <a:avLst/>
            <a:gdLst/>
            <a:ahLst/>
            <a:cxnLst/>
            <a:rect l="l" t="t" r="r" b="b"/>
            <a:pathLst>
              <a:path w="10972800" h="9525">
                <a:moveTo>
                  <a:pt x="0" y="0"/>
                </a:moveTo>
                <a:lnTo>
                  <a:pt x="10972800" y="0"/>
                </a:lnTo>
              </a:path>
            </a:pathLst>
          </a:custGeom>
          <a:noFill/>
          <a:ln w="9525">
            <a:solidFill>
              <a:srgbClr val="C9D4CB"/>
            </a:solidFill>
          </a:ln>
        </p:spPr>
        <p:txBody>
          <a:bodyPr/>
          <a:lstStyle/>
          <a:p>
            <a:endParaRPr lang="zh-CN" altLang="en-US"/>
          </a:p>
        </p:txBody>
      </p:sp>
      <p:sp>
        <p:nvSpPr>
          <p:cNvPr id="6" name="TextBox 6"/>
          <p:cNvSpPr txBox="1"/>
          <p:nvPr/>
        </p:nvSpPr>
        <p:spPr>
          <a:xfrm>
            <a:off x="604838" y="6464300"/>
            <a:ext cx="3027374" cy="147638"/>
          </a:xfrm>
          <a:prstGeom prst="rect">
            <a:avLst/>
          </a:prstGeom>
          <a:noFill/>
          <a:ln>
            <a:noFill/>
          </a:ln>
        </p:spPr>
        <p:txBody>
          <a:bodyPr wrap="none" lIns="0" tIns="0" rIns="0" bIns="0" anchor="t" anchorCtr="0">
            <a:spAutoFit/>
          </a:bodyPr>
          <a:lstStyle/>
          <a:p>
            <a:pPr algn="l"/>
            <a:r>
              <a:rPr lang="en-US" sz="750" b="1" spc="60" dirty="0">
                <a:solidFill>
                  <a:srgbClr val="657269"/>
                </a:solidFill>
                <a:latin typeface="+mn-lt"/>
                <a:ea typeface="+mn-ea"/>
                <a:cs typeface="+mn-cs"/>
              </a:rPr>
              <a:t>DEXMAN_LEROBOT / VR TELEOPERATION SYSTEM</a:t>
            </a:r>
          </a:p>
        </p:txBody>
      </p:sp>
      <p:sp>
        <p:nvSpPr>
          <p:cNvPr id="7" name="TextBox 7"/>
          <p:cNvSpPr txBox="1"/>
          <p:nvPr/>
        </p:nvSpPr>
        <p:spPr>
          <a:xfrm>
            <a:off x="11268866" y="6464300"/>
            <a:ext cx="318296" cy="147638"/>
          </a:xfrm>
          <a:prstGeom prst="rect">
            <a:avLst/>
          </a:prstGeom>
          <a:noFill/>
          <a:ln>
            <a:noFill/>
          </a:ln>
        </p:spPr>
        <p:txBody>
          <a:bodyPr wrap="none" lIns="0" tIns="0" rIns="0" bIns="0" anchor="t" anchorCtr="0">
            <a:spAutoFit/>
          </a:bodyPr>
          <a:lstStyle/>
          <a:p>
            <a:pPr algn="r"/>
            <a:r>
              <a:rPr lang="en-US" sz="750" b="1" dirty="0">
                <a:solidFill>
                  <a:srgbClr val="657269"/>
                </a:solidFill>
                <a:latin typeface="+mn-lt"/>
                <a:ea typeface="+mn-ea"/>
                <a:cs typeface="+mn-cs"/>
              </a:rPr>
              <a:t>05 / 10</a:t>
            </a:r>
          </a:p>
        </p:txBody>
      </p:sp>
      <p:sp>
        <p:nvSpPr>
          <p:cNvPr id="8" name="Rectangle 8"/>
          <p:cNvSpPr/>
          <p:nvPr/>
        </p:nvSpPr>
        <p:spPr>
          <a:xfrm>
            <a:off x="609600" y="1752600"/>
            <a:ext cx="3429000" cy="3619500"/>
          </a:xfrm>
          <a:prstGeom prst="roundRect">
            <a:avLst>
              <a:gd name="adj" fmla="val 5000"/>
            </a:avLst>
          </a:prstGeom>
          <a:solidFill>
            <a:srgbClr val="FFFFFF"/>
          </a:solidFill>
          <a:ln w="9525">
            <a:solidFill>
              <a:srgbClr val="C9D4CB"/>
            </a:solidFill>
          </a:ln>
        </p:spPr>
        <p:txBody>
          <a:bodyPr/>
          <a:lstStyle/>
          <a:p>
            <a:endParaRPr lang="zh-CN" altLang="en-US"/>
          </a:p>
        </p:txBody>
      </p:sp>
      <p:sp>
        <p:nvSpPr>
          <p:cNvPr id="9" name="TextBox 9"/>
          <p:cNvSpPr txBox="1"/>
          <p:nvPr/>
        </p:nvSpPr>
        <p:spPr>
          <a:xfrm>
            <a:off x="870966" y="1968500"/>
            <a:ext cx="1417231" cy="205359"/>
          </a:xfrm>
          <a:prstGeom prst="rect">
            <a:avLst/>
          </a:prstGeom>
          <a:noFill/>
          <a:ln>
            <a:noFill/>
          </a:ln>
        </p:spPr>
        <p:txBody>
          <a:bodyPr wrap="none" lIns="0" tIns="0" rIns="0" bIns="0" anchor="t" anchorCtr="0">
            <a:spAutoFit/>
          </a:bodyPr>
          <a:lstStyle/>
          <a:p>
            <a:pPr algn="l"/>
            <a:r>
              <a:rPr lang="en-US" sz="1050" b="1" spc="90" dirty="0">
                <a:solidFill>
                  <a:srgbClr val="52765A"/>
                </a:solidFill>
                <a:latin typeface="+mn-lt"/>
                <a:ea typeface="+mn-ea"/>
                <a:cs typeface="+mn-cs"/>
              </a:rPr>
              <a:t>ARM EXECUTION</a:t>
            </a:r>
          </a:p>
        </p:txBody>
      </p:sp>
      <p:sp>
        <p:nvSpPr>
          <p:cNvPr id="10" name="Rectangle 10"/>
          <p:cNvSpPr/>
          <p:nvPr/>
        </p:nvSpPr>
        <p:spPr>
          <a:xfrm>
            <a:off x="876300" y="2381250"/>
            <a:ext cx="2895600" cy="666750"/>
          </a:xfrm>
          <a:prstGeom prst="roundRect">
            <a:avLst>
              <a:gd name="adj" fmla="val 20000"/>
            </a:avLst>
          </a:prstGeom>
          <a:solidFill>
            <a:srgbClr val="EEF3EE"/>
          </a:solidFill>
          <a:ln>
            <a:noFill/>
          </a:ln>
        </p:spPr>
        <p:txBody>
          <a:bodyPr/>
          <a:lstStyle/>
          <a:p>
            <a:endParaRPr lang="zh-CN" altLang="en-US"/>
          </a:p>
        </p:txBody>
      </p:sp>
      <p:sp>
        <p:nvSpPr>
          <p:cNvPr id="11" name="TextBox 11"/>
          <p:cNvSpPr txBox="1"/>
          <p:nvPr/>
        </p:nvSpPr>
        <p:spPr>
          <a:xfrm>
            <a:off x="1059942" y="2482850"/>
            <a:ext cx="931245" cy="264033"/>
          </a:xfrm>
          <a:prstGeom prst="rect">
            <a:avLst/>
          </a:prstGeom>
          <a:noFill/>
          <a:ln>
            <a:noFill/>
          </a:ln>
        </p:spPr>
        <p:txBody>
          <a:bodyPr wrap="none" lIns="0" tIns="0" rIns="0" bIns="0" anchor="t" anchorCtr="0">
            <a:spAutoFit/>
          </a:bodyPr>
          <a:lstStyle/>
          <a:p>
            <a:pPr algn="l"/>
            <a:r>
              <a:rPr lang="en-US" sz="1350" b="1" dirty="0">
                <a:solidFill>
                  <a:srgbClr val="1D2B24"/>
                </a:solidFill>
                <a:latin typeface="+mn-lt"/>
                <a:ea typeface="+mn-ea"/>
                <a:cs typeface="+mn-cs"/>
              </a:rPr>
              <a:t>POSITION</a:t>
            </a:r>
          </a:p>
        </p:txBody>
      </p:sp>
      <p:sp>
        <p:nvSpPr>
          <p:cNvPr id="12" name="TextBox 12"/>
          <p:cNvSpPr txBox="1"/>
          <p:nvPr/>
        </p:nvSpPr>
        <p:spPr>
          <a:xfrm>
            <a:off x="1062038" y="2762250"/>
            <a:ext cx="1757987" cy="176212"/>
          </a:xfrm>
          <a:prstGeom prst="rect">
            <a:avLst/>
          </a:prstGeom>
          <a:noFill/>
          <a:ln>
            <a:noFill/>
          </a:ln>
        </p:spPr>
        <p:txBody>
          <a:bodyPr wrap="none" lIns="0" tIns="0" rIns="0" bIns="0" anchor="t" anchorCtr="0">
            <a:spAutoFit/>
          </a:bodyPr>
          <a:lstStyle/>
          <a:p>
            <a:pPr algn="l"/>
            <a:r>
              <a:rPr lang="en-US" sz="900" dirty="0">
                <a:solidFill>
                  <a:srgbClr val="657269"/>
                </a:solidFill>
                <a:latin typeface="+mn-lt"/>
                <a:ea typeface="+mn-ea"/>
                <a:cs typeface="+mn-cs"/>
              </a:rPr>
              <a:t>servoJ_ex • ah_t 0.05 • gain 150</a:t>
            </a:r>
          </a:p>
        </p:txBody>
      </p:sp>
      <p:sp>
        <p:nvSpPr>
          <p:cNvPr id="13" name="Rectangle 13"/>
          <p:cNvSpPr/>
          <p:nvPr/>
        </p:nvSpPr>
        <p:spPr>
          <a:xfrm>
            <a:off x="876300" y="3238500"/>
            <a:ext cx="2895600" cy="666750"/>
          </a:xfrm>
          <a:prstGeom prst="roundRect">
            <a:avLst>
              <a:gd name="adj" fmla="val 20000"/>
            </a:avLst>
          </a:prstGeom>
          <a:solidFill>
            <a:srgbClr val="DDE8DE"/>
          </a:solidFill>
          <a:ln>
            <a:noFill/>
          </a:ln>
        </p:spPr>
        <p:txBody>
          <a:bodyPr/>
          <a:lstStyle/>
          <a:p>
            <a:endParaRPr lang="zh-CN" altLang="en-US"/>
          </a:p>
        </p:txBody>
      </p:sp>
      <p:sp>
        <p:nvSpPr>
          <p:cNvPr id="14" name="TextBox 14"/>
          <p:cNvSpPr txBox="1"/>
          <p:nvPr/>
        </p:nvSpPr>
        <p:spPr>
          <a:xfrm>
            <a:off x="1059942" y="3340100"/>
            <a:ext cx="2339511" cy="264033"/>
          </a:xfrm>
          <a:prstGeom prst="rect">
            <a:avLst/>
          </a:prstGeom>
          <a:noFill/>
          <a:ln>
            <a:noFill/>
          </a:ln>
        </p:spPr>
        <p:txBody>
          <a:bodyPr wrap="none" lIns="0" tIns="0" rIns="0" bIns="0" anchor="t" anchorCtr="0">
            <a:spAutoFit/>
          </a:bodyPr>
          <a:lstStyle/>
          <a:p>
            <a:pPr algn="l"/>
            <a:r>
              <a:rPr lang="en-US" sz="1350" b="1" dirty="0">
                <a:solidFill>
                  <a:srgbClr val="1D2B24"/>
                </a:solidFill>
                <a:latin typeface="+mn-lt"/>
                <a:ea typeface="+mn-ea"/>
                <a:cs typeface="+mn-cs"/>
              </a:rPr>
              <a:t>CARTESIAN IMPEDANCE</a:t>
            </a:r>
          </a:p>
        </p:txBody>
      </p:sp>
      <p:sp>
        <p:nvSpPr>
          <p:cNvPr id="15" name="TextBox 15"/>
          <p:cNvSpPr txBox="1"/>
          <p:nvPr/>
        </p:nvSpPr>
        <p:spPr>
          <a:xfrm>
            <a:off x="1062038" y="3619500"/>
            <a:ext cx="1383360" cy="176212"/>
          </a:xfrm>
          <a:prstGeom prst="rect">
            <a:avLst/>
          </a:prstGeom>
          <a:noFill/>
          <a:ln>
            <a:noFill/>
          </a:ln>
        </p:spPr>
        <p:txBody>
          <a:bodyPr wrap="none" lIns="0" tIns="0" rIns="0" bIns="0" anchor="t" anchorCtr="0">
            <a:spAutoFit/>
          </a:bodyPr>
          <a:lstStyle/>
          <a:p>
            <a:pPr algn="l"/>
            <a:r>
              <a:rPr lang="en-US" sz="900" dirty="0">
                <a:solidFill>
                  <a:srgbClr val="657269"/>
                </a:solidFill>
                <a:latin typeface="+mn-lt"/>
                <a:ea typeface="+mn-ea"/>
                <a:cs typeface="+mn-cs"/>
              </a:rPr>
              <a:t>set once per mode switch</a:t>
            </a:r>
          </a:p>
        </p:txBody>
      </p:sp>
      <p:sp>
        <p:nvSpPr>
          <p:cNvPr id="16" name="TextBox 16"/>
          <p:cNvSpPr txBox="1"/>
          <p:nvPr/>
        </p:nvSpPr>
        <p:spPr>
          <a:xfrm>
            <a:off x="870966" y="4140200"/>
            <a:ext cx="863631" cy="205359"/>
          </a:xfrm>
          <a:prstGeom prst="rect">
            <a:avLst/>
          </a:prstGeom>
          <a:noFill/>
          <a:ln>
            <a:noFill/>
          </a:ln>
        </p:spPr>
        <p:txBody>
          <a:bodyPr wrap="none" lIns="0" tIns="0" rIns="0" bIns="0" anchor="t" anchorCtr="0">
            <a:spAutoFit/>
          </a:bodyPr>
          <a:lstStyle/>
          <a:p>
            <a:pPr algn="l"/>
            <a:r>
              <a:rPr lang="en-US" sz="1050" b="1" dirty="0">
                <a:solidFill>
                  <a:srgbClr val="1D2B24"/>
                </a:solidFill>
                <a:latin typeface="+mn-lt"/>
                <a:ea typeface="+mn-ea"/>
                <a:cs typeface="+mn-cs"/>
              </a:rPr>
              <a:t>Mode switch</a:t>
            </a:r>
          </a:p>
        </p:txBody>
      </p:sp>
      <p:sp>
        <p:nvSpPr>
          <p:cNvPr id="17" name="TextBox 17"/>
          <p:cNvSpPr txBox="1"/>
          <p:nvPr/>
        </p:nvSpPr>
        <p:spPr>
          <a:xfrm>
            <a:off x="870966" y="4387850"/>
            <a:ext cx="2430541"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stop servo → change mode → resume</a:t>
            </a:r>
          </a:p>
        </p:txBody>
      </p:sp>
      <p:sp>
        <p:nvSpPr>
          <p:cNvPr id="18" name="TextBox 18"/>
          <p:cNvSpPr txBox="1"/>
          <p:nvPr/>
        </p:nvSpPr>
        <p:spPr>
          <a:xfrm>
            <a:off x="870966" y="4730750"/>
            <a:ext cx="949576" cy="205359"/>
          </a:xfrm>
          <a:prstGeom prst="rect">
            <a:avLst/>
          </a:prstGeom>
          <a:noFill/>
          <a:ln>
            <a:noFill/>
          </a:ln>
        </p:spPr>
        <p:txBody>
          <a:bodyPr wrap="none" lIns="0" tIns="0" rIns="0" bIns="0" anchor="t" anchorCtr="0">
            <a:spAutoFit/>
          </a:bodyPr>
          <a:lstStyle/>
          <a:p>
            <a:pPr algn="l"/>
            <a:r>
              <a:rPr lang="en-US" sz="1050" b="1" dirty="0">
                <a:solidFill>
                  <a:srgbClr val="1D2B24"/>
                </a:solidFill>
                <a:latin typeface="+mn-lt"/>
                <a:ea typeface="+mn-ea"/>
                <a:cs typeface="+mn-cs"/>
              </a:rPr>
              <a:t>Normal follow</a:t>
            </a:r>
          </a:p>
        </p:txBody>
      </p:sp>
      <p:sp>
        <p:nvSpPr>
          <p:cNvPr id="19" name="TextBox 19"/>
          <p:cNvSpPr txBox="1"/>
          <p:nvPr/>
        </p:nvSpPr>
        <p:spPr>
          <a:xfrm>
            <a:off x="870966" y="4978400"/>
            <a:ext cx="2536639" cy="205359"/>
          </a:xfrm>
          <a:prstGeom prst="rect">
            <a:avLst/>
          </a:prstGeom>
          <a:noFill/>
          <a:ln>
            <a:noFill/>
          </a:ln>
        </p:spPr>
        <p:txBody>
          <a:bodyPr wrap="none" lIns="0" tIns="0" rIns="0" bIns="0" anchor="t" anchorCtr="0">
            <a:spAutoFit/>
          </a:bodyPr>
          <a:lstStyle/>
          <a:p>
            <a:pPr algn="l"/>
            <a:r>
              <a:rPr lang="en-US" sz="1050" dirty="0">
                <a:solidFill>
                  <a:srgbClr val="657269"/>
                </a:solidFill>
                <a:latin typeface="+mn-lt"/>
                <a:ea typeface="+mn-ea"/>
                <a:cs typeface="+mn-cs"/>
              </a:rPr>
              <a:t>servo horizon = max(40 ms, planning dt)</a:t>
            </a:r>
          </a:p>
        </p:txBody>
      </p:sp>
      <p:sp>
        <p:nvSpPr>
          <p:cNvPr id="20" name="Rectangle 20"/>
          <p:cNvSpPr/>
          <p:nvPr/>
        </p:nvSpPr>
        <p:spPr>
          <a:xfrm>
            <a:off x="4686300" y="1752600"/>
            <a:ext cx="1200150" cy="266700"/>
          </a:xfrm>
          <a:prstGeom prst="roundRect">
            <a:avLst>
              <a:gd name="adj" fmla="val 50000"/>
            </a:avLst>
          </a:prstGeom>
          <a:solidFill>
            <a:srgbClr val="DDE8DE"/>
          </a:solidFill>
          <a:ln>
            <a:noFill/>
          </a:ln>
        </p:spPr>
        <p:txBody>
          <a:bodyPr/>
          <a:lstStyle/>
          <a:p>
            <a:endParaRPr lang="zh-CN" altLang="en-US"/>
          </a:p>
        </p:txBody>
      </p:sp>
      <p:sp>
        <p:nvSpPr>
          <p:cNvPr id="21" name="TextBox 21"/>
          <p:cNvSpPr txBox="1"/>
          <p:nvPr/>
        </p:nvSpPr>
        <p:spPr>
          <a:xfrm>
            <a:off x="4819270" y="1819275"/>
            <a:ext cx="934210" cy="176212"/>
          </a:xfrm>
          <a:prstGeom prst="rect">
            <a:avLst/>
          </a:prstGeom>
          <a:noFill/>
          <a:ln>
            <a:noFill/>
          </a:ln>
        </p:spPr>
        <p:txBody>
          <a:bodyPr wrap="none" lIns="0" tIns="0" rIns="0" bIns="0" anchor="t" anchorCtr="0">
            <a:spAutoFit/>
          </a:bodyPr>
          <a:lstStyle/>
          <a:p>
            <a:pPr algn="ctr"/>
            <a:r>
              <a:rPr lang="en-US" sz="900" b="1" dirty="0">
                <a:solidFill>
                  <a:srgbClr val="52765A"/>
                </a:solidFill>
                <a:latin typeface="+mn-lt"/>
                <a:ea typeface="+mn-ea"/>
                <a:cs typeface="+mn-cs"/>
              </a:rPr>
              <a:t>READY GATES</a:t>
            </a:r>
          </a:p>
        </p:txBody>
      </p:sp>
      <p:sp>
        <p:nvSpPr>
          <p:cNvPr id="22" name="Rectangle 22"/>
          <p:cNvSpPr/>
          <p:nvPr/>
        </p:nvSpPr>
        <p:spPr>
          <a:xfrm>
            <a:off x="4533900" y="2190750"/>
            <a:ext cx="2952750" cy="3181350"/>
          </a:xfrm>
          <a:prstGeom prst="roundRect">
            <a:avLst>
              <a:gd name="adj" fmla="val 5806"/>
            </a:avLst>
          </a:prstGeom>
          <a:solidFill>
            <a:srgbClr val="EEF3EE"/>
          </a:solidFill>
          <a:ln w="9525">
            <a:solidFill>
              <a:srgbClr val="C9D4CB"/>
            </a:solidFill>
          </a:ln>
        </p:spPr>
        <p:txBody>
          <a:bodyPr/>
          <a:lstStyle/>
          <a:p>
            <a:endParaRPr lang="zh-CN" altLang="en-US"/>
          </a:p>
        </p:txBody>
      </p:sp>
      <p:sp>
        <p:nvSpPr>
          <p:cNvPr id="23" name="Ellipse 23"/>
          <p:cNvSpPr/>
          <p:nvPr/>
        </p:nvSpPr>
        <p:spPr>
          <a:xfrm>
            <a:off x="4781550" y="2505075"/>
            <a:ext cx="152400" cy="152400"/>
          </a:xfrm>
          <a:prstGeom prst="ellipse">
            <a:avLst/>
          </a:prstGeom>
          <a:solidFill>
            <a:srgbClr val="52765A"/>
          </a:solidFill>
          <a:ln>
            <a:noFill/>
          </a:ln>
        </p:spPr>
        <p:txBody>
          <a:bodyPr/>
          <a:lstStyle/>
          <a:p>
            <a:endParaRPr lang="zh-CN" altLang="en-US"/>
          </a:p>
        </p:txBody>
      </p:sp>
      <p:sp>
        <p:nvSpPr>
          <p:cNvPr id="24" name="TextBox 24"/>
          <p:cNvSpPr txBox="1"/>
          <p:nvPr/>
        </p:nvSpPr>
        <p:spPr>
          <a:xfrm>
            <a:off x="5042535" y="2489200"/>
            <a:ext cx="781624" cy="220028"/>
          </a:xfrm>
          <a:prstGeom prst="rect">
            <a:avLst/>
          </a:prstGeom>
          <a:noFill/>
          <a:ln>
            <a:noFill/>
          </a:ln>
        </p:spPr>
        <p:txBody>
          <a:bodyPr wrap="none" lIns="0" tIns="0" rIns="0" bIns="0" anchor="t" anchorCtr="0">
            <a:spAutoFit/>
          </a:bodyPr>
          <a:lstStyle/>
          <a:p>
            <a:pPr algn="l"/>
            <a:r>
              <a:rPr lang="en-US" sz="1120" b="1" dirty="0">
                <a:solidFill>
                  <a:srgbClr val="1D2B24"/>
                </a:solidFill>
                <a:latin typeface="+mn-lt"/>
                <a:ea typeface="+mn-ea"/>
                <a:cs typeface="+mn-cs"/>
              </a:rPr>
              <a:t>PREPARE</a:t>
            </a:r>
          </a:p>
        </p:txBody>
      </p:sp>
      <p:sp>
        <p:nvSpPr>
          <p:cNvPr id="25" name="TextBox 25"/>
          <p:cNvSpPr txBox="1"/>
          <p:nvPr/>
        </p:nvSpPr>
        <p:spPr>
          <a:xfrm>
            <a:off x="5043297" y="2711450"/>
            <a:ext cx="1333588" cy="191643"/>
          </a:xfrm>
          <a:prstGeom prst="rect">
            <a:avLst/>
          </a:prstGeom>
          <a:noFill/>
          <a:ln>
            <a:noFill/>
          </a:ln>
        </p:spPr>
        <p:txBody>
          <a:bodyPr wrap="none" lIns="0" tIns="0" rIns="0" bIns="0" anchor="t" anchorCtr="0">
            <a:spAutoFit/>
          </a:bodyPr>
          <a:lstStyle/>
          <a:p>
            <a:pPr algn="l"/>
            <a:r>
              <a:rPr lang="en-US" sz="980" dirty="0">
                <a:solidFill>
                  <a:srgbClr val="657269"/>
                </a:solidFill>
                <a:latin typeface="+mn-lt"/>
                <a:ea typeface="+mn-ea"/>
                <a:cs typeface="+mn-cs"/>
              </a:rPr>
              <a:t>fresh hand + arm state</a:t>
            </a:r>
          </a:p>
        </p:txBody>
      </p:sp>
      <p:sp>
        <p:nvSpPr>
          <p:cNvPr id="26" name="Line 26"/>
          <p:cNvSpPr/>
          <p:nvPr/>
        </p:nvSpPr>
        <p:spPr>
          <a:xfrm>
            <a:off x="4857750" y="2705100"/>
            <a:ext cx="9525" cy="285750"/>
          </a:xfrm>
          <a:custGeom>
            <a:avLst/>
            <a:gdLst/>
            <a:ahLst/>
            <a:cxnLst/>
            <a:rect l="l" t="t" r="r" b="b"/>
            <a:pathLst>
              <a:path w="9525" h="285750">
                <a:moveTo>
                  <a:pt x="0" y="0"/>
                </a:moveTo>
                <a:lnTo>
                  <a:pt x="0" y="285750"/>
                </a:lnTo>
              </a:path>
            </a:pathLst>
          </a:custGeom>
          <a:noFill/>
          <a:ln w="19050">
            <a:solidFill>
              <a:srgbClr val="C9D4CB"/>
            </a:solidFill>
          </a:ln>
        </p:spPr>
        <p:txBody>
          <a:bodyPr/>
          <a:lstStyle/>
          <a:p>
            <a:endParaRPr lang="zh-CN" altLang="en-US"/>
          </a:p>
        </p:txBody>
      </p:sp>
      <p:sp>
        <p:nvSpPr>
          <p:cNvPr id="27" name="Ellipse 27"/>
          <p:cNvSpPr/>
          <p:nvPr/>
        </p:nvSpPr>
        <p:spPr>
          <a:xfrm>
            <a:off x="4781550" y="3152775"/>
            <a:ext cx="152400" cy="152400"/>
          </a:xfrm>
          <a:prstGeom prst="ellipse">
            <a:avLst/>
          </a:prstGeom>
          <a:solidFill>
            <a:srgbClr val="52765A"/>
          </a:solidFill>
          <a:ln>
            <a:noFill/>
          </a:ln>
        </p:spPr>
        <p:txBody>
          <a:bodyPr/>
          <a:lstStyle/>
          <a:p>
            <a:endParaRPr lang="zh-CN" altLang="en-US"/>
          </a:p>
        </p:txBody>
      </p:sp>
      <p:sp>
        <p:nvSpPr>
          <p:cNvPr id="28" name="TextBox 28"/>
          <p:cNvSpPr txBox="1"/>
          <p:nvPr/>
        </p:nvSpPr>
        <p:spPr>
          <a:xfrm>
            <a:off x="5042535" y="3136900"/>
            <a:ext cx="940678" cy="220028"/>
          </a:xfrm>
          <a:prstGeom prst="rect">
            <a:avLst/>
          </a:prstGeom>
          <a:noFill/>
          <a:ln>
            <a:noFill/>
          </a:ln>
        </p:spPr>
        <p:txBody>
          <a:bodyPr wrap="none" lIns="0" tIns="0" rIns="0" bIns="0" anchor="t" anchorCtr="0">
            <a:spAutoFit/>
          </a:bodyPr>
          <a:lstStyle/>
          <a:p>
            <a:pPr algn="l"/>
            <a:r>
              <a:rPr lang="en-US" sz="1120" b="1" dirty="0">
                <a:solidFill>
                  <a:srgbClr val="1D2B24"/>
                </a:solidFill>
                <a:latin typeface="+mn-lt"/>
                <a:ea typeface="+mn-ea"/>
                <a:cs typeface="+mn-cs"/>
              </a:rPr>
              <a:t>AUTHORIZE</a:t>
            </a:r>
          </a:p>
        </p:txBody>
      </p:sp>
      <p:sp>
        <p:nvSpPr>
          <p:cNvPr id="29" name="TextBox 29"/>
          <p:cNvSpPr txBox="1"/>
          <p:nvPr/>
        </p:nvSpPr>
        <p:spPr>
          <a:xfrm>
            <a:off x="5043297" y="3359150"/>
            <a:ext cx="1269593" cy="191643"/>
          </a:xfrm>
          <a:prstGeom prst="rect">
            <a:avLst/>
          </a:prstGeom>
          <a:noFill/>
          <a:ln>
            <a:noFill/>
          </a:ln>
        </p:spPr>
        <p:txBody>
          <a:bodyPr wrap="none" lIns="0" tIns="0" rIns="0" bIns="0" anchor="t" anchorCtr="0">
            <a:spAutoFit/>
          </a:bodyPr>
          <a:lstStyle/>
          <a:p>
            <a:pPr algn="l"/>
            <a:r>
              <a:rPr lang="en-US" sz="980" dirty="0">
                <a:solidFill>
                  <a:srgbClr val="657269"/>
                </a:solidFill>
                <a:latin typeface="+mn-lt"/>
                <a:ea typeface="+mn-ea"/>
                <a:cs typeface="+mn-cs"/>
              </a:rPr>
              <a:t>computer + VR ready</a:t>
            </a:r>
          </a:p>
        </p:txBody>
      </p:sp>
      <p:sp>
        <p:nvSpPr>
          <p:cNvPr id="30" name="Line 30"/>
          <p:cNvSpPr/>
          <p:nvPr/>
        </p:nvSpPr>
        <p:spPr>
          <a:xfrm>
            <a:off x="4857750" y="3352800"/>
            <a:ext cx="9525" cy="285750"/>
          </a:xfrm>
          <a:custGeom>
            <a:avLst/>
            <a:gdLst/>
            <a:ahLst/>
            <a:cxnLst/>
            <a:rect l="l" t="t" r="r" b="b"/>
            <a:pathLst>
              <a:path w="9525" h="285750">
                <a:moveTo>
                  <a:pt x="0" y="0"/>
                </a:moveTo>
                <a:lnTo>
                  <a:pt x="0" y="285750"/>
                </a:lnTo>
              </a:path>
            </a:pathLst>
          </a:custGeom>
          <a:noFill/>
          <a:ln w="19050">
            <a:solidFill>
              <a:srgbClr val="C9D4CB"/>
            </a:solidFill>
          </a:ln>
        </p:spPr>
        <p:txBody>
          <a:bodyPr/>
          <a:lstStyle/>
          <a:p>
            <a:endParaRPr lang="zh-CN" altLang="en-US"/>
          </a:p>
        </p:txBody>
      </p:sp>
      <p:sp>
        <p:nvSpPr>
          <p:cNvPr id="31" name="Ellipse 31"/>
          <p:cNvSpPr/>
          <p:nvPr/>
        </p:nvSpPr>
        <p:spPr>
          <a:xfrm>
            <a:off x="4781550" y="3800475"/>
            <a:ext cx="152400" cy="152400"/>
          </a:xfrm>
          <a:prstGeom prst="ellipse">
            <a:avLst/>
          </a:prstGeom>
          <a:solidFill>
            <a:srgbClr val="52765A"/>
          </a:solidFill>
          <a:ln>
            <a:noFill/>
          </a:ln>
        </p:spPr>
        <p:txBody>
          <a:bodyPr/>
          <a:lstStyle/>
          <a:p>
            <a:endParaRPr lang="zh-CN" altLang="en-US"/>
          </a:p>
        </p:txBody>
      </p:sp>
      <p:sp>
        <p:nvSpPr>
          <p:cNvPr id="32" name="TextBox 32"/>
          <p:cNvSpPr txBox="1"/>
          <p:nvPr/>
        </p:nvSpPr>
        <p:spPr>
          <a:xfrm>
            <a:off x="5042535" y="3784600"/>
            <a:ext cx="701524" cy="220028"/>
          </a:xfrm>
          <a:prstGeom prst="rect">
            <a:avLst/>
          </a:prstGeom>
          <a:noFill/>
          <a:ln>
            <a:noFill/>
          </a:ln>
        </p:spPr>
        <p:txBody>
          <a:bodyPr wrap="none" lIns="0" tIns="0" rIns="0" bIns="0" anchor="t" anchorCtr="0">
            <a:spAutoFit/>
          </a:bodyPr>
          <a:lstStyle/>
          <a:p>
            <a:pPr algn="l"/>
            <a:r>
              <a:rPr lang="en-US" sz="1120" b="1" dirty="0">
                <a:solidFill>
                  <a:srgbClr val="1D2B24"/>
                </a:solidFill>
                <a:latin typeface="+mn-lt"/>
                <a:ea typeface="+mn-ea"/>
                <a:cs typeface="+mn-cs"/>
              </a:rPr>
              <a:t>FOLLOW</a:t>
            </a:r>
          </a:p>
        </p:txBody>
      </p:sp>
      <p:sp>
        <p:nvSpPr>
          <p:cNvPr id="33" name="TextBox 33"/>
          <p:cNvSpPr txBox="1"/>
          <p:nvPr/>
        </p:nvSpPr>
        <p:spPr>
          <a:xfrm>
            <a:off x="5043297" y="4006850"/>
            <a:ext cx="1256622" cy="191643"/>
          </a:xfrm>
          <a:prstGeom prst="rect">
            <a:avLst/>
          </a:prstGeom>
          <a:noFill/>
          <a:ln>
            <a:noFill/>
          </a:ln>
        </p:spPr>
        <p:txBody>
          <a:bodyPr wrap="none" lIns="0" tIns="0" rIns="0" bIns="0" anchor="t" anchorCtr="0">
            <a:spAutoFit/>
          </a:bodyPr>
          <a:lstStyle/>
          <a:p>
            <a:pPr algn="l"/>
            <a:r>
              <a:rPr lang="en-US" sz="980" dirty="0">
                <a:solidFill>
                  <a:srgbClr val="657269"/>
                </a:solidFill>
                <a:latin typeface="+mn-lt"/>
                <a:ea typeface="+mn-ea"/>
                <a:cs typeface="+mn-cs"/>
              </a:rPr>
              <a:t>grip held, target fresh</a:t>
            </a:r>
          </a:p>
        </p:txBody>
      </p:sp>
      <p:sp>
        <p:nvSpPr>
          <p:cNvPr id="34" name="Line 34"/>
          <p:cNvSpPr/>
          <p:nvPr/>
        </p:nvSpPr>
        <p:spPr>
          <a:xfrm>
            <a:off x="4857750" y="4000500"/>
            <a:ext cx="9525" cy="285750"/>
          </a:xfrm>
          <a:custGeom>
            <a:avLst/>
            <a:gdLst/>
            <a:ahLst/>
            <a:cxnLst/>
            <a:rect l="l" t="t" r="r" b="b"/>
            <a:pathLst>
              <a:path w="9525" h="285750">
                <a:moveTo>
                  <a:pt x="0" y="0"/>
                </a:moveTo>
                <a:lnTo>
                  <a:pt x="0" y="285750"/>
                </a:lnTo>
              </a:path>
            </a:pathLst>
          </a:custGeom>
          <a:noFill/>
          <a:ln w="19050">
            <a:solidFill>
              <a:srgbClr val="C9D4CB"/>
            </a:solidFill>
          </a:ln>
        </p:spPr>
        <p:txBody>
          <a:bodyPr/>
          <a:lstStyle/>
          <a:p>
            <a:endParaRPr lang="zh-CN" altLang="en-US"/>
          </a:p>
        </p:txBody>
      </p:sp>
      <p:sp>
        <p:nvSpPr>
          <p:cNvPr id="35" name="Ellipse 35"/>
          <p:cNvSpPr/>
          <p:nvPr/>
        </p:nvSpPr>
        <p:spPr>
          <a:xfrm>
            <a:off x="4781550" y="4448175"/>
            <a:ext cx="152400" cy="152400"/>
          </a:xfrm>
          <a:prstGeom prst="ellipse">
            <a:avLst/>
          </a:prstGeom>
          <a:solidFill>
            <a:srgbClr val="A64C45"/>
          </a:solidFill>
          <a:ln>
            <a:noFill/>
          </a:ln>
        </p:spPr>
        <p:txBody>
          <a:bodyPr/>
          <a:lstStyle/>
          <a:p>
            <a:endParaRPr lang="zh-CN" altLang="en-US"/>
          </a:p>
        </p:txBody>
      </p:sp>
      <p:sp>
        <p:nvSpPr>
          <p:cNvPr id="36" name="TextBox 36"/>
          <p:cNvSpPr txBox="1"/>
          <p:nvPr/>
        </p:nvSpPr>
        <p:spPr>
          <a:xfrm>
            <a:off x="5042535" y="4432300"/>
            <a:ext cx="1250502" cy="220028"/>
          </a:xfrm>
          <a:prstGeom prst="rect">
            <a:avLst/>
          </a:prstGeom>
          <a:noFill/>
          <a:ln>
            <a:noFill/>
          </a:ln>
        </p:spPr>
        <p:txBody>
          <a:bodyPr wrap="none" lIns="0" tIns="0" rIns="0" bIns="0" anchor="t" anchorCtr="0">
            <a:spAutoFit/>
          </a:bodyPr>
          <a:lstStyle/>
          <a:p>
            <a:pPr algn="l"/>
            <a:r>
              <a:rPr lang="en-US" sz="1120" b="1" dirty="0">
                <a:solidFill>
                  <a:srgbClr val="1D2B24"/>
                </a:solidFill>
                <a:latin typeface="+mn-lt"/>
                <a:ea typeface="+mn-ea"/>
                <a:cs typeface="+mn-cs"/>
              </a:rPr>
              <a:t>LATCHED STOP</a:t>
            </a:r>
          </a:p>
        </p:txBody>
      </p:sp>
      <p:sp>
        <p:nvSpPr>
          <p:cNvPr id="37" name="TextBox 37"/>
          <p:cNvSpPr txBox="1"/>
          <p:nvPr/>
        </p:nvSpPr>
        <p:spPr>
          <a:xfrm>
            <a:off x="5043297" y="4654550"/>
            <a:ext cx="1458914" cy="191643"/>
          </a:xfrm>
          <a:prstGeom prst="rect">
            <a:avLst/>
          </a:prstGeom>
          <a:noFill/>
          <a:ln>
            <a:noFill/>
          </a:ln>
        </p:spPr>
        <p:txBody>
          <a:bodyPr wrap="none" lIns="0" tIns="0" rIns="0" bIns="0" anchor="t" anchorCtr="0">
            <a:spAutoFit/>
          </a:bodyPr>
          <a:lstStyle/>
          <a:p>
            <a:pPr algn="l"/>
            <a:r>
              <a:rPr lang="en-US" sz="980" dirty="0">
                <a:solidFill>
                  <a:srgbClr val="657269"/>
                </a:solidFill>
                <a:latin typeface="+mn-lt"/>
                <a:ea typeface="+mn-ea"/>
                <a:cs typeface="+mn-cs"/>
              </a:rPr>
              <a:t>X / watchdog / SDK fault</a:t>
            </a:r>
          </a:p>
        </p:txBody>
      </p:sp>
      <p:sp>
        <p:nvSpPr>
          <p:cNvPr id="38" name="Rectangle 38"/>
          <p:cNvSpPr/>
          <p:nvPr/>
        </p:nvSpPr>
        <p:spPr>
          <a:xfrm>
            <a:off x="7905750" y="1752600"/>
            <a:ext cx="3676650" cy="3619500"/>
          </a:xfrm>
          <a:prstGeom prst="roundRect">
            <a:avLst>
              <a:gd name="adj" fmla="val 4737"/>
            </a:avLst>
          </a:prstGeom>
          <a:solidFill>
            <a:srgbClr val="1D2B24"/>
          </a:solidFill>
          <a:ln>
            <a:noFill/>
          </a:ln>
        </p:spPr>
        <p:txBody>
          <a:bodyPr/>
          <a:lstStyle/>
          <a:p>
            <a:endParaRPr lang="zh-CN" altLang="en-US"/>
          </a:p>
        </p:txBody>
      </p:sp>
      <p:sp>
        <p:nvSpPr>
          <p:cNvPr id="39" name="TextBox 39"/>
          <p:cNvSpPr txBox="1"/>
          <p:nvPr/>
        </p:nvSpPr>
        <p:spPr>
          <a:xfrm>
            <a:off x="8167116" y="1968500"/>
            <a:ext cx="1650224" cy="205359"/>
          </a:xfrm>
          <a:prstGeom prst="rect">
            <a:avLst/>
          </a:prstGeom>
          <a:noFill/>
          <a:ln>
            <a:noFill/>
          </a:ln>
        </p:spPr>
        <p:txBody>
          <a:bodyPr wrap="none" lIns="0" tIns="0" rIns="0" bIns="0" anchor="t" anchorCtr="0">
            <a:spAutoFit/>
          </a:bodyPr>
          <a:lstStyle/>
          <a:p>
            <a:pPr algn="l"/>
            <a:r>
              <a:rPr lang="en-US" sz="1050" b="1" spc="90" dirty="0">
                <a:solidFill>
                  <a:srgbClr val="A7C6A5"/>
                </a:solidFill>
                <a:latin typeface="+mn-lt"/>
                <a:ea typeface="+mn-ea"/>
                <a:cs typeface="+mn-cs"/>
              </a:rPr>
              <a:t>NON-NEGOTIABLES</a:t>
            </a:r>
          </a:p>
        </p:txBody>
      </p:sp>
      <p:sp>
        <p:nvSpPr>
          <p:cNvPr id="40" name="Rectangle 40"/>
          <p:cNvSpPr/>
          <p:nvPr/>
        </p:nvSpPr>
        <p:spPr>
          <a:xfrm>
            <a:off x="8172450" y="2419350"/>
            <a:ext cx="914400" cy="285750"/>
          </a:xfrm>
          <a:prstGeom prst="roundRect">
            <a:avLst>
              <a:gd name="adj" fmla="val 50000"/>
            </a:avLst>
          </a:prstGeom>
          <a:solidFill>
            <a:srgbClr val="31493B"/>
          </a:solidFill>
          <a:ln>
            <a:noFill/>
          </a:ln>
        </p:spPr>
        <p:txBody>
          <a:bodyPr/>
          <a:lstStyle/>
          <a:p>
            <a:endParaRPr lang="zh-CN" altLang="en-US"/>
          </a:p>
        </p:txBody>
      </p:sp>
      <p:sp>
        <p:nvSpPr>
          <p:cNvPr id="41" name="TextBox 41"/>
          <p:cNvSpPr txBox="1"/>
          <p:nvPr/>
        </p:nvSpPr>
        <p:spPr>
          <a:xfrm>
            <a:off x="8419416" y="2495550"/>
            <a:ext cx="420469"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200 ms</a:t>
            </a:r>
          </a:p>
        </p:txBody>
      </p:sp>
      <p:sp>
        <p:nvSpPr>
          <p:cNvPr id="42" name="TextBox 42"/>
          <p:cNvSpPr txBox="1"/>
          <p:nvPr/>
        </p:nvSpPr>
        <p:spPr>
          <a:xfrm>
            <a:off x="9253538" y="2495550"/>
            <a:ext cx="1524945" cy="176212"/>
          </a:xfrm>
          <a:prstGeom prst="rect">
            <a:avLst/>
          </a:prstGeom>
          <a:noFill/>
          <a:ln>
            <a:noFill/>
          </a:ln>
        </p:spPr>
        <p:txBody>
          <a:bodyPr wrap="none" lIns="0" tIns="0" rIns="0" bIns="0" anchor="t" anchorCtr="0">
            <a:spAutoFit/>
          </a:bodyPr>
          <a:lstStyle/>
          <a:p>
            <a:pPr algn="l"/>
            <a:r>
              <a:rPr lang="en-US" sz="900" dirty="0">
                <a:solidFill>
                  <a:srgbClr val="E8F0E8"/>
                </a:solidFill>
                <a:latin typeface="+mn-lt"/>
                <a:ea typeface="+mn-ea"/>
                <a:cs typeface="+mn-cs"/>
              </a:rPr>
              <a:t>packet age → latch violation</a:t>
            </a:r>
          </a:p>
        </p:txBody>
      </p:sp>
      <p:sp>
        <p:nvSpPr>
          <p:cNvPr id="43" name="Rectangle 43"/>
          <p:cNvSpPr/>
          <p:nvPr/>
        </p:nvSpPr>
        <p:spPr>
          <a:xfrm>
            <a:off x="8172450" y="2933700"/>
            <a:ext cx="914400" cy="285750"/>
          </a:xfrm>
          <a:prstGeom prst="roundRect">
            <a:avLst>
              <a:gd name="adj" fmla="val 50000"/>
            </a:avLst>
          </a:prstGeom>
          <a:solidFill>
            <a:srgbClr val="31493B"/>
          </a:solidFill>
          <a:ln>
            <a:noFill/>
          </a:ln>
        </p:spPr>
        <p:txBody>
          <a:bodyPr/>
          <a:lstStyle/>
          <a:p>
            <a:endParaRPr lang="zh-CN" altLang="en-US"/>
          </a:p>
        </p:txBody>
      </p:sp>
      <p:sp>
        <p:nvSpPr>
          <p:cNvPr id="44" name="TextBox 44"/>
          <p:cNvSpPr txBox="1"/>
          <p:nvPr/>
        </p:nvSpPr>
        <p:spPr>
          <a:xfrm>
            <a:off x="8582194" y="3009900"/>
            <a:ext cx="94912"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X</a:t>
            </a:r>
          </a:p>
        </p:txBody>
      </p:sp>
      <p:sp>
        <p:nvSpPr>
          <p:cNvPr id="45" name="TextBox 45"/>
          <p:cNvSpPr txBox="1"/>
          <p:nvPr/>
        </p:nvSpPr>
        <p:spPr>
          <a:xfrm>
            <a:off x="9253538" y="3009900"/>
            <a:ext cx="959040" cy="176212"/>
          </a:xfrm>
          <a:prstGeom prst="rect">
            <a:avLst/>
          </a:prstGeom>
          <a:noFill/>
          <a:ln>
            <a:noFill/>
          </a:ln>
        </p:spPr>
        <p:txBody>
          <a:bodyPr wrap="none" lIns="0" tIns="0" rIns="0" bIns="0" anchor="t" anchorCtr="0">
            <a:spAutoFit/>
          </a:bodyPr>
          <a:lstStyle/>
          <a:p>
            <a:pPr algn="l"/>
            <a:r>
              <a:rPr lang="en-US" sz="900" dirty="0">
                <a:solidFill>
                  <a:srgbClr val="E8F0E8"/>
                </a:solidFill>
                <a:latin typeface="+mn-lt"/>
                <a:ea typeface="+mn-ea"/>
                <a:cs typeface="+mn-cs"/>
              </a:rPr>
              <a:t>software soft stop</a:t>
            </a:r>
          </a:p>
        </p:txBody>
      </p:sp>
      <p:sp>
        <p:nvSpPr>
          <p:cNvPr id="46" name="Rectangle 46"/>
          <p:cNvSpPr/>
          <p:nvPr/>
        </p:nvSpPr>
        <p:spPr>
          <a:xfrm>
            <a:off x="8172450" y="3448050"/>
            <a:ext cx="914400" cy="285750"/>
          </a:xfrm>
          <a:prstGeom prst="roundRect">
            <a:avLst>
              <a:gd name="adj" fmla="val 50000"/>
            </a:avLst>
          </a:prstGeom>
          <a:solidFill>
            <a:srgbClr val="31493B"/>
          </a:solidFill>
          <a:ln>
            <a:noFill/>
          </a:ln>
        </p:spPr>
        <p:txBody>
          <a:bodyPr/>
          <a:lstStyle/>
          <a:p>
            <a:endParaRPr lang="zh-CN" altLang="en-US"/>
          </a:p>
        </p:txBody>
      </p:sp>
      <p:sp>
        <p:nvSpPr>
          <p:cNvPr id="47" name="TextBox 47"/>
          <p:cNvSpPr txBox="1"/>
          <p:nvPr/>
        </p:nvSpPr>
        <p:spPr>
          <a:xfrm>
            <a:off x="8582194" y="3524250"/>
            <a:ext cx="94912"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Y</a:t>
            </a:r>
          </a:p>
        </p:txBody>
      </p:sp>
      <p:sp>
        <p:nvSpPr>
          <p:cNvPr id="48" name="TextBox 48"/>
          <p:cNvSpPr txBox="1"/>
          <p:nvPr/>
        </p:nvSpPr>
        <p:spPr>
          <a:xfrm>
            <a:off x="9253538" y="3524250"/>
            <a:ext cx="1639124" cy="176212"/>
          </a:xfrm>
          <a:prstGeom prst="rect">
            <a:avLst/>
          </a:prstGeom>
          <a:noFill/>
          <a:ln>
            <a:noFill/>
          </a:ln>
        </p:spPr>
        <p:txBody>
          <a:bodyPr wrap="none" lIns="0" tIns="0" rIns="0" bIns="0" anchor="t" anchorCtr="0">
            <a:spAutoFit/>
          </a:bodyPr>
          <a:lstStyle/>
          <a:p>
            <a:pPr algn="l"/>
            <a:r>
              <a:rPr lang="en-US" sz="900" dirty="0">
                <a:solidFill>
                  <a:srgbClr val="E8F0E8"/>
                </a:solidFill>
                <a:latin typeface="+mn-lt"/>
                <a:ea typeface="+mn-ea"/>
                <a:cs typeface="+mn-cs"/>
              </a:rPr>
              <a:t>full controller recovery unlocks</a:t>
            </a:r>
          </a:p>
        </p:txBody>
      </p:sp>
      <p:sp>
        <p:nvSpPr>
          <p:cNvPr id="49" name="Rectangle 49"/>
          <p:cNvSpPr/>
          <p:nvPr/>
        </p:nvSpPr>
        <p:spPr>
          <a:xfrm>
            <a:off x="8172450" y="3962400"/>
            <a:ext cx="914400" cy="285750"/>
          </a:xfrm>
          <a:prstGeom prst="roundRect">
            <a:avLst>
              <a:gd name="adj" fmla="val 50000"/>
            </a:avLst>
          </a:prstGeom>
          <a:solidFill>
            <a:srgbClr val="31493B"/>
          </a:solidFill>
          <a:ln>
            <a:noFill/>
          </a:ln>
        </p:spPr>
        <p:txBody>
          <a:bodyPr/>
          <a:lstStyle/>
          <a:p>
            <a:endParaRPr lang="zh-CN" altLang="en-US"/>
          </a:p>
        </p:txBody>
      </p:sp>
      <p:sp>
        <p:nvSpPr>
          <p:cNvPr id="50" name="TextBox 50"/>
          <p:cNvSpPr txBox="1"/>
          <p:nvPr/>
        </p:nvSpPr>
        <p:spPr>
          <a:xfrm>
            <a:off x="8401171" y="4038600"/>
            <a:ext cx="456957"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Grip / B</a:t>
            </a:r>
          </a:p>
        </p:txBody>
      </p:sp>
      <p:sp>
        <p:nvSpPr>
          <p:cNvPr id="51" name="TextBox 51"/>
          <p:cNvSpPr txBox="1"/>
          <p:nvPr/>
        </p:nvSpPr>
        <p:spPr>
          <a:xfrm>
            <a:off x="9253538" y="4038600"/>
            <a:ext cx="1524751" cy="176212"/>
          </a:xfrm>
          <a:prstGeom prst="rect">
            <a:avLst/>
          </a:prstGeom>
          <a:noFill/>
          <a:ln>
            <a:noFill/>
          </a:ln>
        </p:spPr>
        <p:txBody>
          <a:bodyPr wrap="none" lIns="0" tIns="0" rIns="0" bIns="0" anchor="t" anchorCtr="0">
            <a:spAutoFit/>
          </a:bodyPr>
          <a:lstStyle/>
          <a:p>
            <a:pPr algn="l"/>
            <a:r>
              <a:rPr lang="en-US" sz="900" dirty="0">
                <a:solidFill>
                  <a:srgbClr val="E8F0E8"/>
                </a:solidFill>
                <a:latin typeface="+mn-lt"/>
                <a:ea typeface="+mn-ea"/>
                <a:cs typeface="+mn-cs"/>
              </a:rPr>
              <a:t>stop refresh; clear reference</a:t>
            </a:r>
          </a:p>
        </p:txBody>
      </p:sp>
      <p:sp>
        <p:nvSpPr>
          <p:cNvPr id="52" name="Rectangle 52"/>
          <p:cNvSpPr/>
          <p:nvPr/>
        </p:nvSpPr>
        <p:spPr>
          <a:xfrm>
            <a:off x="8172450" y="4476750"/>
            <a:ext cx="914400" cy="285750"/>
          </a:xfrm>
          <a:prstGeom prst="roundRect">
            <a:avLst>
              <a:gd name="adj" fmla="val 50000"/>
            </a:avLst>
          </a:prstGeom>
          <a:solidFill>
            <a:srgbClr val="31493B"/>
          </a:solidFill>
          <a:ln>
            <a:noFill/>
          </a:ln>
        </p:spPr>
        <p:txBody>
          <a:bodyPr/>
          <a:lstStyle/>
          <a:p>
            <a:endParaRPr lang="zh-CN" altLang="en-US"/>
          </a:p>
        </p:txBody>
      </p:sp>
      <p:sp>
        <p:nvSpPr>
          <p:cNvPr id="53" name="TextBox 53"/>
          <p:cNvSpPr txBox="1"/>
          <p:nvPr/>
        </p:nvSpPr>
        <p:spPr>
          <a:xfrm>
            <a:off x="8367514" y="4552950"/>
            <a:ext cx="524271"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Collision</a:t>
            </a:r>
          </a:p>
        </p:txBody>
      </p:sp>
      <p:sp>
        <p:nvSpPr>
          <p:cNvPr id="54" name="TextBox 54"/>
          <p:cNvSpPr txBox="1"/>
          <p:nvPr/>
        </p:nvSpPr>
        <p:spPr>
          <a:xfrm>
            <a:off x="9253538" y="4552950"/>
            <a:ext cx="1810975" cy="176212"/>
          </a:xfrm>
          <a:prstGeom prst="rect">
            <a:avLst/>
          </a:prstGeom>
          <a:noFill/>
          <a:ln>
            <a:noFill/>
          </a:ln>
        </p:spPr>
        <p:txBody>
          <a:bodyPr wrap="none" lIns="0" tIns="0" rIns="0" bIns="0" anchor="t" anchorCtr="0">
            <a:spAutoFit/>
          </a:bodyPr>
          <a:lstStyle/>
          <a:p>
            <a:pPr algn="l"/>
            <a:r>
              <a:rPr lang="en-US" sz="900" dirty="0">
                <a:solidFill>
                  <a:srgbClr val="E8F0E8"/>
                </a:solidFill>
                <a:latin typeface="+mn-lt"/>
                <a:ea typeface="+mn-ea"/>
                <a:cs typeface="+mn-cs"/>
              </a:rPr>
              <a:t>controller + model checks stay on</a:t>
            </a:r>
          </a:p>
        </p:txBody>
      </p:sp>
      <p:sp>
        <p:nvSpPr>
          <p:cNvPr id="55" name="Rectangle 55"/>
          <p:cNvSpPr/>
          <p:nvPr/>
        </p:nvSpPr>
        <p:spPr>
          <a:xfrm>
            <a:off x="609600" y="5715000"/>
            <a:ext cx="10972800" cy="381000"/>
          </a:xfrm>
          <a:prstGeom prst="roundRect">
            <a:avLst>
              <a:gd name="adj" fmla="val 30000"/>
            </a:avLst>
          </a:prstGeom>
          <a:solidFill>
            <a:srgbClr val="EEF3EE"/>
          </a:solidFill>
          <a:ln>
            <a:noFill/>
          </a:ln>
        </p:spPr>
        <p:txBody>
          <a:bodyPr/>
          <a:lstStyle/>
          <a:p>
            <a:endParaRPr lang="zh-CN" altLang="en-US"/>
          </a:p>
        </p:txBody>
      </p:sp>
      <p:sp>
        <p:nvSpPr>
          <p:cNvPr id="56" name="TextBox 56"/>
          <p:cNvSpPr txBox="1"/>
          <p:nvPr/>
        </p:nvSpPr>
        <p:spPr>
          <a:xfrm>
            <a:off x="832866" y="5835650"/>
            <a:ext cx="9370981" cy="205359"/>
          </a:xfrm>
          <a:prstGeom prst="rect">
            <a:avLst/>
          </a:prstGeom>
          <a:noFill/>
          <a:ln>
            <a:noFill/>
          </a:ln>
        </p:spPr>
        <p:txBody>
          <a:bodyPr wrap="none" lIns="0" tIns="0" rIns="0" bIns="0" anchor="t" anchorCtr="0">
            <a:spAutoFit/>
          </a:bodyPr>
          <a:lstStyle/>
          <a:p>
            <a:pPr algn="l"/>
            <a:r>
              <a:rPr lang="en-US" sz="1050" b="1" dirty="0">
                <a:solidFill>
                  <a:srgbClr val="1D2B24"/>
                </a:solidFill>
                <a:latin typeface="+mn-lt"/>
                <a:ea typeface="+mn-ea"/>
                <a:cs typeface="+mn-cs"/>
              </a:rPr>
              <a:t>Safety is layered: model constraints, watchdogs, controller collision detection, explicit recovery, and a reachable physical emergency stop.</a:t>
            </a:r>
          </a:p>
        </p:txBody>
      </p:sp>
    </p:spTree>
  </p:cSld>
  <p:transition xmlns:p="http://schemas.openxmlformats.org/presentationml/2006/main" spd="slow">
    <p:fade/>
  </p:transition>
  <p:clrMapOvr>
    <a:masterClrMapping/>
  </p:clrMapOvr>
  <mc:AlternateContent xmlns:mc="http://schemas.openxmlformats.org/markup-compatibility/2006">
    <mc:Choice xmlns:p14="http://schemas.microsoft.com/office/powerpoint/2010/main" Requires="p14"/>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09600" y="342900"/>
            <a:ext cx="10972800" cy="177800"/>
          </a:xfrm>
          <a:prstGeom prst="rect">
            <a:avLst/>
          </a:prstGeom>
          <a:noFill/>
        </p:spPr>
        <p:txBody>
          <a:bodyPr wrap="square" lIns="0" rIns="0" tIns="0" bIns="0" anchor="t">
            <a:spAutoFit/>
          </a:bodyPr>
          <a:lstStyle/>
          <a:p>
            <a:pPr algn="l">
              <a:lnSpc>
                <a:spcPct val="115000"/>
              </a:lnSpc>
              <a:spcAft>
                <a:spcPts val="0"/>
              </a:spcAft>
            </a:pPr>
            <a:r>
              <a:rPr sz="900" b="1" i="0">
                <a:solidFill>
                  <a:srgbClr val="52765A"/>
                </a:solidFill>
                <a:latin typeface="Arial"/>
                <a:ea typeface="Arial"/>
                <a:cs typeface="Arial"/>
              </a:rPr>
              <a:t>06 / WHY TACTILE ANALYSIS</a:t>
            </a:r>
          </a:p>
        </p:txBody>
      </p:sp>
      <p:sp>
        <p:nvSpPr>
          <p:cNvPr id="3" name="TextBox 2"/>
          <p:cNvSpPr txBox="1"/>
          <p:nvPr/>
        </p:nvSpPr>
        <p:spPr>
          <a:xfrm>
            <a:off x="596900" y="596900"/>
            <a:ext cx="11023600" cy="444500"/>
          </a:xfrm>
          <a:prstGeom prst="rect">
            <a:avLst/>
          </a:prstGeom>
          <a:noFill/>
        </p:spPr>
        <p:txBody>
          <a:bodyPr wrap="square" lIns="0" rIns="0" tIns="0" bIns="0" anchor="t">
            <a:spAutoFit/>
          </a:bodyPr>
          <a:lstStyle/>
          <a:p>
            <a:pPr algn="l">
              <a:lnSpc>
                <a:spcPct val="115000"/>
              </a:lnSpc>
              <a:spcAft>
                <a:spcPts val="0"/>
              </a:spcAft>
            </a:pPr>
            <a:r>
              <a:rPr sz="2250" b="1" i="0">
                <a:solidFill>
                  <a:srgbClr val="1D2B24"/>
                </a:solidFill>
                <a:latin typeface="Arial"/>
                <a:ea typeface="Arial"/>
                <a:cs typeface="Arial"/>
              </a:rPr>
              <a:t>Tactile sensing makes contact behavior measurable</a:t>
            </a:r>
          </a:p>
        </p:txBody>
      </p:sp>
      <p:sp>
        <p:nvSpPr>
          <p:cNvPr id="4" name="TextBox 3"/>
          <p:cNvSpPr txBox="1"/>
          <p:nvPr/>
        </p:nvSpPr>
        <p:spPr>
          <a:xfrm>
            <a:off x="609600" y="1016000"/>
            <a:ext cx="10972800" cy="355600"/>
          </a:xfrm>
          <a:prstGeom prst="rect">
            <a:avLst/>
          </a:prstGeom>
          <a:noFill/>
        </p:spPr>
        <p:txBody>
          <a:bodyPr wrap="square" lIns="0" rIns="0" tIns="0" bIns="0" anchor="t">
            <a:spAutoFit/>
          </a:bodyPr>
          <a:lstStyle/>
          <a:p>
            <a:pPr algn="l">
              <a:lnSpc>
                <a:spcPct val="115000"/>
              </a:lnSpc>
              <a:spcAft>
                <a:spcPts val="0"/>
              </a:spcAft>
            </a:pPr>
            <a:r>
              <a:rPr sz="1200" b="0" i="0">
                <a:solidFill>
                  <a:srgbClr val="657269"/>
                </a:solidFill>
                <a:latin typeface="Arial"/>
                <a:ea typeface="Arial"/>
                <a:cs typeface="Arial"/>
              </a:rPr>
              <a:t>Recorded tactile signals add evidence about the hand–object interaction during teleoperation.</a:t>
            </a:r>
          </a:p>
        </p:txBody>
      </p:sp>
      <p:cxnSp>
        <p:nvCxnSpPr>
          <p:cNvPr id="5" name="Connector 4"/>
          <p:cNvCxnSpPr/>
          <p:nvPr/>
        </p:nvCxnSpPr>
        <p:spPr>
          <a:xfrm>
            <a:off x="609600" y="1384300"/>
            <a:ext cx="109728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09600" y="6464300"/>
            <a:ext cx="9652000" cy="152400"/>
          </a:xfrm>
          <a:prstGeom prst="rect">
            <a:avLst/>
          </a:prstGeom>
          <a:noFill/>
        </p:spPr>
        <p:txBody>
          <a:bodyPr wrap="square" lIns="0" rIns="0" tIns="0" bIns="0" anchor="t">
            <a:spAutoFit/>
          </a:bodyPr>
          <a:lstStyle/>
          <a:p>
            <a:pPr algn="l">
              <a:lnSpc>
                <a:spcPct val="115000"/>
              </a:lnSpc>
              <a:spcAft>
                <a:spcPts val="0"/>
              </a:spcAft>
            </a:pPr>
            <a:r>
              <a:rPr sz="750" b="1" i="0">
                <a:solidFill>
                  <a:srgbClr val="657269"/>
                </a:solidFill>
                <a:latin typeface="Arial"/>
                <a:ea typeface="Arial"/>
                <a:cs typeface="Arial"/>
              </a:rPr>
              <a:t>DEXMAN_LEROBOT / VR TELEOPERATION SYSTEM</a:t>
            </a:r>
          </a:p>
        </p:txBody>
      </p:sp>
      <p:sp>
        <p:nvSpPr>
          <p:cNvPr id="7" name="TextBox 6"/>
          <p:cNvSpPr txBox="1"/>
          <p:nvPr/>
        </p:nvSpPr>
        <p:spPr>
          <a:xfrm>
            <a:off x="10795000" y="6464300"/>
            <a:ext cx="787400" cy="152400"/>
          </a:xfrm>
          <a:prstGeom prst="rect">
            <a:avLst/>
          </a:prstGeom>
          <a:noFill/>
        </p:spPr>
        <p:txBody>
          <a:bodyPr wrap="square" lIns="0" rIns="0" tIns="0" bIns="0" anchor="t">
            <a:spAutoFit/>
          </a:bodyPr>
          <a:lstStyle/>
          <a:p>
            <a:pPr algn="r">
              <a:lnSpc>
                <a:spcPct val="115000"/>
              </a:lnSpc>
              <a:spcAft>
                <a:spcPts val="0"/>
              </a:spcAft>
            </a:pPr>
            <a:r>
              <a:rPr sz="750" b="1" i="0">
                <a:solidFill>
                  <a:srgbClr val="657269"/>
                </a:solidFill>
                <a:latin typeface="Arial"/>
                <a:ea typeface="Arial"/>
                <a:cs typeface="Arial"/>
              </a:rPr>
              <a:t>06 / 10</a:t>
            </a:r>
          </a:p>
        </p:txBody>
      </p:sp>
      <p:sp>
        <p:nvSpPr>
          <p:cNvPr id="8" name="Rounded Rectangle 7"/>
          <p:cNvSpPr/>
          <p:nvPr/>
        </p:nvSpPr>
        <p:spPr>
          <a:xfrm>
            <a:off x="609600" y="1752600"/>
            <a:ext cx="3505200" cy="3581400"/>
          </a:xfrm>
          <a:prstGeom prst="roundRect">
            <a:avLst>
              <a:gd name="adj" fmla="val 5000"/>
            </a:avLst>
          </a:prstGeom>
          <a:solidFill>
            <a:srgbClr val="FFFFFF"/>
          </a:solidFill>
          <a:ln w="8255">
            <a:solidFill>
              <a:srgbClr val="C9D4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609600" y="1866900"/>
            <a:ext cx="50800" cy="1155700"/>
          </a:xfrm>
          <a:prstGeom prst="rect">
            <a:avLst/>
          </a:prstGeom>
          <a:solidFill>
            <a:srgbClr val="5276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38200" y="1968500"/>
            <a:ext cx="3111500" cy="228600"/>
          </a:xfrm>
          <a:prstGeom prst="rect">
            <a:avLst/>
          </a:prstGeom>
          <a:noFill/>
        </p:spPr>
        <p:txBody>
          <a:bodyPr wrap="square" lIns="0" rIns="0" tIns="0" bIns="0" anchor="t">
            <a:spAutoFit/>
          </a:bodyPr>
          <a:lstStyle/>
          <a:p>
            <a:pPr algn="l">
              <a:lnSpc>
                <a:spcPct val="115000"/>
              </a:lnSpc>
              <a:spcAft>
                <a:spcPts val="0"/>
              </a:spcAft>
            </a:pPr>
            <a:r>
              <a:rPr sz="900" b="1" i="0">
                <a:solidFill>
                  <a:srgbClr val="52765A"/>
                </a:solidFill>
                <a:latin typeface="Arial"/>
                <a:ea typeface="Arial"/>
                <a:cs typeface="Arial"/>
              </a:rPr>
              <a:t>UNDERSTAND INTERACTIONS</a:t>
            </a:r>
          </a:p>
        </p:txBody>
      </p:sp>
      <p:sp>
        <p:nvSpPr>
          <p:cNvPr id="11" name="TextBox 10"/>
          <p:cNvSpPr txBox="1"/>
          <p:nvPr/>
        </p:nvSpPr>
        <p:spPr>
          <a:xfrm>
            <a:off x="838200" y="2374900"/>
            <a:ext cx="3111500" cy="673100"/>
          </a:xfrm>
          <a:prstGeom prst="rect">
            <a:avLst/>
          </a:prstGeom>
          <a:noFill/>
        </p:spPr>
        <p:txBody>
          <a:bodyPr wrap="square" lIns="0" rIns="0" tIns="0" bIns="0" anchor="t">
            <a:spAutoFit/>
          </a:bodyPr>
          <a:lstStyle/>
          <a:p>
            <a:pPr algn="l">
              <a:lnSpc>
                <a:spcPct val="115000"/>
              </a:lnSpc>
              <a:spcAft>
                <a:spcPts val="0"/>
              </a:spcAft>
            </a:pPr>
            <a:r>
              <a:rPr sz="1700" b="1" i="0">
                <a:solidFill>
                  <a:srgbClr val="1D2B24"/>
                </a:solidFill>
                <a:latin typeface="Arial"/>
                <a:ea typeface="Arial"/>
                <a:cs typeface="Arial"/>
              </a:rPr>
              <a:t>When and where does</a:t>
            </a:r>
          </a:p>
          <a:p>
            <a:pPr algn="l">
              <a:lnSpc>
                <a:spcPct val="115000"/>
              </a:lnSpc>
              <a:spcAft>
                <a:spcPts val="0"/>
              </a:spcAft>
            </a:pPr>
            <a:r>
              <a:rPr sz="1700" b="1" i="0">
                <a:solidFill>
                  <a:srgbClr val="1D2B24"/>
                </a:solidFill>
                <a:latin typeface="Arial"/>
                <a:ea typeface="Arial"/>
                <a:cs typeface="Arial"/>
              </a:rPr>
              <a:t>the signal change?</a:t>
            </a:r>
          </a:p>
        </p:txBody>
      </p:sp>
      <p:sp>
        <p:nvSpPr>
          <p:cNvPr id="12" name="TextBox 11"/>
          <p:cNvSpPr txBox="1"/>
          <p:nvPr/>
        </p:nvSpPr>
        <p:spPr>
          <a:xfrm>
            <a:off x="838200" y="3238500"/>
            <a:ext cx="3111500" cy="622300"/>
          </a:xfrm>
          <a:prstGeom prst="rect">
            <a:avLst/>
          </a:prstGeom>
          <a:noFill/>
        </p:spPr>
        <p:txBody>
          <a:bodyPr wrap="square" lIns="0" rIns="0" tIns="0" bIns="0" anchor="t">
            <a:spAutoFit/>
          </a:bodyPr>
          <a:lstStyle/>
          <a:p>
            <a:pPr algn="l">
              <a:lnSpc>
                <a:spcPct val="115000"/>
              </a:lnSpc>
              <a:spcAft>
                <a:spcPts val="0"/>
              </a:spcAft>
            </a:pPr>
            <a:r>
              <a:rPr sz="1120" b="0" i="0">
                <a:solidFill>
                  <a:srgbClr val="657269"/>
                </a:solidFill>
                <a:latin typeface="Arial"/>
                <a:ea typeface="Arial"/>
                <a:cs typeface="Arial"/>
              </a:rPr>
              <a:t>Inspect response intervals, peaks,</a:t>
            </a:r>
          </a:p>
          <a:p>
            <a:pPr algn="l">
              <a:lnSpc>
                <a:spcPct val="115000"/>
              </a:lnSpc>
              <a:spcAft>
                <a:spcPts val="0"/>
              </a:spcAft>
            </a:pPr>
            <a:r>
              <a:rPr sz="1120" b="0" i="0">
                <a:solidFill>
                  <a:srgbClr val="657269"/>
                </a:solidFill>
                <a:latin typeface="Arial"/>
                <a:ea typeface="Arial"/>
                <a:cs typeface="Arial"/>
              </a:rPr>
              <a:t>and the distribution across taxels.</a:t>
            </a:r>
          </a:p>
        </p:txBody>
      </p:sp>
      <p:cxnSp>
        <p:nvCxnSpPr>
          <p:cNvPr id="13" name="Connector 12"/>
          <p:cNvCxnSpPr/>
          <p:nvPr/>
        </p:nvCxnSpPr>
        <p:spPr>
          <a:xfrm>
            <a:off x="838200" y="4051300"/>
            <a:ext cx="30480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838200" y="4254500"/>
            <a:ext cx="3048000" cy="241300"/>
          </a:xfrm>
          <a:prstGeom prst="rect">
            <a:avLst/>
          </a:prstGeom>
          <a:noFill/>
        </p:spPr>
        <p:txBody>
          <a:bodyPr wrap="square" lIns="0" rIns="0" tIns="0" bIns="0" anchor="t">
            <a:spAutoFit/>
          </a:bodyPr>
          <a:lstStyle/>
          <a:p>
            <a:pPr algn="l">
              <a:lnSpc>
                <a:spcPct val="115000"/>
              </a:lnSpc>
              <a:spcAft>
                <a:spcPts val="0"/>
              </a:spcAft>
            </a:pPr>
            <a:r>
              <a:rPr sz="1120" b="1" i="0">
                <a:solidFill>
                  <a:srgbClr val="52765A"/>
                </a:solidFill>
                <a:latin typeface="Arial"/>
                <a:ea typeface="Arial"/>
                <a:cs typeface="Arial"/>
              </a:rPr>
              <a:t>After validation</a:t>
            </a:r>
          </a:p>
        </p:txBody>
      </p:sp>
      <p:sp>
        <p:nvSpPr>
          <p:cNvPr id="15" name="TextBox 14"/>
          <p:cNvSpPr txBox="1"/>
          <p:nvPr/>
        </p:nvSpPr>
        <p:spPr>
          <a:xfrm>
            <a:off x="838200" y="4597400"/>
            <a:ext cx="3073400" cy="546100"/>
          </a:xfrm>
          <a:prstGeom prst="rect">
            <a:avLst/>
          </a:prstGeom>
          <a:noFill/>
        </p:spPr>
        <p:txBody>
          <a:bodyPr wrap="square" lIns="0" rIns="0" tIns="0" bIns="0" anchor="t">
            <a:spAutoFit/>
          </a:bodyPr>
          <a:lstStyle/>
          <a:p>
            <a:pPr algn="l">
              <a:lnSpc>
                <a:spcPct val="115000"/>
              </a:lnSpc>
              <a:spcAft>
                <a:spcPts val="0"/>
              </a:spcAft>
            </a:pPr>
            <a:r>
              <a:rPr sz="1120" b="0" i="0">
                <a:solidFill>
                  <a:srgbClr val="657269"/>
                </a:solidFill>
                <a:latin typeface="Arial"/>
                <a:ea typeface="Arial"/>
                <a:cs typeface="Arial"/>
              </a:rPr>
              <a:t>Relate measured force and pressure</a:t>
            </a:r>
          </a:p>
          <a:p>
            <a:pPr algn="l">
              <a:lnSpc>
                <a:spcPct val="115000"/>
              </a:lnSpc>
              <a:spcAft>
                <a:spcPts val="0"/>
              </a:spcAft>
            </a:pPr>
            <a:r>
              <a:rPr sz="1120" b="0" i="0">
                <a:solidFill>
                  <a:srgbClr val="657269"/>
                </a:solidFill>
                <a:latin typeface="Arial"/>
                <a:ea typeface="Arial"/>
                <a:cs typeface="Arial"/>
              </a:rPr>
              <a:t>to contact phases in a task.</a:t>
            </a:r>
          </a:p>
        </p:txBody>
      </p:sp>
      <p:sp>
        <p:nvSpPr>
          <p:cNvPr id="16" name="Rounded Rectangle 15"/>
          <p:cNvSpPr/>
          <p:nvPr/>
        </p:nvSpPr>
        <p:spPr>
          <a:xfrm>
            <a:off x="4343400" y="1752600"/>
            <a:ext cx="3505200" cy="3581400"/>
          </a:xfrm>
          <a:prstGeom prst="roundRect">
            <a:avLst>
              <a:gd name="adj" fmla="val 5000"/>
            </a:avLst>
          </a:prstGeom>
          <a:solidFill>
            <a:srgbClr val="FFFFFF"/>
          </a:solidFill>
          <a:ln w="8255">
            <a:solidFill>
              <a:srgbClr val="C9D4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343400" y="1866900"/>
            <a:ext cx="50800" cy="1155700"/>
          </a:xfrm>
          <a:prstGeom prst="rect">
            <a:avLst/>
          </a:prstGeom>
          <a:solidFill>
            <a:srgbClr val="5276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572000" y="1968500"/>
            <a:ext cx="3111500" cy="228600"/>
          </a:xfrm>
          <a:prstGeom prst="rect">
            <a:avLst/>
          </a:prstGeom>
          <a:noFill/>
        </p:spPr>
        <p:txBody>
          <a:bodyPr wrap="square" lIns="0" rIns="0" tIns="0" bIns="0" anchor="t">
            <a:spAutoFit/>
          </a:bodyPr>
          <a:lstStyle/>
          <a:p>
            <a:pPr algn="l">
              <a:lnSpc>
                <a:spcPct val="115000"/>
              </a:lnSpc>
              <a:spcAft>
                <a:spcPts val="0"/>
              </a:spcAft>
            </a:pPr>
            <a:r>
              <a:rPr sz="900" b="1" i="0">
                <a:solidFill>
                  <a:srgbClr val="52765A"/>
                </a:solidFill>
                <a:latin typeface="Arial"/>
                <a:ea typeface="Arial"/>
                <a:cs typeface="Arial"/>
              </a:rPr>
              <a:t>IMPROVE EXPERIMENTS</a:t>
            </a:r>
          </a:p>
        </p:txBody>
      </p:sp>
      <p:sp>
        <p:nvSpPr>
          <p:cNvPr id="19" name="TextBox 18"/>
          <p:cNvSpPr txBox="1"/>
          <p:nvPr/>
        </p:nvSpPr>
        <p:spPr>
          <a:xfrm>
            <a:off x="4572000" y="2374900"/>
            <a:ext cx="3111500" cy="673100"/>
          </a:xfrm>
          <a:prstGeom prst="rect">
            <a:avLst/>
          </a:prstGeom>
          <a:noFill/>
        </p:spPr>
        <p:txBody>
          <a:bodyPr wrap="square" lIns="0" rIns="0" tIns="0" bIns="0" anchor="t">
            <a:spAutoFit/>
          </a:bodyPr>
          <a:lstStyle/>
          <a:p>
            <a:pPr algn="l">
              <a:lnSpc>
                <a:spcPct val="115000"/>
              </a:lnSpc>
              <a:spcAft>
                <a:spcPts val="0"/>
              </a:spcAft>
            </a:pPr>
            <a:r>
              <a:rPr sz="1700" b="1" i="0">
                <a:solidFill>
                  <a:srgbClr val="1D2B24"/>
                </a:solidFill>
                <a:latin typeface="Arial"/>
                <a:ea typeface="Arial"/>
                <a:cs typeface="Arial"/>
              </a:rPr>
              <a:t>Can we trust</a:t>
            </a:r>
          </a:p>
          <a:p>
            <a:pPr algn="l">
              <a:lnSpc>
                <a:spcPct val="115000"/>
              </a:lnSpc>
              <a:spcAft>
                <a:spcPts val="0"/>
              </a:spcAft>
            </a:pPr>
            <a:r>
              <a:rPr sz="1700" b="1" i="0">
                <a:solidFill>
                  <a:srgbClr val="1D2B24"/>
                </a:solidFill>
                <a:latin typeface="Arial"/>
                <a:ea typeface="Arial"/>
                <a:cs typeface="Arial"/>
              </a:rPr>
              <a:t>the recording?</a:t>
            </a:r>
          </a:p>
        </p:txBody>
      </p:sp>
      <p:sp>
        <p:nvSpPr>
          <p:cNvPr id="20" name="TextBox 19"/>
          <p:cNvSpPr txBox="1"/>
          <p:nvPr/>
        </p:nvSpPr>
        <p:spPr>
          <a:xfrm>
            <a:off x="4572000" y="3238500"/>
            <a:ext cx="3111500" cy="622300"/>
          </a:xfrm>
          <a:prstGeom prst="rect">
            <a:avLst/>
          </a:prstGeom>
          <a:noFill/>
        </p:spPr>
        <p:txBody>
          <a:bodyPr wrap="square" lIns="0" rIns="0" tIns="0" bIns="0" anchor="t">
            <a:spAutoFit/>
          </a:bodyPr>
          <a:lstStyle/>
          <a:p>
            <a:pPr algn="l">
              <a:lnSpc>
                <a:spcPct val="115000"/>
              </a:lnSpc>
              <a:spcAft>
                <a:spcPts val="0"/>
              </a:spcAft>
            </a:pPr>
            <a:r>
              <a:rPr sz="1120" b="0" i="0">
                <a:solidFill>
                  <a:srgbClr val="657269"/>
                </a:solidFill>
                <a:latin typeface="Arial"/>
                <a:ea typeface="Arial"/>
                <a:cs typeface="Arial"/>
              </a:rPr>
              <a:t>Check masks, packet status, timing,</a:t>
            </a:r>
          </a:p>
          <a:p>
            <a:pPr algn="l">
              <a:lnSpc>
                <a:spcPct val="115000"/>
              </a:lnSpc>
              <a:spcAft>
                <a:spcPts val="0"/>
              </a:spcAft>
            </a:pPr>
            <a:r>
              <a:rPr sz="1120" b="0" i="0">
                <a:solidFill>
                  <a:srgbClr val="657269"/>
                </a:solidFill>
                <a:latin typeface="Arial"/>
                <a:ea typeface="Arial"/>
                <a:cs typeface="Arial"/>
              </a:rPr>
              <a:t>zero / repeated values, and temperature.</a:t>
            </a:r>
          </a:p>
        </p:txBody>
      </p:sp>
      <p:cxnSp>
        <p:nvCxnSpPr>
          <p:cNvPr id="21" name="Connector 20"/>
          <p:cNvCxnSpPr/>
          <p:nvPr/>
        </p:nvCxnSpPr>
        <p:spPr>
          <a:xfrm>
            <a:off x="4572000" y="4051300"/>
            <a:ext cx="30480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4572000" y="4254500"/>
            <a:ext cx="3048000" cy="241300"/>
          </a:xfrm>
          <a:prstGeom prst="rect">
            <a:avLst/>
          </a:prstGeom>
          <a:noFill/>
        </p:spPr>
        <p:txBody>
          <a:bodyPr wrap="square" lIns="0" rIns="0" tIns="0" bIns="0" anchor="t">
            <a:spAutoFit/>
          </a:bodyPr>
          <a:lstStyle/>
          <a:p>
            <a:pPr algn="l">
              <a:lnSpc>
                <a:spcPct val="115000"/>
              </a:lnSpc>
              <a:spcAft>
                <a:spcPts val="0"/>
              </a:spcAft>
            </a:pPr>
            <a:r>
              <a:rPr sz="1120" b="1" i="0">
                <a:solidFill>
                  <a:srgbClr val="52765A"/>
                </a:solidFill>
                <a:latin typeface="Arial"/>
                <a:ea typeface="Arial"/>
                <a:cs typeface="Arial"/>
              </a:rPr>
              <a:t>Practical value</a:t>
            </a:r>
          </a:p>
        </p:txBody>
      </p:sp>
      <p:sp>
        <p:nvSpPr>
          <p:cNvPr id="23" name="TextBox 22"/>
          <p:cNvSpPr txBox="1"/>
          <p:nvPr/>
        </p:nvSpPr>
        <p:spPr>
          <a:xfrm>
            <a:off x="4572000" y="4597400"/>
            <a:ext cx="3073400" cy="546100"/>
          </a:xfrm>
          <a:prstGeom prst="rect">
            <a:avLst/>
          </a:prstGeom>
          <a:noFill/>
        </p:spPr>
        <p:txBody>
          <a:bodyPr wrap="square" lIns="0" rIns="0" tIns="0" bIns="0" anchor="t">
            <a:spAutoFit/>
          </a:bodyPr>
          <a:lstStyle/>
          <a:p>
            <a:pPr algn="l">
              <a:lnSpc>
                <a:spcPct val="115000"/>
              </a:lnSpc>
              <a:spcAft>
                <a:spcPts val="0"/>
              </a:spcAft>
            </a:pPr>
            <a:r>
              <a:rPr sz="1120" b="0" i="0">
                <a:solidFill>
                  <a:srgbClr val="657269"/>
                </a:solidFill>
                <a:latin typeface="Arial"/>
                <a:ea typeface="Arial"/>
                <a:cs typeface="Arial"/>
              </a:rPr>
              <a:t>Find questionable intervals and</a:t>
            </a:r>
          </a:p>
          <a:p>
            <a:pPr algn="l">
              <a:lnSpc>
                <a:spcPct val="115000"/>
              </a:lnSpc>
              <a:spcAft>
                <a:spcPts val="0"/>
              </a:spcAft>
            </a:pPr>
            <a:r>
              <a:rPr sz="1120" b="0" i="0">
                <a:solidFill>
                  <a:srgbClr val="657269"/>
                </a:solidFill>
                <a:latin typeface="Arial"/>
                <a:ea typeface="Arial"/>
                <a:cs typeface="Arial"/>
              </a:rPr>
              <a:t>plan controlled follow-up measurements.</a:t>
            </a:r>
          </a:p>
        </p:txBody>
      </p:sp>
      <p:sp>
        <p:nvSpPr>
          <p:cNvPr id="24" name="Rounded Rectangle 23"/>
          <p:cNvSpPr/>
          <p:nvPr/>
        </p:nvSpPr>
        <p:spPr>
          <a:xfrm>
            <a:off x="8077200" y="1752600"/>
            <a:ext cx="3505200" cy="3581400"/>
          </a:xfrm>
          <a:prstGeom prst="roundRect">
            <a:avLst>
              <a:gd name="adj" fmla="val 5000"/>
            </a:avLst>
          </a:prstGeom>
          <a:solidFill>
            <a:srgbClr val="FFFFFF"/>
          </a:solidFill>
          <a:ln w="8255">
            <a:solidFill>
              <a:srgbClr val="C9D4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8077200" y="1866900"/>
            <a:ext cx="50800" cy="1155700"/>
          </a:xfrm>
          <a:prstGeom prst="rect">
            <a:avLst/>
          </a:prstGeom>
          <a:solidFill>
            <a:srgbClr val="5276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305800" y="1968500"/>
            <a:ext cx="3111500" cy="228600"/>
          </a:xfrm>
          <a:prstGeom prst="rect">
            <a:avLst/>
          </a:prstGeom>
          <a:noFill/>
        </p:spPr>
        <p:txBody>
          <a:bodyPr wrap="square" lIns="0" rIns="0" tIns="0" bIns="0" anchor="t">
            <a:spAutoFit/>
          </a:bodyPr>
          <a:lstStyle/>
          <a:p>
            <a:pPr algn="l">
              <a:lnSpc>
                <a:spcPct val="115000"/>
              </a:lnSpc>
              <a:spcAft>
                <a:spcPts val="0"/>
              </a:spcAft>
            </a:pPr>
            <a:r>
              <a:rPr sz="900" b="1" i="0">
                <a:solidFill>
                  <a:srgbClr val="52765A"/>
                </a:solidFill>
                <a:latin typeface="Arial"/>
                <a:ea typeface="Arial"/>
                <a:cs typeface="Arial"/>
              </a:rPr>
              <a:t>PREPARE LEARNING DATA</a:t>
            </a:r>
          </a:p>
        </p:txBody>
      </p:sp>
      <p:sp>
        <p:nvSpPr>
          <p:cNvPr id="27" name="TextBox 26"/>
          <p:cNvSpPr txBox="1"/>
          <p:nvPr/>
        </p:nvSpPr>
        <p:spPr>
          <a:xfrm>
            <a:off x="8305800" y="2374900"/>
            <a:ext cx="3111500" cy="673100"/>
          </a:xfrm>
          <a:prstGeom prst="rect">
            <a:avLst/>
          </a:prstGeom>
          <a:noFill/>
        </p:spPr>
        <p:txBody>
          <a:bodyPr wrap="square" lIns="0" rIns="0" tIns="0" bIns="0" anchor="t">
            <a:spAutoFit/>
          </a:bodyPr>
          <a:lstStyle/>
          <a:p>
            <a:pPr algn="l">
              <a:lnSpc>
                <a:spcPct val="115000"/>
              </a:lnSpc>
              <a:spcAft>
                <a:spcPts val="0"/>
              </a:spcAft>
            </a:pPr>
            <a:r>
              <a:rPr sz="1700" b="1" i="0">
                <a:solidFill>
                  <a:srgbClr val="1D2B24"/>
                </a:solidFill>
                <a:latin typeface="Arial"/>
                <a:ea typeface="Arial"/>
                <a:cs typeface="Arial"/>
              </a:rPr>
              <a:t>What can become</a:t>
            </a:r>
          </a:p>
          <a:p>
            <a:pPr algn="l">
              <a:lnSpc>
                <a:spcPct val="115000"/>
              </a:lnSpc>
              <a:spcAft>
                <a:spcPts val="0"/>
              </a:spcAft>
            </a:pPr>
            <a:r>
              <a:rPr sz="1700" b="1" i="0">
                <a:solidFill>
                  <a:srgbClr val="1D2B24"/>
                </a:solidFill>
                <a:latin typeface="Arial"/>
                <a:ea typeface="Arial"/>
                <a:cs typeface="Arial"/>
              </a:rPr>
              <a:t>a useful training signal?</a:t>
            </a:r>
          </a:p>
        </p:txBody>
      </p:sp>
      <p:sp>
        <p:nvSpPr>
          <p:cNvPr id="28" name="TextBox 27"/>
          <p:cNvSpPr txBox="1"/>
          <p:nvPr/>
        </p:nvSpPr>
        <p:spPr>
          <a:xfrm>
            <a:off x="8305800" y="3238500"/>
            <a:ext cx="3111500" cy="622300"/>
          </a:xfrm>
          <a:prstGeom prst="rect">
            <a:avLst/>
          </a:prstGeom>
          <a:noFill/>
        </p:spPr>
        <p:txBody>
          <a:bodyPr wrap="square" lIns="0" rIns="0" tIns="0" bIns="0" anchor="t">
            <a:spAutoFit/>
          </a:bodyPr>
          <a:lstStyle/>
          <a:p>
            <a:pPr algn="l">
              <a:lnSpc>
                <a:spcPct val="115000"/>
              </a:lnSpc>
              <a:spcAft>
                <a:spcPts val="0"/>
              </a:spcAft>
            </a:pPr>
            <a:r>
              <a:rPr sz="1120" b="0" i="0">
                <a:solidFill>
                  <a:srgbClr val="657269"/>
                </a:solidFill>
                <a:latin typeface="Arial"/>
                <a:ea typeface="Arial"/>
                <a:cs typeface="Arial"/>
              </a:rPr>
              <a:t>Use quality reports to review samples</a:t>
            </a:r>
          </a:p>
          <a:p>
            <a:pPr algn="l">
              <a:lnSpc>
                <a:spcPct val="115000"/>
              </a:lnSpc>
              <a:spcAft>
                <a:spcPts val="0"/>
              </a:spcAft>
            </a:pPr>
            <a:r>
              <a:rPr sz="1120" b="0" i="0">
                <a:solidFill>
                  <a:srgbClr val="657269"/>
                </a:solidFill>
                <a:latin typeface="Arial"/>
                <a:ea typeface="Arial"/>
                <a:cs typeface="Arial"/>
              </a:rPr>
              <a:t>and compare repeated trials.</a:t>
            </a:r>
          </a:p>
        </p:txBody>
      </p:sp>
      <p:cxnSp>
        <p:nvCxnSpPr>
          <p:cNvPr id="29" name="Connector 28"/>
          <p:cNvCxnSpPr/>
          <p:nvPr/>
        </p:nvCxnSpPr>
        <p:spPr>
          <a:xfrm>
            <a:off x="8305800" y="4051300"/>
            <a:ext cx="30480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8305800" y="4254500"/>
            <a:ext cx="3048000" cy="241300"/>
          </a:xfrm>
          <a:prstGeom prst="rect">
            <a:avLst/>
          </a:prstGeom>
          <a:noFill/>
        </p:spPr>
        <p:txBody>
          <a:bodyPr wrap="square" lIns="0" rIns="0" tIns="0" bIns="0" anchor="t">
            <a:spAutoFit/>
          </a:bodyPr>
          <a:lstStyle/>
          <a:p>
            <a:pPr algn="l">
              <a:lnSpc>
                <a:spcPct val="115000"/>
              </a:lnSpc>
              <a:spcAft>
                <a:spcPts val="0"/>
              </a:spcAft>
            </a:pPr>
            <a:r>
              <a:rPr sz="1120" b="1" i="0">
                <a:solidFill>
                  <a:srgbClr val="52765A"/>
                </a:solidFill>
                <a:latin typeface="Arial"/>
                <a:ea typeface="Arial"/>
                <a:cs typeface="Arial"/>
              </a:rPr>
              <a:t>After calibration</a:t>
            </a:r>
          </a:p>
        </p:txBody>
      </p:sp>
      <p:sp>
        <p:nvSpPr>
          <p:cNvPr id="31" name="TextBox 30"/>
          <p:cNvSpPr txBox="1"/>
          <p:nvPr/>
        </p:nvSpPr>
        <p:spPr>
          <a:xfrm>
            <a:off x="8305800" y="4597400"/>
            <a:ext cx="3073400" cy="546100"/>
          </a:xfrm>
          <a:prstGeom prst="rect">
            <a:avLst/>
          </a:prstGeom>
          <a:noFill/>
        </p:spPr>
        <p:txBody>
          <a:bodyPr wrap="square" lIns="0" rIns="0" tIns="0" bIns="0" anchor="t">
            <a:spAutoFit/>
          </a:bodyPr>
          <a:lstStyle/>
          <a:p>
            <a:pPr algn="l">
              <a:lnSpc>
                <a:spcPct val="115000"/>
              </a:lnSpc>
              <a:spcAft>
                <a:spcPts val="0"/>
              </a:spcAft>
            </a:pPr>
            <a:r>
              <a:rPr sz="1120" b="0" i="0">
                <a:solidFill>
                  <a:srgbClr val="657269"/>
                </a:solidFill>
                <a:latin typeface="Arial"/>
                <a:ea typeface="Arial"/>
                <a:cs typeface="Arial"/>
              </a:rPr>
              <a:t>Build traceable force / area / pressure</a:t>
            </a:r>
          </a:p>
          <a:p>
            <a:pPr algn="l">
              <a:lnSpc>
                <a:spcPct val="115000"/>
              </a:lnSpc>
              <a:spcAft>
                <a:spcPts val="0"/>
              </a:spcAft>
            </a:pPr>
            <a:r>
              <a:rPr sz="1120" b="0" i="0">
                <a:solidFill>
                  <a:srgbClr val="657269"/>
                </a:solidFill>
                <a:latin typeface="Arial"/>
                <a:ea typeface="Arial"/>
                <a:cs typeface="Arial"/>
              </a:rPr>
              <a:t>targets for later learning experiments.</a:t>
            </a:r>
          </a:p>
        </p:txBody>
      </p:sp>
      <p:sp>
        <p:nvSpPr>
          <p:cNvPr id="32" name="Rounded Rectangle 31"/>
          <p:cNvSpPr/>
          <p:nvPr/>
        </p:nvSpPr>
        <p:spPr>
          <a:xfrm>
            <a:off x="609600" y="5829300"/>
            <a:ext cx="10972800" cy="419100"/>
          </a:xfrm>
          <a:prstGeom prst="roundRect">
            <a:avLst>
              <a:gd name="adj" fmla="val 5000"/>
            </a:avLst>
          </a:prstGeom>
          <a:solidFill>
            <a:srgbClr val="EEF3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87400" y="5918200"/>
            <a:ext cx="10617200" cy="292100"/>
          </a:xfrm>
          <a:prstGeom prst="rect">
            <a:avLst/>
          </a:prstGeom>
          <a:noFill/>
        </p:spPr>
        <p:txBody>
          <a:bodyPr wrap="square" lIns="0" rIns="0" tIns="0" bIns="0" anchor="t">
            <a:spAutoFit/>
          </a:bodyPr>
          <a:lstStyle/>
          <a:p>
            <a:pPr algn="l">
              <a:lnSpc>
                <a:spcPct val="115000"/>
              </a:lnSpc>
              <a:spcAft>
                <a:spcPts val="0"/>
              </a:spcAft>
            </a:pPr>
            <a:r>
              <a:rPr sz="1050" b="0" i="0">
                <a:solidFill>
                  <a:srgbClr val="52765A"/>
                </a:solidFill>
                <a:latin typeface="Arial"/>
                <a:ea typeface="Arial"/>
                <a:cs typeface="Arial"/>
              </a:rPr>
              <a:t>Current module: offline analysis. Using tactile feedback in control is a separate future integration.</a:t>
            </a:r>
          </a:p>
        </p:txBody>
      </p:sp>
    </p:spTree>
  </p:cSld>
  <p:transition xmlns:p="http://schemas.openxmlformats.org/presentationml/2006/main" spd="slow">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09600" y="342900"/>
            <a:ext cx="10972800" cy="177800"/>
          </a:xfrm>
          <a:prstGeom prst="rect">
            <a:avLst/>
          </a:prstGeom>
          <a:noFill/>
        </p:spPr>
        <p:txBody>
          <a:bodyPr wrap="square" lIns="0" rIns="0" tIns="0" bIns="0" anchor="t">
            <a:spAutoFit/>
          </a:bodyPr>
          <a:lstStyle/>
          <a:p>
            <a:pPr algn="l">
              <a:lnSpc>
                <a:spcPct val="115000"/>
              </a:lnSpc>
              <a:spcAft>
                <a:spcPts val="0"/>
              </a:spcAft>
            </a:pPr>
            <a:r>
              <a:rPr sz="900" b="1" i="0">
                <a:solidFill>
                  <a:srgbClr val="52765A"/>
                </a:solidFill>
                <a:latin typeface="Arial"/>
                <a:ea typeface="Arial"/>
                <a:cs typeface="Arial"/>
              </a:rPr>
              <a:t>07 / DATA &amp; VALIDITY</a:t>
            </a:r>
          </a:p>
        </p:txBody>
      </p:sp>
      <p:sp>
        <p:nvSpPr>
          <p:cNvPr id="3" name="TextBox 2"/>
          <p:cNvSpPr txBox="1"/>
          <p:nvPr/>
        </p:nvSpPr>
        <p:spPr>
          <a:xfrm>
            <a:off x="596900" y="596900"/>
            <a:ext cx="11023600" cy="444500"/>
          </a:xfrm>
          <a:prstGeom prst="rect">
            <a:avLst/>
          </a:prstGeom>
          <a:noFill/>
        </p:spPr>
        <p:txBody>
          <a:bodyPr wrap="square" lIns="0" rIns="0" tIns="0" bIns="0" anchor="t">
            <a:spAutoFit/>
          </a:bodyPr>
          <a:lstStyle/>
          <a:p>
            <a:pPr algn="l">
              <a:lnSpc>
                <a:spcPct val="115000"/>
              </a:lnSpc>
              <a:spcAft>
                <a:spcPts val="0"/>
              </a:spcAft>
            </a:pPr>
            <a:r>
              <a:rPr sz="2250" b="1" i="0">
                <a:solidFill>
                  <a:srgbClr val="1D2B24"/>
                </a:solidFill>
                <a:latin typeface="Arial"/>
                <a:ea typeface="Arial"/>
                <a:cs typeface="Arial"/>
              </a:rPr>
              <a:t>Check data validity before interpreting the signal</a:t>
            </a:r>
          </a:p>
        </p:txBody>
      </p:sp>
      <p:sp>
        <p:nvSpPr>
          <p:cNvPr id="4" name="TextBox 3"/>
          <p:cNvSpPr txBox="1"/>
          <p:nvPr/>
        </p:nvSpPr>
        <p:spPr>
          <a:xfrm>
            <a:off x="609600" y="1016000"/>
            <a:ext cx="10972800" cy="355600"/>
          </a:xfrm>
          <a:prstGeom prst="rect">
            <a:avLst/>
          </a:prstGeom>
          <a:noFill/>
        </p:spPr>
        <p:txBody>
          <a:bodyPr wrap="square" lIns="0" rIns="0" tIns="0" bIns="0" anchor="t">
            <a:spAutoFit/>
          </a:bodyPr>
          <a:lstStyle/>
          <a:p>
            <a:pPr algn="l">
              <a:lnSpc>
                <a:spcPct val="115000"/>
              </a:lnSpc>
              <a:spcAft>
                <a:spcPts val="0"/>
              </a:spcAft>
            </a:pPr>
            <a:r>
              <a:rPr sz="1200" b="0" i="0">
                <a:solidFill>
                  <a:srgbClr val="657269"/>
                </a:solidFill>
                <a:latin typeface="Arial"/>
                <a:ea typeface="Arial"/>
                <a:cs typeface="Arial"/>
              </a:rPr>
              <a:t>One hand provides 1,140 signed three-axis taxels per frame, plus 11 SDK summary vectors.</a:t>
            </a:r>
          </a:p>
        </p:txBody>
      </p:sp>
      <p:cxnSp>
        <p:nvCxnSpPr>
          <p:cNvPr id="5" name="Connector 4"/>
          <p:cNvCxnSpPr/>
          <p:nvPr/>
        </p:nvCxnSpPr>
        <p:spPr>
          <a:xfrm>
            <a:off x="609600" y="1384300"/>
            <a:ext cx="109728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09600" y="6464300"/>
            <a:ext cx="9652000" cy="152400"/>
          </a:xfrm>
          <a:prstGeom prst="rect">
            <a:avLst/>
          </a:prstGeom>
          <a:noFill/>
        </p:spPr>
        <p:txBody>
          <a:bodyPr wrap="square" lIns="0" rIns="0" tIns="0" bIns="0" anchor="t">
            <a:spAutoFit/>
          </a:bodyPr>
          <a:lstStyle/>
          <a:p>
            <a:pPr algn="l">
              <a:lnSpc>
                <a:spcPct val="115000"/>
              </a:lnSpc>
              <a:spcAft>
                <a:spcPts val="0"/>
              </a:spcAft>
            </a:pPr>
            <a:r>
              <a:rPr sz="750" b="1" i="0">
                <a:solidFill>
                  <a:srgbClr val="657269"/>
                </a:solidFill>
                <a:latin typeface="Arial"/>
                <a:ea typeface="Arial"/>
                <a:cs typeface="Arial"/>
              </a:rPr>
              <a:t>DEXMAN_LEROBOT / VR TELEOPERATION SYSTEM</a:t>
            </a:r>
          </a:p>
        </p:txBody>
      </p:sp>
      <p:sp>
        <p:nvSpPr>
          <p:cNvPr id="7" name="TextBox 6"/>
          <p:cNvSpPr txBox="1"/>
          <p:nvPr/>
        </p:nvSpPr>
        <p:spPr>
          <a:xfrm>
            <a:off x="10795000" y="6464300"/>
            <a:ext cx="787400" cy="152400"/>
          </a:xfrm>
          <a:prstGeom prst="rect">
            <a:avLst/>
          </a:prstGeom>
          <a:noFill/>
        </p:spPr>
        <p:txBody>
          <a:bodyPr wrap="square" lIns="0" rIns="0" tIns="0" bIns="0" anchor="t">
            <a:spAutoFit/>
          </a:bodyPr>
          <a:lstStyle/>
          <a:p>
            <a:pPr algn="r">
              <a:lnSpc>
                <a:spcPct val="115000"/>
              </a:lnSpc>
              <a:spcAft>
                <a:spcPts val="0"/>
              </a:spcAft>
            </a:pPr>
            <a:r>
              <a:rPr sz="750" b="1" i="0">
                <a:solidFill>
                  <a:srgbClr val="657269"/>
                </a:solidFill>
                <a:latin typeface="Arial"/>
                <a:ea typeface="Arial"/>
                <a:cs typeface="Arial"/>
              </a:rPr>
              <a:t>07 / 10</a:t>
            </a:r>
          </a:p>
        </p:txBody>
      </p:sp>
      <p:sp>
        <p:nvSpPr>
          <p:cNvPr id="8" name="Rounded Rectangle 7"/>
          <p:cNvSpPr/>
          <p:nvPr/>
        </p:nvSpPr>
        <p:spPr>
          <a:xfrm>
            <a:off x="609600" y="1727200"/>
            <a:ext cx="5461000" cy="3759200"/>
          </a:xfrm>
          <a:prstGeom prst="roundRect">
            <a:avLst>
              <a:gd name="adj" fmla="val 5000"/>
            </a:avLst>
          </a:prstGeom>
          <a:solidFill>
            <a:srgbClr val="FFFFFF"/>
          </a:solidFill>
          <a:ln w="8255">
            <a:solidFill>
              <a:srgbClr val="C9D4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38200" y="1917700"/>
            <a:ext cx="4953000" cy="254000"/>
          </a:xfrm>
          <a:prstGeom prst="rect">
            <a:avLst/>
          </a:prstGeom>
          <a:noFill/>
        </p:spPr>
        <p:txBody>
          <a:bodyPr wrap="square" lIns="0" rIns="0" tIns="0" bIns="0" anchor="t">
            <a:spAutoFit/>
          </a:bodyPr>
          <a:lstStyle/>
          <a:p>
            <a:pPr algn="l">
              <a:lnSpc>
                <a:spcPct val="115000"/>
              </a:lnSpc>
              <a:spcAft>
                <a:spcPts val="0"/>
              </a:spcAft>
            </a:pPr>
            <a:r>
              <a:rPr sz="1050" b="1" i="0">
                <a:solidFill>
                  <a:srgbClr val="52765A"/>
                </a:solidFill>
                <a:latin typeface="Arial"/>
                <a:ea typeface="Arial"/>
                <a:cs typeface="Arial"/>
              </a:rPr>
              <a:t>WHAT IS RECORDED</a:t>
            </a:r>
          </a:p>
        </p:txBody>
      </p:sp>
      <p:sp>
        <p:nvSpPr>
          <p:cNvPr id="10" name="TextBox 9"/>
          <p:cNvSpPr txBox="1"/>
          <p:nvPr/>
        </p:nvSpPr>
        <p:spPr>
          <a:xfrm>
            <a:off x="838200" y="2349500"/>
            <a:ext cx="2857500" cy="228600"/>
          </a:xfrm>
          <a:prstGeom prst="rect">
            <a:avLst/>
          </a:prstGeom>
          <a:noFill/>
        </p:spPr>
        <p:txBody>
          <a:bodyPr wrap="square" lIns="0" rIns="0" tIns="0" bIns="0" anchor="t">
            <a:spAutoFit/>
          </a:bodyPr>
          <a:lstStyle/>
          <a:p>
            <a:pPr algn="l">
              <a:lnSpc>
                <a:spcPct val="115000"/>
              </a:lnSpc>
              <a:spcAft>
                <a:spcPts val="0"/>
              </a:spcAft>
            </a:pPr>
            <a:r>
              <a:rPr sz="1120" b="1" i="0">
                <a:solidFill>
                  <a:srgbClr val="1D2B24"/>
                </a:solidFill>
                <a:latin typeface="Arial"/>
                <a:ea typeface="Arial"/>
                <a:cs typeface="Arial"/>
              </a:rPr>
              <a:t>taxel_raw</a:t>
            </a:r>
          </a:p>
        </p:txBody>
      </p:sp>
      <p:sp>
        <p:nvSpPr>
          <p:cNvPr id="11" name="TextBox 10"/>
          <p:cNvSpPr txBox="1"/>
          <p:nvPr/>
        </p:nvSpPr>
        <p:spPr>
          <a:xfrm>
            <a:off x="3517900" y="2362200"/>
            <a:ext cx="2311400" cy="203200"/>
          </a:xfrm>
          <a:prstGeom prst="rect">
            <a:avLst/>
          </a:prstGeom>
          <a:noFill/>
        </p:spPr>
        <p:txBody>
          <a:bodyPr wrap="square" lIns="0" rIns="0" tIns="0" bIns="0" anchor="t">
            <a:spAutoFit/>
          </a:bodyPr>
          <a:lstStyle/>
          <a:p>
            <a:pPr algn="r">
              <a:lnSpc>
                <a:spcPct val="115000"/>
              </a:lnSpc>
              <a:spcAft>
                <a:spcPts val="0"/>
              </a:spcAft>
            </a:pPr>
            <a:r>
              <a:rPr sz="950" b="0" i="0">
                <a:solidFill>
                  <a:srgbClr val="657269"/>
                </a:solidFill>
                <a:latin typeface="Arial"/>
                <a:ea typeface="Arial"/>
                <a:cs typeface="Arial"/>
              </a:rPr>
              <a:t>[N, 1140, 3] int32</a:t>
            </a:r>
          </a:p>
        </p:txBody>
      </p:sp>
      <p:sp>
        <p:nvSpPr>
          <p:cNvPr id="12" name="TextBox 11"/>
          <p:cNvSpPr txBox="1"/>
          <p:nvPr/>
        </p:nvSpPr>
        <p:spPr>
          <a:xfrm>
            <a:off x="838200" y="2628900"/>
            <a:ext cx="4991100" cy="3683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Signed SDK x / y / z counts; no normalization.</a:t>
            </a:r>
          </a:p>
        </p:txBody>
      </p:sp>
      <p:cxnSp>
        <p:nvCxnSpPr>
          <p:cNvPr id="13" name="Connector 12"/>
          <p:cNvCxnSpPr/>
          <p:nvPr/>
        </p:nvCxnSpPr>
        <p:spPr>
          <a:xfrm>
            <a:off x="838200" y="2959100"/>
            <a:ext cx="49911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838200" y="3086100"/>
            <a:ext cx="2857500" cy="228600"/>
          </a:xfrm>
          <a:prstGeom prst="rect">
            <a:avLst/>
          </a:prstGeom>
          <a:noFill/>
        </p:spPr>
        <p:txBody>
          <a:bodyPr wrap="square" lIns="0" rIns="0" tIns="0" bIns="0" anchor="t">
            <a:spAutoFit/>
          </a:bodyPr>
          <a:lstStyle/>
          <a:p>
            <a:pPr algn="l">
              <a:lnSpc>
                <a:spcPct val="115000"/>
              </a:lnSpc>
              <a:spcAft>
                <a:spcPts val="0"/>
              </a:spcAft>
            </a:pPr>
            <a:r>
              <a:rPr sz="1120" b="1" i="0">
                <a:solidFill>
                  <a:srgbClr val="1D2B24"/>
                </a:solidFill>
                <a:latin typeface="Arial"/>
                <a:ea typeface="Arial"/>
                <a:cs typeface="Arial"/>
              </a:rPr>
              <a:t>sensor_summary_raw</a:t>
            </a:r>
          </a:p>
        </p:txBody>
      </p:sp>
      <p:sp>
        <p:nvSpPr>
          <p:cNvPr id="15" name="TextBox 14"/>
          <p:cNvSpPr txBox="1"/>
          <p:nvPr/>
        </p:nvSpPr>
        <p:spPr>
          <a:xfrm>
            <a:off x="3517900" y="3098800"/>
            <a:ext cx="2311400" cy="203200"/>
          </a:xfrm>
          <a:prstGeom prst="rect">
            <a:avLst/>
          </a:prstGeom>
          <a:noFill/>
        </p:spPr>
        <p:txBody>
          <a:bodyPr wrap="square" lIns="0" rIns="0" tIns="0" bIns="0" anchor="t">
            <a:spAutoFit/>
          </a:bodyPr>
          <a:lstStyle/>
          <a:p>
            <a:pPr algn="r">
              <a:lnSpc>
                <a:spcPct val="115000"/>
              </a:lnSpc>
              <a:spcAft>
                <a:spcPts val="0"/>
              </a:spcAft>
            </a:pPr>
            <a:r>
              <a:rPr sz="950" b="0" i="0">
                <a:solidFill>
                  <a:srgbClr val="657269"/>
                </a:solidFill>
                <a:latin typeface="Arial"/>
                <a:ea typeface="Arial"/>
                <a:cs typeface="Arial"/>
              </a:rPr>
              <a:t>[N, 11, 3] int32</a:t>
            </a:r>
          </a:p>
        </p:txBody>
      </p:sp>
      <p:sp>
        <p:nvSpPr>
          <p:cNvPr id="16" name="TextBox 15"/>
          <p:cNvSpPr txBox="1"/>
          <p:nvPr/>
        </p:nvSpPr>
        <p:spPr>
          <a:xfrm>
            <a:off x="838200" y="3365500"/>
            <a:ext cx="4991100" cy="3683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Separate SDK summaries; not a verified taxel sum.</a:t>
            </a:r>
          </a:p>
        </p:txBody>
      </p:sp>
      <p:cxnSp>
        <p:nvCxnSpPr>
          <p:cNvPr id="17" name="Connector 16"/>
          <p:cNvCxnSpPr/>
          <p:nvPr/>
        </p:nvCxnSpPr>
        <p:spPr>
          <a:xfrm>
            <a:off x="838200" y="3695700"/>
            <a:ext cx="49911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838200" y="3822700"/>
            <a:ext cx="2857500" cy="228600"/>
          </a:xfrm>
          <a:prstGeom prst="rect">
            <a:avLst/>
          </a:prstGeom>
          <a:noFill/>
        </p:spPr>
        <p:txBody>
          <a:bodyPr wrap="square" lIns="0" rIns="0" tIns="0" bIns="0" anchor="t">
            <a:spAutoFit/>
          </a:bodyPr>
          <a:lstStyle/>
          <a:p>
            <a:pPr algn="l">
              <a:lnSpc>
                <a:spcPct val="115000"/>
              </a:lnSpc>
              <a:spcAft>
                <a:spcPts val="0"/>
              </a:spcAft>
            </a:pPr>
            <a:r>
              <a:rPr sz="1120" b="1" i="0">
                <a:solidFill>
                  <a:srgbClr val="1D2B24"/>
                </a:solidFill>
                <a:latin typeface="Arial"/>
                <a:ea typeface="Arial"/>
                <a:cs typeface="Arial"/>
              </a:rPr>
              <a:t>Validity fields</a:t>
            </a:r>
          </a:p>
        </p:txBody>
      </p:sp>
      <p:sp>
        <p:nvSpPr>
          <p:cNvPr id="19" name="TextBox 18"/>
          <p:cNvSpPr txBox="1"/>
          <p:nvPr/>
        </p:nvSpPr>
        <p:spPr>
          <a:xfrm>
            <a:off x="3517900" y="3835400"/>
            <a:ext cx="2311400" cy="203200"/>
          </a:xfrm>
          <a:prstGeom prst="rect">
            <a:avLst/>
          </a:prstGeom>
          <a:noFill/>
        </p:spPr>
        <p:txBody>
          <a:bodyPr wrap="square" lIns="0" rIns="0" tIns="0" bIns="0" anchor="t">
            <a:spAutoFit/>
          </a:bodyPr>
          <a:lstStyle/>
          <a:p>
            <a:pPr algn="r">
              <a:lnSpc>
                <a:spcPct val="115000"/>
              </a:lnSpc>
              <a:spcAft>
                <a:spcPts val="0"/>
              </a:spcAft>
            </a:pPr>
            <a:r>
              <a:rPr sz="950" b="0" i="0">
                <a:solidFill>
                  <a:srgbClr val="657269"/>
                </a:solidFill>
                <a:latin typeface="Arial"/>
                <a:ea typeface="Arial"/>
                <a:cs typeface="Arial"/>
              </a:rPr>
              <a:t>mask + packet + sample</a:t>
            </a:r>
          </a:p>
        </p:txBody>
      </p:sp>
      <p:sp>
        <p:nvSpPr>
          <p:cNvPr id="20" name="TextBox 19"/>
          <p:cNvSpPr txBox="1"/>
          <p:nvPr/>
        </p:nvSpPr>
        <p:spPr>
          <a:xfrm>
            <a:off x="838200" y="4102100"/>
            <a:ext cx="4991100" cy="3683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Nonzero values alone do not establish valid contact.</a:t>
            </a:r>
          </a:p>
        </p:txBody>
      </p:sp>
      <p:cxnSp>
        <p:nvCxnSpPr>
          <p:cNvPr id="21" name="Connector 20"/>
          <p:cNvCxnSpPr/>
          <p:nvPr/>
        </p:nvCxnSpPr>
        <p:spPr>
          <a:xfrm>
            <a:off x="838200" y="4432300"/>
            <a:ext cx="49911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838200" y="4559300"/>
            <a:ext cx="2857500" cy="228600"/>
          </a:xfrm>
          <a:prstGeom prst="rect">
            <a:avLst/>
          </a:prstGeom>
          <a:noFill/>
        </p:spPr>
        <p:txBody>
          <a:bodyPr wrap="square" lIns="0" rIns="0" tIns="0" bIns="0" anchor="t">
            <a:spAutoFit/>
          </a:bodyPr>
          <a:lstStyle/>
          <a:p>
            <a:pPr algn="l">
              <a:lnSpc>
                <a:spcPct val="115000"/>
              </a:lnSpc>
              <a:spcAft>
                <a:spcPts val="0"/>
              </a:spcAft>
            </a:pPr>
            <a:r>
              <a:rPr sz="1120" b="1" i="0">
                <a:solidFill>
                  <a:srgbClr val="1D2B24"/>
                </a:solidFill>
                <a:latin typeface="Arial"/>
                <a:ea typeface="Arial"/>
                <a:cs typeface="Arial"/>
              </a:rPr>
              <a:t>Time + temperature</a:t>
            </a:r>
          </a:p>
        </p:txBody>
      </p:sp>
      <p:sp>
        <p:nvSpPr>
          <p:cNvPr id="23" name="TextBox 22"/>
          <p:cNvSpPr txBox="1"/>
          <p:nvPr/>
        </p:nvSpPr>
        <p:spPr>
          <a:xfrm>
            <a:off x="3517900" y="4572000"/>
            <a:ext cx="2311400" cy="203200"/>
          </a:xfrm>
          <a:prstGeom prst="rect">
            <a:avLst/>
          </a:prstGeom>
          <a:noFill/>
        </p:spPr>
        <p:txBody>
          <a:bodyPr wrap="square" lIns="0" rIns="0" tIns="0" bIns="0" anchor="t">
            <a:spAutoFit/>
          </a:bodyPr>
          <a:lstStyle/>
          <a:p>
            <a:pPr algn="r">
              <a:lnSpc>
                <a:spcPct val="115000"/>
              </a:lnSpc>
              <a:spcAft>
                <a:spcPts val="0"/>
              </a:spcAft>
            </a:pPr>
            <a:r>
              <a:rPr sz="950" b="0" i="0">
                <a:solidFill>
                  <a:srgbClr val="657269"/>
                </a:solidFill>
                <a:latin typeface="Arial"/>
                <a:ea typeface="Arial"/>
                <a:cs typeface="Arial"/>
              </a:rPr>
              <a:t>host ns + events.jsonl</a:t>
            </a:r>
          </a:p>
        </p:txBody>
      </p:sp>
      <p:sp>
        <p:nvSpPr>
          <p:cNvPr id="24" name="TextBox 23"/>
          <p:cNvSpPr txBox="1"/>
          <p:nvPr/>
        </p:nvSpPr>
        <p:spPr>
          <a:xfrm>
            <a:off x="838200" y="4838700"/>
            <a:ext cx="4991100" cy="3683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Each hand keeps its own time; row numbers do not sync.</a:t>
            </a:r>
          </a:p>
        </p:txBody>
      </p:sp>
      <p:sp>
        <p:nvSpPr>
          <p:cNvPr id="25" name="TextBox 24"/>
          <p:cNvSpPr txBox="1"/>
          <p:nvPr/>
        </p:nvSpPr>
        <p:spPr>
          <a:xfrm>
            <a:off x="6350000" y="1841500"/>
            <a:ext cx="5143500" cy="254000"/>
          </a:xfrm>
          <a:prstGeom prst="rect">
            <a:avLst/>
          </a:prstGeom>
          <a:noFill/>
        </p:spPr>
        <p:txBody>
          <a:bodyPr wrap="square" lIns="0" rIns="0" tIns="0" bIns="0" anchor="t">
            <a:spAutoFit/>
          </a:bodyPr>
          <a:lstStyle/>
          <a:p>
            <a:pPr algn="l">
              <a:lnSpc>
                <a:spcPct val="115000"/>
              </a:lnSpc>
              <a:spcAft>
                <a:spcPts val="0"/>
              </a:spcAft>
            </a:pPr>
            <a:r>
              <a:rPr sz="1050" b="1" i="0">
                <a:solidFill>
                  <a:srgbClr val="52765A"/>
                </a:solidFill>
                <a:latin typeface="Arial"/>
                <a:ea typeface="Arial"/>
                <a:cs typeface="Arial"/>
              </a:rPr>
              <a:t>ACTUAL RECORDING / 2026-10-21</a:t>
            </a:r>
          </a:p>
        </p:txBody>
      </p:sp>
      <p:sp>
        <p:nvSpPr>
          <p:cNvPr id="26" name="TextBox 25"/>
          <p:cNvSpPr txBox="1"/>
          <p:nvPr/>
        </p:nvSpPr>
        <p:spPr>
          <a:xfrm>
            <a:off x="6350000" y="2298700"/>
            <a:ext cx="2527300" cy="457200"/>
          </a:xfrm>
          <a:prstGeom prst="rect">
            <a:avLst/>
          </a:prstGeom>
          <a:noFill/>
        </p:spPr>
        <p:txBody>
          <a:bodyPr wrap="square" lIns="0" rIns="0" tIns="0" bIns="0" anchor="t">
            <a:spAutoFit/>
          </a:bodyPr>
          <a:lstStyle/>
          <a:p>
            <a:pPr algn="l">
              <a:lnSpc>
                <a:spcPct val="115000"/>
              </a:lnSpc>
              <a:spcAft>
                <a:spcPts val="0"/>
              </a:spcAft>
            </a:pPr>
            <a:r>
              <a:rPr sz="2500" b="1" i="0">
                <a:solidFill>
                  <a:srgbClr val="52765A"/>
                </a:solidFill>
                <a:latin typeface="Arial"/>
                <a:ea typeface="Arial"/>
                <a:cs typeface="Arial"/>
              </a:rPr>
              <a:t>407 / 408</a:t>
            </a:r>
          </a:p>
        </p:txBody>
      </p:sp>
      <p:sp>
        <p:nvSpPr>
          <p:cNvPr id="27" name="TextBox 26"/>
          <p:cNvSpPr txBox="1"/>
          <p:nvPr/>
        </p:nvSpPr>
        <p:spPr>
          <a:xfrm>
            <a:off x="6350000" y="2794000"/>
            <a:ext cx="2527300" cy="2540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frames, left / right</a:t>
            </a:r>
          </a:p>
        </p:txBody>
      </p:sp>
      <p:sp>
        <p:nvSpPr>
          <p:cNvPr id="28" name="TextBox 27"/>
          <p:cNvSpPr txBox="1"/>
          <p:nvPr/>
        </p:nvSpPr>
        <p:spPr>
          <a:xfrm>
            <a:off x="9029700" y="2298700"/>
            <a:ext cx="2527300" cy="457200"/>
          </a:xfrm>
          <a:prstGeom prst="rect">
            <a:avLst/>
          </a:prstGeom>
          <a:noFill/>
        </p:spPr>
        <p:txBody>
          <a:bodyPr wrap="square" lIns="0" rIns="0" tIns="0" bIns="0" anchor="t">
            <a:spAutoFit/>
          </a:bodyPr>
          <a:lstStyle/>
          <a:p>
            <a:pPr algn="l">
              <a:lnSpc>
                <a:spcPct val="115000"/>
              </a:lnSpc>
              <a:spcAft>
                <a:spcPts val="0"/>
              </a:spcAft>
            </a:pPr>
            <a:r>
              <a:rPr sz="2500" b="1" i="0">
                <a:solidFill>
                  <a:srgbClr val="52765A"/>
                </a:solidFill>
                <a:latin typeface="Arial"/>
                <a:ea typeface="Arial"/>
                <a:cs typeface="Arial"/>
              </a:rPr>
              <a:t>~8.75 Hz</a:t>
            </a:r>
          </a:p>
        </p:txBody>
      </p:sp>
      <p:sp>
        <p:nvSpPr>
          <p:cNvPr id="29" name="TextBox 28"/>
          <p:cNvSpPr txBox="1"/>
          <p:nvPr/>
        </p:nvSpPr>
        <p:spPr>
          <a:xfrm>
            <a:off x="9029700" y="2794000"/>
            <a:ext cx="2527300" cy="2540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host sampling rate</a:t>
            </a:r>
          </a:p>
        </p:txBody>
      </p:sp>
      <p:sp>
        <p:nvSpPr>
          <p:cNvPr id="30" name="TextBox 29"/>
          <p:cNvSpPr txBox="1"/>
          <p:nvPr/>
        </p:nvSpPr>
        <p:spPr>
          <a:xfrm>
            <a:off x="6350000" y="3429000"/>
            <a:ext cx="2527300" cy="457200"/>
          </a:xfrm>
          <a:prstGeom prst="rect">
            <a:avLst/>
          </a:prstGeom>
          <a:noFill/>
        </p:spPr>
        <p:txBody>
          <a:bodyPr wrap="square" lIns="0" rIns="0" tIns="0" bIns="0" anchor="t">
            <a:spAutoFit/>
          </a:bodyPr>
          <a:lstStyle/>
          <a:p>
            <a:pPr algn="l">
              <a:lnSpc>
                <a:spcPct val="115000"/>
              </a:lnSpc>
              <a:spcAft>
                <a:spcPts val="0"/>
              </a:spcAft>
            </a:pPr>
            <a:r>
              <a:rPr sz="2500" b="1" i="0">
                <a:solidFill>
                  <a:srgbClr val="52765A"/>
                </a:solidFill>
                <a:latin typeface="Arial"/>
                <a:ea typeface="Arial"/>
                <a:cs typeface="Arial"/>
              </a:rPr>
              <a:t>100%</a:t>
            </a:r>
          </a:p>
        </p:txBody>
      </p:sp>
      <p:sp>
        <p:nvSpPr>
          <p:cNvPr id="31" name="TextBox 30"/>
          <p:cNvSpPr txBox="1"/>
          <p:nvPr/>
        </p:nvSpPr>
        <p:spPr>
          <a:xfrm>
            <a:off x="6350000" y="3924300"/>
            <a:ext cx="2527300" cy="2540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packet_valid, both hands</a:t>
            </a:r>
          </a:p>
        </p:txBody>
      </p:sp>
      <p:sp>
        <p:nvSpPr>
          <p:cNvPr id="32" name="TextBox 31"/>
          <p:cNvSpPr txBox="1"/>
          <p:nvPr/>
        </p:nvSpPr>
        <p:spPr>
          <a:xfrm>
            <a:off x="9029700" y="3429000"/>
            <a:ext cx="2527300" cy="457200"/>
          </a:xfrm>
          <a:prstGeom prst="rect">
            <a:avLst/>
          </a:prstGeom>
          <a:noFill/>
        </p:spPr>
        <p:txBody>
          <a:bodyPr wrap="square" lIns="0" rIns="0" tIns="0" bIns="0" anchor="t">
            <a:spAutoFit/>
          </a:bodyPr>
          <a:lstStyle/>
          <a:p>
            <a:pPr algn="l">
              <a:lnSpc>
                <a:spcPct val="115000"/>
              </a:lnSpc>
              <a:spcAft>
                <a:spcPts val="0"/>
              </a:spcAft>
            </a:pPr>
            <a:r>
              <a:rPr sz="2500" b="1" i="0">
                <a:solidFill>
                  <a:srgbClr val="8C6031"/>
                </a:solidFill>
                <a:latin typeface="Arial"/>
                <a:ea typeface="Arial"/>
                <a:cs typeface="Arial"/>
              </a:rPr>
              <a:t>0 / 1140</a:t>
            </a:r>
          </a:p>
        </p:txBody>
      </p:sp>
      <p:sp>
        <p:nvSpPr>
          <p:cNvPr id="33" name="TextBox 32"/>
          <p:cNvSpPr txBox="1"/>
          <p:nvPr/>
        </p:nvSpPr>
        <p:spPr>
          <a:xfrm>
            <a:off x="9029700" y="3924300"/>
            <a:ext cx="2527300" cy="2540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verified taxels, both hands</a:t>
            </a:r>
          </a:p>
        </p:txBody>
      </p:sp>
      <p:sp>
        <p:nvSpPr>
          <p:cNvPr id="34" name="Rounded Rectangle 33"/>
          <p:cNvSpPr/>
          <p:nvPr/>
        </p:nvSpPr>
        <p:spPr>
          <a:xfrm>
            <a:off x="6350000" y="4635500"/>
            <a:ext cx="5232400" cy="850900"/>
          </a:xfrm>
          <a:prstGeom prst="roundRect">
            <a:avLst>
              <a:gd name="adj" fmla="val 5000"/>
            </a:avLst>
          </a:prstGeom>
          <a:solidFill>
            <a:srgbClr val="F2EAD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527800" y="4762500"/>
            <a:ext cx="4889500" cy="254000"/>
          </a:xfrm>
          <a:prstGeom prst="rect">
            <a:avLst/>
          </a:prstGeom>
          <a:noFill/>
        </p:spPr>
        <p:txBody>
          <a:bodyPr wrap="square" lIns="0" rIns="0" tIns="0" bIns="0" anchor="t">
            <a:spAutoFit/>
          </a:bodyPr>
          <a:lstStyle/>
          <a:p>
            <a:pPr algn="l">
              <a:lnSpc>
                <a:spcPct val="115000"/>
              </a:lnSpc>
              <a:spcAft>
                <a:spcPts val="0"/>
              </a:spcAft>
            </a:pPr>
            <a:r>
              <a:rPr sz="1200" b="1" i="0">
                <a:solidFill>
                  <a:srgbClr val="8C6031"/>
                </a:solidFill>
                <a:latin typeface="Arial"/>
                <a:ea typeface="Arial"/>
                <a:cs typeface="Arial"/>
              </a:rPr>
              <a:t>sample_valid = false for every frame</a:t>
            </a:r>
          </a:p>
        </p:txBody>
      </p:sp>
      <p:sp>
        <p:nvSpPr>
          <p:cNvPr id="36" name="TextBox 35"/>
          <p:cNvSpPr txBox="1"/>
          <p:nvPr/>
        </p:nvSpPr>
        <p:spPr>
          <a:xfrm>
            <a:off x="6527800" y="5067300"/>
            <a:ext cx="4851400" cy="330200"/>
          </a:xfrm>
          <a:prstGeom prst="rect">
            <a:avLst/>
          </a:prstGeom>
          <a:noFill/>
        </p:spPr>
        <p:txBody>
          <a:bodyPr wrap="square" lIns="0" rIns="0" tIns="0" bIns="0" anchor="t">
            <a:spAutoFit/>
          </a:bodyPr>
          <a:lstStyle/>
          <a:p>
            <a:pPr algn="l">
              <a:lnSpc>
                <a:spcPct val="115000"/>
              </a:lnSpc>
              <a:spcAft>
                <a:spcPts val="0"/>
              </a:spcAft>
            </a:pPr>
            <a:r>
              <a:rPr sz="1050" b="0" i="0">
                <a:solidFill>
                  <a:srgbClr val="8C6031"/>
                </a:solidFill>
                <a:latin typeface="Arial"/>
                <a:ea typeface="Arial"/>
                <a:cs typeface="Arial"/>
              </a:rPr>
              <a:t>Raw diagnostics are possible; verified physical contact is not established.</a:t>
            </a:r>
          </a:p>
        </p:txBody>
      </p:sp>
      <p:sp>
        <p:nvSpPr>
          <p:cNvPr id="37" name="Rounded Rectangle 36"/>
          <p:cNvSpPr/>
          <p:nvPr/>
        </p:nvSpPr>
        <p:spPr>
          <a:xfrm>
            <a:off x="609600" y="5829300"/>
            <a:ext cx="10972800" cy="419100"/>
          </a:xfrm>
          <a:prstGeom prst="roundRect">
            <a:avLst>
              <a:gd name="adj" fmla="val 5000"/>
            </a:avLst>
          </a:prstGeom>
          <a:solidFill>
            <a:srgbClr val="EEF3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87400" y="5918200"/>
            <a:ext cx="10617200" cy="292100"/>
          </a:xfrm>
          <a:prstGeom prst="rect">
            <a:avLst/>
          </a:prstGeom>
          <a:noFill/>
        </p:spPr>
        <p:txBody>
          <a:bodyPr wrap="square" lIns="0" rIns="0" tIns="0" bIns="0" anchor="t">
            <a:spAutoFit/>
          </a:bodyPr>
          <a:lstStyle/>
          <a:p>
            <a:pPr algn="l">
              <a:lnSpc>
                <a:spcPct val="115000"/>
              </a:lnSpc>
              <a:spcAft>
                <a:spcPts val="0"/>
              </a:spcAft>
            </a:pPr>
            <a:r>
              <a:rPr sz="1050" b="0" i="0">
                <a:solidFill>
                  <a:srgbClr val="52765A"/>
                </a:solidFill>
                <a:latin typeface="Arial"/>
                <a:ea typeface="Arial"/>
                <a:cs typeface="Arial"/>
              </a:rPr>
              <a:t>Keep signed raw values and original timestamps. HDF5 conversion does not add calibration or synchronize streams.</a:t>
            </a:r>
          </a:p>
        </p:txBody>
      </p:sp>
    </p:spTree>
  </p:cSld>
  <p:transition xmlns:p="http://schemas.openxmlformats.org/presentationml/2006/main" spd="slow">
    <p:fade/>
  </p:transition>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09600" y="342900"/>
            <a:ext cx="10972800" cy="177800"/>
          </a:xfrm>
          <a:prstGeom prst="rect">
            <a:avLst/>
          </a:prstGeom>
          <a:noFill/>
        </p:spPr>
        <p:txBody>
          <a:bodyPr wrap="square" lIns="0" rIns="0" tIns="0" bIns="0" anchor="t">
            <a:spAutoFit/>
          </a:bodyPr>
          <a:lstStyle/>
          <a:p>
            <a:pPr algn="l">
              <a:lnSpc>
                <a:spcPct val="115000"/>
              </a:lnSpc>
              <a:spcAft>
                <a:spcPts val="0"/>
              </a:spcAft>
            </a:pPr>
            <a:r>
              <a:rPr sz="900" b="1" i="0">
                <a:solidFill>
                  <a:srgbClr val="52765A"/>
                </a:solidFill>
                <a:latin typeface="Arial"/>
                <a:ea typeface="Arial"/>
                <a:cs typeface="Arial"/>
              </a:rPr>
              <a:t>08 / ANALYSIS ATTRIBUTES</a:t>
            </a:r>
          </a:p>
        </p:txBody>
      </p:sp>
      <p:sp>
        <p:nvSpPr>
          <p:cNvPr id="3" name="TextBox 2"/>
          <p:cNvSpPr txBox="1"/>
          <p:nvPr/>
        </p:nvSpPr>
        <p:spPr>
          <a:xfrm>
            <a:off x="596900" y="596900"/>
            <a:ext cx="11023600" cy="444500"/>
          </a:xfrm>
          <a:prstGeom prst="rect">
            <a:avLst/>
          </a:prstGeom>
          <a:noFill/>
        </p:spPr>
        <p:txBody>
          <a:bodyPr wrap="square" lIns="0" rIns="0" tIns="0" bIns="0" anchor="t">
            <a:spAutoFit/>
          </a:bodyPr>
          <a:lstStyle/>
          <a:p>
            <a:pPr algn="l">
              <a:lnSpc>
                <a:spcPct val="115000"/>
              </a:lnSpc>
              <a:spcAft>
                <a:spcPts val="0"/>
              </a:spcAft>
            </a:pPr>
            <a:r>
              <a:rPr sz="2250" b="1" i="0">
                <a:solidFill>
                  <a:srgbClr val="1D2B24"/>
                </a:solidFill>
                <a:latin typeface="Arial"/>
                <a:ea typeface="Arial"/>
                <a:cs typeface="Arial"/>
              </a:rPr>
              <a:t>Analyze signal strength, distribution, and timing</a:t>
            </a:r>
          </a:p>
        </p:txBody>
      </p:sp>
      <p:sp>
        <p:nvSpPr>
          <p:cNvPr id="4" name="TextBox 3"/>
          <p:cNvSpPr txBox="1"/>
          <p:nvPr/>
        </p:nvSpPr>
        <p:spPr>
          <a:xfrm>
            <a:off x="609600" y="1016000"/>
            <a:ext cx="10972800" cy="355600"/>
          </a:xfrm>
          <a:prstGeom prst="rect">
            <a:avLst/>
          </a:prstGeom>
          <a:noFill/>
        </p:spPr>
        <p:txBody>
          <a:bodyPr wrap="square" lIns="0" rIns="0" tIns="0" bIns="0" anchor="t">
            <a:spAutoFit/>
          </a:bodyPr>
          <a:lstStyle/>
          <a:p>
            <a:pPr algn="l">
              <a:lnSpc>
                <a:spcPct val="115000"/>
              </a:lnSpc>
              <a:spcAft>
                <a:spcPts val="0"/>
              </a:spcAft>
            </a:pPr>
            <a:r>
              <a:rPr sz="1200" b="0" i="0">
                <a:solidFill>
                  <a:srgbClr val="657269"/>
                </a:solidFill>
                <a:latin typeface="Arial"/>
                <a:ea typeface="Arial"/>
                <a:cs typeface="Arial"/>
              </a:rPr>
              <a:t>Start with raw diagnostics; compare thresholds and inspect the plots before drawing task-level conclusions.</a:t>
            </a:r>
          </a:p>
        </p:txBody>
      </p:sp>
      <p:cxnSp>
        <p:nvCxnSpPr>
          <p:cNvPr id="5" name="Connector 4"/>
          <p:cNvCxnSpPr/>
          <p:nvPr/>
        </p:nvCxnSpPr>
        <p:spPr>
          <a:xfrm>
            <a:off x="609600" y="1384300"/>
            <a:ext cx="109728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09600" y="6464300"/>
            <a:ext cx="9652000" cy="152400"/>
          </a:xfrm>
          <a:prstGeom prst="rect">
            <a:avLst/>
          </a:prstGeom>
          <a:noFill/>
        </p:spPr>
        <p:txBody>
          <a:bodyPr wrap="square" lIns="0" rIns="0" tIns="0" bIns="0" anchor="t">
            <a:spAutoFit/>
          </a:bodyPr>
          <a:lstStyle/>
          <a:p>
            <a:pPr algn="l">
              <a:lnSpc>
                <a:spcPct val="115000"/>
              </a:lnSpc>
              <a:spcAft>
                <a:spcPts val="0"/>
              </a:spcAft>
            </a:pPr>
            <a:r>
              <a:rPr sz="750" b="1" i="0">
                <a:solidFill>
                  <a:srgbClr val="657269"/>
                </a:solidFill>
                <a:latin typeface="Arial"/>
                <a:ea typeface="Arial"/>
                <a:cs typeface="Arial"/>
              </a:rPr>
              <a:t>DEXMAN_LEROBOT / VR TELEOPERATION SYSTEM</a:t>
            </a:r>
          </a:p>
        </p:txBody>
      </p:sp>
      <p:sp>
        <p:nvSpPr>
          <p:cNvPr id="7" name="TextBox 6"/>
          <p:cNvSpPr txBox="1"/>
          <p:nvPr/>
        </p:nvSpPr>
        <p:spPr>
          <a:xfrm>
            <a:off x="10795000" y="6464300"/>
            <a:ext cx="787400" cy="152400"/>
          </a:xfrm>
          <a:prstGeom prst="rect">
            <a:avLst/>
          </a:prstGeom>
          <a:noFill/>
        </p:spPr>
        <p:txBody>
          <a:bodyPr wrap="square" lIns="0" rIns="0" tIns="0" bIns="0" anchor="t">
            <a:spAutoFit/>
          </a:bodyPr>
          <a:lstStyle/>
          <a:p>
            <a:pPr algn="r">
              <a:lnSpc>
                <a:spcPct val="115000"/>
              </a:lnSpc>
              <a:spcAft>
                <a:spcPts val="0"/>
              </a:spcAft>
            </a:pPr>
            <a:r>
              <a:rPr sz="750" b="1" i="0">
                <a:solidFill>
                  <a:srgbClr val="657269"/>
                </a:solidFill>
                <a:latin typeface="Arial"/>
                <a:ea typeface="Arial"/>
                <a:cs typeface="Arial"/>
              </a:rPr>
              <a:t>08 / 10</a:t>
            </a:r>
          </a:p>
        </p:txBody>
      </p:sp>
      <p:sp>
        <p:nvSpPr>
          <p:cNvPr id="8" name="Rounded Rectangle 7"/>
          <p:cNvSpPr/>
          <p:nvPr/>
        </p:nvSpPr>
        <p:spPr>
          <a:xfrm>
            <a:off x="609600" y="1727200"/>
            <a:ext cx="5740400" cy="3810000"/>
          </a:xfrm>
          <a:prstGeom prst="roundRect">
            <a:avLst>
              <a:gd name="adj" fmla="val 5000"/>
            </a:avLst>
          </a:prstGeom>
          <a:solidFill>
            <a:srgbClr val="FFFFFF"/>
          </a:solidFill>
          <a:ln w="8255">
            <a:solidFill>
              <a:srgbClr val="C9D4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12800" y="1905000"/>
            <a:ext cx="5346700" cy="228600"/>
          </a:xfrm>
          <a:prstGeom prst="rect">
            <a:avLst/>
          </a:prstGeom>
          <a:noFill/>
        </p:spPr>
        <p:txBody>
          <a:bodyPr wrap="square" lIns="0" rIns="0" tIns="0" bIns="0" anchor="t">
            <a:spAutoFit/>
          </a:bodyPr>
          <a:lstStyle/>
          <a:p>
            <a:pPr algn="l">
              <a:lnSpc>
                <a:spcPct val="115000"/>
              </a:lnSpc>
              <a:spcAft>
                <a:spcPts val="0"/>
              </a:spcAft>
            </a:pPr>
            <a:r>
              <a:rPr sz="950" b="1" i="0">
                <a:solidFill>
                  <a:srgbClr val="52765A"/>
                </a:solidFill>
                <a:latin typeface="Arial"/>
                <a:ea typeface="Arial"/>
                <a:cs typeface="Arial"/>
              </a:rPr>
              <a:t>ACTUAL DATA / UNVERIFIED RAW SIGNAL</a:t>
            </a:r>
          </a:p>
        </p:txBody>
      </p:sp>
      <p:pic>
        <p:nvPicPr>
          <p:cNvPr id="10" name="Picture 9" descr="30b315ea00ce43138861ba31e0594d62.png"/>
          <p:cNvPicPr>
            <a:picLocks noChangeAspect="1"/>
          </p:cNvPicPr>
          <p:nvPr/>
        </p:nvPicPr>
        <p:blipFill>
          <a:blip r:embed="rId2"/>
          <a:stretch>
            <a:fillRect/>
          </a:stretch>
        </p:blipFill>
        <p:spPr>
          <a:xfrm>
            <a:off x="762000" y="2260600"/>
            <a:ext cx="5435600" cy="3106039"/>
          </a:xfrm>
          <a:prstGeom prst="rect">
            <a:avLst/>
          </a:prstGeom>
        </p:spPr>
      </p:pic>
      <p:sp>
        <p:nvSpPr>
          <p:cNvPr id="11" name="TextBox 10"/>
          <p:cNvSpPr txBox="1"/>
          <p:nvPr/>
        </p:nvSpPr>
        <p:spPr>
          <a:xfrm>
            <a:off x="6642100" y="1803400"/>
            <a:ext cx="4927600" cy="228600"/>
          </a:xfrm>
          <a:prstGeom prst="rect">
            <a:avLst/>
          </a:prstGeom>
          <a:noFill/>
        </p:spPr>
        <p:txBody>
          <a:bodyPr wrap="square" lIns="0" rIns="0" tIns="0" bIns="0" anchor="t">
            <a:spAutoFit/>
          </a:bodyPr>
          <a:lstStyle/>
          <a:p>
            <a:pPr algn="l">
              <a:lnSpc>
                <a:spcPct val="115000"/>
              </a:lnSpc>
              <a:spcAft>
                <a:spcPts val="0"/>
              </a:spcAft>
            </a:pPr>
            <a:r>
              <a:rPr sz="1050" b="1" i="0">
                <a:solidFill>
                  <a:srgbClr val="52765A"/>
                </a:solidFill>
                <a:latin typeface="Arial"/>
                <a:ea typeface="Arial"/>
                <a:cs typeface="Arial"/>
              </a:rPr>
              <a:t>01  AMPLITUDE</a:t>
            </a:r>
          </a:p>
        </p:txBody>
      </p:sp>
      <p:sp>
        <p:nvSpPr>
          <p:cNvPr id="12" name="TextBox 11"/>
          <p:cNvSpPr txBox="1"/>
          <p:nvPr/>
        </p:nvSpPr>
        <p:spPr>
          <a:xfrm>
            <a:off x="6642100" y="2095500"/>
            <a:ext cx="4927600" cy="508000"/>
          </a:xfrm>
          <a:prstGeom prst="rect">
            <a:avLst/>
          </a:prstGeom>
          <a:noFill/>
        </p:spPr>
        <p:txBody>
          <a:bodyPr wrap="square" lIns="0" rIns="0" tIns="0" bIns="0" anchor="t">
            <a:spAutoFit/>
          </a:bodyPr>
          <a:lstStyle/>
          <a:p>
            <a:pPr algn="l">
              <a:lnSpc>
                <a:spcPct val="115000"/>
              </a:lnSpc>
              <a:spcAft>
                <a:spcPts val="0"/>
              </a:spcAft>
            </a:pPr>
            <a:r>
              <a:rPr sz="1120" b="0" i="0">
                <a:solidFill>
                  <a:srgbClr val="657269"/>
                </a:solidFill>
                <a:latin typeface="Arial"/>
                <a:ea typeface="Arial"/>
                <a:cs typeface="Arial"/>
              </a:rPr>
              <a:t>Signed x/y/z; q = sqrt(x² + y² + z²).</a:t>
            </a:r>
          </a:p>
          <a:p>
            <a:pPr algn="l">
              <a:lnSpc>
                <a:spcPct val="115000"/>
              </a:lnSpc>
              <a:spcAft>
                <a:spcPts val="0"/>
              </a:spcAft>
            </a:pPr>
            <a:r>
              <a:rPr sz="1120" b="0" i="0">
                <a:solidFill>
                  <a:srgbClr val="657269"/>
                </a:solidFill>
                <a:latin typeface="Arial"/>
                <a:ea typeface="Arial"/>
                <a:cs typeface="Arial"/>
              </a:rPr>
              <a:t>Peaks, means, and thresholded magnitude sums.</a:t>
            </a:r>
          </a:p>
        </p:txBody>
      </p:sp>
      <p:cxnSp>
        <p:nvCxnSpPr>
          <p:cNvPr id="13" name="Connector 12"/>
          <p:cNvCxnSpPr/>
          <p:nvPr/>
        </p:nvCxnSpPr>
        <p:spPr>
          <a:xfrm>
            <a:off x="6642100" y="2628900"/>
            <a:ext cx="49403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642100" y="2743200"/>
            <a:ext cx="4927600" cy="228600"/>
          </a:xfrm>
          <a:prstGeom prst="rect">
            <a:avLst/>
          </a:prstGeom>
          <a:noFill/>
        </p:spPr>
        <p:txBody>
          <a:bodyPr wrap="square" lIns="0" rIns="0" tIns="0" bIns="0" anchor="t">
            <a:spAutoFit/>
          </a:bodyPr>
          <a:lstStyle/>
          <a:p>
            <a:pPr algn="l">
              <a:lnSpc>
                <a:spcPct val="115000"/>
              </a:lnSpc>
              <a:spcAft>
                <a:spcPts val="0"/>
              </a:spcAft>
            </a:pPr>
            <a:r>
              <a:rPr sz="1050" b="1" i="0">
                <a:solidFill>
                  <a:srgbClr val="52765A"/>
                </a:solidFill>
                <a:latin typeface="Arial"/>
                <a:ea typeface="Arial"/>
                <a:cs typeface="Arial"/>
              </a:rPr>
              <a:t>02  RESPONSE OVER TIME</a:t>
            </a:r>
          </a:p>
        </p:txBody>
      </p:sp>
      <p:sp>
        <p:nvSpPr>
          <p:cNvPr id="15" name="TextBox 14"/>
          <p:cNvSpPr txBox="1"/>
          <p:nvPr/>
        </p:nvSpPr>
        <p:spPr>
          <a:xfrm>
            <a:off x="6642100" y="3035300"/>
            <a:ext cx="4927600" cy="508000"/>
          </a:xfrm>
          <a:prstGeom prst="rect">
            <a:avLst/>
          </a:prstGeom>
          <a:noFill/>
        </p:spPr>
        <p:txBody>
          <a:bodyPr wrap="square" lIns="0" rIns="0" tIns="0" bIns="0" anchor="t">
            <a:spAutoFit/>
          </a:bodyPr>
          <a:lstStyle/>
          <a:p>
            <a:pPr algn="l">
              <a:lnSpc>
                <a:spcPct val="115000"/>
              </a:lnSpc>
              <a:spcAft>
                <a:spcPts val="0"/>
              </a:spcAft>
            </a:pPr>
            <a:r>
              <a:rPr sz="1120" b="0" i="0">
                <a:solidFill>
                  <a:srgbClr val="657269"/>
                </a:solidFill>
                <a:latin typeface="Arial"/>
                <a:ea typeface="Arial"/>
                <a:cs typeface="Arial"/>
              </a:rPr>
              <a:t>Above-threshold counts, approximate duration,</a:t>
            </a:r>
          </a:p>
          <a:p>
            <a:pPr algn="l">
              <a:lnSpc>
                <a:spcPct val="115000"/>
              </a:lnSpc>
              <a:spcAft>
                <a:spcPts val="0"/>
              </a:spcAft>
            </a:pPr>
            <a:r>
              <a:rPr sz="1120" b="0" i="0">
                <a:solidFill>
                  <a:srgbClr val="657269"/>
                </a:solidFill>
                <a:latin typeface="Arial"/>
                <a:ea typeface="Arial"/>
                <a:cs typeface="Arial"/>
              </a:rPr>
              <a:t>and raw·s integral; compare threshold 10 vs 20.</a:t>
            </a:r>
          </a:p>
        </p:txBody>
      </p:sp>
      <p:cxnSp>
        <p:nvCxnSpPr>
          <p:cNvPr id="16" name="Connector 15"/>
          <p:cNvCxnSpPr/>
          <p:nvPr/>
        </p:nvCxnSpPr>
        <p:spPr>
          <a:xfrm>
            <a:off x="6642100" y="3568700"/>
            <a:ext cx="49403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6642100" y="3683000"/>
            <a:ext cx="4927600" cy="228600"/>
          </a:xfrm>
          <a:prstGeom prst="rect">
            <a:avLst/>
          </a:prstGeom>
          <a:noFill/>
        </p:spPr>
        <p:txBody>
          <a:bodyPr wrap="square" lIns="0" rIns="0" tIns="0" bIns="0" anchor="t">
            <a:spAutoFit/>
          </a:bodyPr>
          <a:lstStyle/>
          <a:p>
            <a:pPr algn="l">
              <a:lnSpc>
                <a:spcPct val="115000"/>
              </a:lnSpc>
              <a:spcAft>
                <a:spcPts val="0"/>
              </a:spcAft>
            </a:pPr>
            <a:r>
              <a:rPr sz="1050" b="1" i="0">
                <a:solidFill>
                  <a:srgbClr val="52765A"/>
                </a:solidFill>
                <a:latin typeface="Arial"/>
                <a:ea typeface="Arial"/>
                <a:cs typeface="Arial"/>
              </a:rPr>
              <a:t>03  DISTRIBUTION</a:t>
            </a:r>
          </a:p>
        </p:txBody>
      </p:sp>
      <p:sp>
        <p:nvSpPr>
          <p:cNvPr id="18" name="TextBox 17"/>
          <p:cNvSpPr txBox="1"/>
          <p:nvPr/>
        </p:nvSpPr>
        <p:spPr>
          <a:xfrm>
            <a:off x="6642100" y="3975100"/>
            <a:ext cx="4927600" cy="508000"/>
          </a:xfrm>
          <a:prstGeom prst="rect">
            <a:avLst/>
          </a:prstGeom>
          <a:noFill/>
        </p:spPr>
        <p:txBody>
          <a:bodyPr wrap="square" lIns="0" rIns="0" tIns="0" bIns="0" anchor="t">
            <a:spAutoFit/>
          </a:bodyPr>
          <a:lstStyle/>
          <a:p>
            <a:pPr algn="l">
              <a:lnSpc>
                <a:spcPct val="115000"/>
              </a:lnSpc>
              <a:spcAft>
                <a:spcPts val="0"/>
              </a:spcAft>
            </a:pPr>
            <a:r>
              <a:rPr sz="1120" b="0" i="0">
                <a:solidFill>
                  <a:srgbClr val="657269"/>
                </a:solidFill>
                <a:latin typeface="Arial"/>
                <a:ea typeface="Arial"/>
                <a:cs typeface="Arial"/>
              </a:rPr>
              <a:t>Time × SDK-index heatmap; per-taxel mean / max.</a:t>
            </a:r>
          </a:p>
          <a:p>
            <a:pPr algn="l">
              <a:lnSpc>
                <a:spcPct val="115000"/>
              </a:lnSpc>
              <a:spcAft>
                <a:spcPts val="0"/>
              </a:spcAft>
            </a:pPr>
            <a:r>
              <a:rPr sz="1120" b="0" i="0">
                <a:solidFill>
                  <a:srgbClr val="657269"/>
                </a:solidFill>
                <a:latin typeface="Arial"/>
                <a:ea typeface="Arial"/>
                <a:cs typeface="Arial"/>
              </a:rPr>
              <a:t>A spatial hand map needs a verified point layout.</a:t>
            </a:r>
          </a:p>
        </p:txBody>
      </p:sp>
      <p:cxnSp>
        <p:nvCxnSpPr>
          <p:cNvPr id="19" name="Connector 18"/>
          <p:cNvCxnSpPr/>
          <p:nvPr/>
        </p:nvCxnSpPr>
        <p:spPr>
          <a:xfrm>
            <a:off x="6642100" y="4508500"/>
            <a:ext cx="49403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642100" y="4622800"/>
            <a:ext cx="4927600" cy="228600"/>
          </a:xfrm>
          <a:prstGeom prst="rect">
            <a:avLst/>
          </a:prstGeom>
          <a:noFill/>
        </p:spPr>
        <p:txBody>
          <a:bodyPr wrap="square" lIns="0" rIns="0" tIns="0" bIns="0" anchor="t">
            <a:spAutoFit/>
          </a:bodyPr>
          <a:lstStyle/>
          <a:p>
            <a:pPr algn="l">
              <a:lnSpc>
                <a:spcPct val="115000"/>
              </a:lnSpc>
              <a:spcAft>
                <a:spcPts val="0"/>
              </a:spcAft>
            </a:pPr>
            <a:r>
              <a:rPr sz="1050" b="1" i="0">
                <a:solidFill>
                  <a:srgbClr val="52765A"/>
                </a:solidFill>
                <a:latin typeface="Arial"/>
                <a:ea typeface="Arial"/>
                <a:cs typeface="Arial"/>
              </a:rPr>
              <a:t>04  CONTEXT &amp; QUALITY</a:t>
            </a:r>
          </a:p>
        </p:txBody>
      </p:sp>
      <p:sp>
        <p:nvSpPr>
          <p:cNvPr id="21" name="TextBox 20"/>
          <p:cNvSpPr txBox="1"/>
          <p:nvPr/>
        </p:nvSpPr>
        <p:spPr>
          <a:xfrm>
            <a:off x="6642100" y="4914900"/>
            <a:ext cx="4927600" cy="508000"/>
          </a:xfrm>
          <a:prstGeom prst="rect">
            <a:avLst/>
          </a:prstGeom>
          <a:noFill/>
        </p:spPr>
        <p:txBody>
          <a:bodyPr wrap="square" lIns="0" rIns="0" tIns="0" bIns="0" anchor="t">
            <a:spAutoFit/>
          </a:bodyPr>
          <a:lstStyle/>
          <a:p>
            <a:pPr algn="l">
              <a:lnSpc>
                <a:spcPct val="115000"/>
              </a:lnSpc>
              <a:spcAft>
                <a:spcPts val="0"/>
              </a:spcAft>
            </a:pPr>
            <a:r>
              <a:rPr sz="1120" b="0" i="0">
                <a:solidFill>
                  <a:srgbClr val="657269"/>
                </a:solidFill>
                <a:latin typeface="Arial"/>
                <a:ea typeface="Arial"/>
                <a:cs typeface="Arial"/>
              </a:rPr>
              <a:t>11 SDK summaries, sensor temperatures,</a:t>
            </a:r>
          </a:p>
          <a:p>
            <a:pPr algn="l">
              <a:lnSpc>
                <a:spcPct val="115000"/>
              </a:lnSpc>
              <a:spcAft>
                <a:spcPts val="0"/>
              </a:spcAft>
            </a:pPr>
            <a:r>
              <a:rPr sz="1120" b="0" i="0">
                <a:solidFill>
                  <a:srgbClr val="657269"/>
                </a:solidFill>
                <a:latin typeface="Arial"/>
                <a:ea typeface="Arial"/>
                <a:cs typeface="Arial"/>
              </a:rPr>
              <a:t>frame intervals, and host query latency.</a:t>
            </a:r>
          </a:p>
        </p:txBody>
      </p:sp>
      <p:sp>
        <p:nvSpPr>
          <p:cNvPr id="22" name="TextBox 21"/>
          <p:cNvSpPr txBox="1"/>
          <p:nvPr/>
        </p:nvSpPr>
        <p:spPr>
          <a:xfrm>
            <a:off x="787400" y="5613400"/>
            <a:ext cx="10604500" cy="228600"/>
          </a:xfrm>
          <a:prstGeom prst="rect">
            <a:avLst/>
          </a:prstGeom>
          <a:noFill/>
        </p:spPr>
        <p:txBody>
          <a:bodyPr wrap="square" lIns="0" rIns="0" tIns="0" bIns="0" anchor="t">
            <a:spAutoFit/>
          </a:bodyPr>
          <a:lstStyle/>
          <a:p>
            <a:pPr algn="l">
              <a:lnSpc>
                <a:spcPct val="115000"/>
              </a:lnSpc>
              <a:spcAft>
                <a:spcPts val="0"/>
              </a:spcAft>
            </a:pPr>
            <a:r>
              <a:rPr sz="900" b="0" i="0">
                <a:solidFill>
                  <a:srgbClr val="657269"/>
                </a:solidFill>
                <a:latin typeface="Arial"/>
                <a:ea typeface="Arial"/>
                <a:cs typeface="Arial"/>
              </a:rPr>
              <a:t>Heatmap: host time on x; SDK taxel index on y; shared raw-magnitude color scale with square-root mapping.</a:t>
            </a:r>
          </a:p>
        </p:txBody>
      </p:sp>
      <p:sp>
        <p:nvSpPr>
          <p:cNvPr id="23" name="Rounded Rectangle 22"/>
          <p:cNvSpPr/>
          <p:nvPr/>
        </p:nvSpPr>
        <p:spPr>
          <a:xfrm>
            <a:off x="609600" y="5981700"/>
            <a:ext cx="10972800" cy="419100"/>
          </a:xfrm>
          <a:prstGeom prst="roundRect">
            <a:avLst>
              <a:gd name="adj" fmla="val 5000"/>
            </a:avLst>
          </a:prstGeom>
          <a:solidFill>
            <a:srgbClr val="F2EAD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7400" y="6070600"/>
            <a:ext cx="10617200" cy="292100"/>
          </a:xfrm>
          <a:prstGeom prst="rect">
            <a:avLst/>
          </a:prstGeom>
          <a:noFill/>
        </p:spPr>
        <p:txBody>
          <a:bodyPr wrap="square" lIns="0" rIns="0" tIns="0" bIns="0" anchor="t">
            <a:spAutoFit/>
          </a:bodyPr>
          <a:lstStyle/>
          <a:p>
            <a:pPr algn="l">
              <a:lnSpc>
                <a:spcPct val="115000"/>
              </a:lnSpc>
              <a:spcAft>
                <a:spcPts val="0"/>
              </a:spcAft>
            </a:pPr>
            <a:r>
              <a:rPr sz="1050" b="0" i="0">
                <a:solidFill>
                  <a:srgbClr val="8C6031"/>
                </a:solidFill>
                <a:latin typeface="Arial"/>
                <a:ea typeface="Arial"/>
                <a:cs typeface="Arial"/>
              </a:rPr>
              <a:t>Above-threshold count is not contact area. A raw magnitude sum is not a calibrated force or pressure.</a:t>
            </a:r>
          </a:p>
        </p:txBody>
      </p:sp>
    </p:spTree>
  </p:cSld>
  <p:transition xmlns:p="http://schemas.openxmlformats.org/presentationml/2006/main" spd="slow">
    <p:fade/>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09600" y="342900"/>
            <a:ext cx="10972800" cy="177800"/>
          </a:xfrm>
          <a:prstGeom prst="rect">
            <a:avLst/>
          </a:prstGeom>
          <a:noFill/>
        </p:spPr>
        <p:txBody>
          <a:bodyPr wrap="square" lIns="0" rIns="0" tIns="0" bIns="0" anchor="t">
            <a:spAutoFit/>
          </a:bodyPr>
          <a:lstStyle/>
          <a:p>
            <a:pPr algn="l">
              <a:lnSpc>
                <a:spcPct val="115000"/>
              </a:lnSpc>
              <a:spcAft>
                <a:spcPts val="0"/>
              </a:spcAft>
            </a:pPr>
            <a:r>
              <a:rPr sz="900" b="1" i="0">
                <a:solidFill>
                  <a:srgbClr val="52765A"/>
                </a:solidFill>
                <a:latin typeface="Arial"/>
                <a:ea typeface="Arial"/>
                <a:cs typeface="Arial"/>
              </a:rPr>
              <a:t>09 / AREA &amp; PRESSURE</a:t>
            </a:r>
          </a:p>
        </p:txBody>
      </p:sp>
      <p:sp>
        <p:nvSpPr>
          <p:cNvPr id="3" name="TextBox 2"/>
          <p:cNvSpPr txBox="1"/>
          <p:nvPr/>
        </p:nvSpPr>
        <p:spPr>
          <a:xfrm>
            <a:off x="596900" y="596900"/>
            <a:ext cx="11023600" cy="444500"/>
          </a:xfrm>
          <a:prstGeom prst="rect">
            <a:avLst/>
          </a:prstGeom>
          <a:noFill/>
        </p:spPr>
        <p:txBody>
          <a:bodyPr wrap="square" lIns="0" rIns="0" tIns="0" bIns="0" anchor="t">
            <a:spAutoFit/>
          </a:bodyPr>
          <a:lstStyle/>
          <a:p>
            <a:pPr algn="l">
              <a:lnSpc>
                <a:spcPct val="115000"/>
              </a:lnSpc>
              <a:spcAft>
                <a:spcPts val="0"/>
              </a:spcAft>
            </a:pPr>
            <a:r>
              <a:rPr sz="2250" b="1" i="0">
                <a:solidFill>
                  <a:srgbClr val="1D2B24"/>
                </a:solidFill>
                <a:latin typeface="Arial"/>
                <a:ea typeface="Arial"/>
                <a:cs typeface="Arial"/>
              </a:rPr>
              <a:t>Contact area and pressure require measured calibration</a:t>
            </a:r>
          </a:p>
        </p:txBody>
      </p:sp>
      <p:sp>
        <p:nvSpPr>
          <p:cNvPr id="4" name="TextBox 3"/>
          <p:cNvSpPr txBox="1"/>
          <p:nvPr/>
        </p:nvSpPr>
        <p:spPr>
          <a:xfrm>
            <a:off x="609600" y="1016000"/>
            <a:ext cx="10972800" cy="355600"/>
          </a:xfrm>
          <a:prstGeom prst="rect">
            <a:avLst/>
          </a:prstGeom>
          <a:noFill/>
        </p:spPr>
        <p:txBody>
          <a:bodyPr wrap="square" lIns="0" rIns="0" tIns="0" bIns="0" anchor="t">
            <a:spAutoFit/>
          </a:bodyPr>
          <a:lstStyle/>
          <a:p>
            <a:pPr algn="l">
              <a:lnSpc>
                <a:spcPct val="115000"/>
              </a:lnSpc>
              <a:spcAft>
                <a:spcPts val="0"/>
              </a:spcAft>
            </a:pPr>
            <a:r>
              <a:rPr sz="1200" b="0" i="0">
                <a:solidFill>
                  <a:srgbClr val="657269"/>
                </a:solidFill>
                <a:latin typeface="Arial"/>
                <a:ea typeface="Arial"/>
                <a:cs typeface="Arial"/>
              </a:rPr>
              <a:t>Physical analysis is implemented, but the current all-false-mask recording cannot produce valid physical results.</a:t>
            </a:r>
          </a:p>
        </p:txBody>
      </p:sp>
      <p:cxnSp>
        <p:nvCxnSpPr>
          <p:cNvPr id="5" name="Connector 4"/>
          <p:cNvCxnSpPr/>
          <p:nvPr/>
        </p:nvCxnSpPr>
        <p:spPr>
          <a:xfrm>
            <a:off x="609600" y="1384300"/>
            <a:ext cx="109728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09600" y="6464300"/>
            <a:ext cx="9652000" cy="152400"/>
          </a:xfrm>
          <a:prstGeom prst="rect">
            <a:avLst/>
          </a:prstGeom>
          <a:noFill/>
        </p:spPr>
        <p:txBody>
          <a:bodyPr wrap="square" lIns="0" rIns="0" tIns="0" bIns="0" anchor="t">
            <a:spAutoFit/>
          </a:bodyPr>
          <a:lstStyle/>
          <a:p>
            <a:pPr algn="l">
              <a:lnSpc>
                <a:spcPct val="115000"/>
              </a:lnSpc>
              <a:spcAft>
                <a:spcPts val="0"/>
              </a:spcAft>
            </a:pPr>
            <a:r>
              <a:rPr sz="750" b="1" i="0">
                <a:solidFill>
                  <a:srgbClr val="657269"/>
                </a:solidFill>
                <a:latin typeface="Arial"/>
                <a:ea typeface="Arial"/>
                <a:cs typeface="Arial"/>
              </a:rPr>
              <a:t>DEXMAN_LEROBOT / VR TELEOPERATION SYSTEM</a:t>
            </a:r>
          </a:p>
        </p:txBody>
      </p:sp>
      <p:sp>
        <p:nvSpPr>
          <p:cNvPr id="7" name="TextBox 6"/>
          <p:cNvSpPr txBox="1"/>
          <p:nvPr/>
        </p:nvSpPr>
        <p:spPr>
          <a:xfrm>
            <a:off x="10795000" y="6464300"/>
            <a:ext cx="787400" cy="152400"/>
          </a:xfrm>
          <a:prstGeom prst="rect">
            <a:avLst/>
          </a:prstGeom>
          <a:noFill/>
        </p:spPr>
        <p:txBody>
          <a:bodyPr wrap="square" lIns="0" rIns="0" tIns="0" bIns="0" anchor="t">
            <a:spAutoFit/>
          </a:bodyPr>
          <a:lstStyle/>
          <a:p>
            <a:pPr algn="r">
              <a:lnSpc>
                <a:spcPct val="115000"/>
              </a:lnSpc>
              <a:spcAft>
                <a:spcPts val="0"/>
              </a:spcAft>
            </a:pPr>
            <a:r>
              <a:rPr sz="750" b="1" i="0">
                <a:solidFill>
                  <a:srgbClr val="657269"/>
                </a:solidFill>
                <a:latin typeface="Arial"/>
                <a:ea typeface="Arial"/>
                <a:cs typeface="Arial"/>
              </a:rPr>
              <a:t>09 / 10</a:t>
            </a:r>
          </a:p>
        </p:txBody>
      </p:sp>
      <p:sp>
        <p:nvSpPr>
          <p:cNvPr id="8" name="Rounded Rectangle 7"/>
          <p:cNvSpPr/>
          <p:nvPr/>
        </p:nvSpPr>
        <p:spPr>
          <a:xfrm>
            <a:off x="609600" y="1739900"/>
            <a:ext cx="3505200" cy="2933700"/>
          </a:xfrm>
          <a:prstGeom prst="roundRect">
            <a:avLst>
              <a:gd name="adj" fmla="val 5000"/>
            </a:avLst>
          </a:prstGeom>
          <a:solidFill>
            <a:srgbClr val="FFFFFF"/>
          </a:solidFill>
          <a:ln w="8255">
            <a:solidFill>
              <a:srgbClr val="C9D4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12800" y="1943100"/>
            <a:ext cx="3149600" cy="228600"/>
          </a:xfrm>
          <a:prstGeom prst="rect">
            <a:avLst/>
          </a:prstGeom>
          <a:noFill/>
        </p:spPr>
        <p:txBody>
          <a:bodyPr wrap="square" lIns="0" rIns="0" tIns="0" bIns="0" anchor="t">
            <a:spAutoFit/>
          </a:bodyPr>
          <a:lstStyle/>
          <a:p>
            <a:pPr algn="l">
              <a:lnSpc>
                <a:spcPct val="115000"/>
              </a:lnSpc>
              <a:spcAft>
                <a:spcPts val="0"/>
              </a:spcAft>
            </a:pPr>
            <a:r>
              <a:rPr sz="1000" b="1" i="0">
                <a:solidFill>
                  <a:srgbClr val="52765A"/>
                </a:solidFill>
                <a:latin typeface="Arial"/>
                <a:ea typeface="Arial"/>
                <a:cs typeface="Arial"/>
              </a:rPr>
              <a:t>1 / CALIBRATE FORCE</a:t>
            </a:r>
          </a:p>
        </p:txBody>
      </p:sp>
      <p:sp>
        <p:nvSpPr>
          <p:cNvPr id="10" name="TextBox 9"/>
          <p:cNvSpPr txBox="1"/>
          <p:nvPr/>
        </p:nvSpPr>
        <p:spPr>
          <a:xfrm>
            <a:off x="812800" y="2374900"/>
            <a:ext cx="3149600" cy="330200"/>
          </a:xfrm>
          <a:prstGeom prst="rect">
            <a:avLst/>
          </a:prstGeom>
          <a:noFill/>
        </p:spPr>
        <p:txBody>
          <a:bodyPr wrap="square" lIns="0" rIns="0" tIns="0" bIns="0" anchor="t">
            <a:spAutoFit/>
          </a:bodyPr>
          <a:lstStyle/>
          <a:p>
            <a:pPr algn="l">
              <a:lnSpc>
                <a:spcPct val="115000"/>
              </a:lnSpc>
              <a:spcAft>
                <a:spcPts val="0"/>
              </a:spcAft>
            </a:pPr>
            <a:r>
              <a:rPr sz="1550" b="1" i="0">
                <a:solidFill>
                  <a:srgbClr val="1D2B24"/>
                </a:solidFill>
                <a:latin typeface="Arial"/>
                <a:ea typeface="Arial"/>
                <a:cs typeface="Arial"/>
              </a:rPr>
              <a:t>F_i = M_i (raw_i − bias_i)</a:t>
            </a:r>
          </a:p>
        </p:txBody>
      </p:sp>
      <p:sp>
        <p:nvSpPr>
          <p:cNvPr id="11" name="TextBox 10"/>
          <p:cNvSpPr txBox="1"/>
          <p:nvPr/>
        </p:nvSpPr>
        <p:spPr>
          <a:xfrm>
            <a:off x="812800" y="2781300"/>
            <a:ext cx="3149600" cy="330200"/>
          </a:xfrm>
          <a:prstGeom prst="rect">
            <a:avLst/>
          </a:prstGeom>
          <a:noFill/>
        </p:spPr>
        <p:txBody>
          <a:bodyPr wrap="square" lIns="0" rIns="0" tIns="0" bIns="0" anchor="t">
            <a:spAutoFit/>
          </a:bodyPr>
          <a:lstStyle/>
          <a:p>
            <a:pPr algn="l">
              <a:lnSpc>
                <a:spcPct val="115000"/>
              </a:lnSpc>
              <a:spcAft>
                <a:spcPts val="0"/>
              </a:spcAft>
            </a:pPr>
            <a:r>
              <a:rPr sz="1550" b="1" i="0">
                <a:solidFill>
                  <a:srgbClr val="1D2B24"/>
                </a:solidFill>
                <a:latin typeface="Arial"/>
                <a:ea typeface="Arial"/>
                <a:cs typeface="Arial"/>
              </a:rPr>
              <a:t>Fn_i = max(F_i · n_i, 0)</a:t>
            </a:r>
          </a:p>
        </p:txBody>
      </p:sp>
      <p:sp>
        <p:nvSpPr>
          <p:cNvPr id="12" name="TextBox 11"/>
          <p:cNvSpPr txBox="1"/>
          <p:nvPr/>
        </p:nvSpPr>
        <p:spPr>
          <a:xfrm>
            <a:off x="812800" y="3327400"/>
            <a:ext cx="3149600" cy="7366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Measured matrix + unloaded bias.</a:t>
            </a:r>
          </a:p>
          <a:p>
            <a:pPr algn="l">
              <a:lnSpc>
                <a:spcPct val="115000"/>
              </a:lnSpc>
              <a:spcAft>
                <a:spcPts val="0"/>
              </a:spcAft>
            </a:pPr>
            <a:r>
              <a:rPr sz="1050" b="0" i="0">
                <a:solidFill>
                  <a:srgbClr val="657269"/>
                </a:solidFill>
                <a:latin typeface="Arial"/>
                <a:ea typeface="Arial"/>
                <a:cs typeface="Arial"/>
              </a:rPr>
              <a:t>Unit surface normal in the force frame;</a:t>
            </a:r>
          </a:p>
          <a:p>
            <a:pPr algn="l">
              <a:lnSpc>
                <a:spcPct val="115000"/>
              </a:lnSpc>
              <a:spcAft>
                <a:spcPts val="0"/>
              </a:spcAft>
            </a:pPr>
            <a:r>
              <a:rPr sz="1050" b="0" i="0">
                <a:solidFill>
                  <a:srgbClr val="657269"/>
                </a:solidFill>
                <a:latin typeface="Arial"/>
                <a:ea typeface="Arial"/>
                <a:cs typeface="Arial"/>
              </a:rPr>
              <a:t>positive projection means compression.</a:t>
            </a:r>
          </a:p>
        </p:txBody>
      </p:sp>
      <p:sp>
        <p:nvSpPr>
          <p:cNvPr id="13" name="TextBox 12"/>
          <p:cNvSpPr txBox="1"/>
          <p:nvPr/>
        </p:nvSpPr>
        <p:spPr>
          <a:xfrm>
            <a:off x="812800" y="4254500"/>
            <a:ext cx="3149600" cy="254000"/>
          </a:xfrm>
          <a:prstGeom prst="rect">
            <a:avLst/>
          </a:prstGeom>
          <a:noFill/>
        </p:spPr>
        <p:txBody>
          <a:bodyPr wrap="square" lIns="0" rIns="0" tIns="0" bIns="0" anchor="t">
            <a:spAutoFit/>
          </a:bodyPr>
          <a:lstStyle/>
          <a:p>
            <a:pPr algn="l">
              <a:lnSpc>
                <a:spcPct val="115000"/>
              </a:lnSpc>
              <a:spcAft>
                <a:spcPts val="0"/>
              </a:spcAft>
            </a:pPr>
            <a:r>
              <a:rPr sz="1120" b="1" i="0">
                <a:solidFill>
                  <a:srgbClr val="52765A"/>
                </a:solidFill>
                <a:latin typeface="Arial"/>
                <a:ea typeface="Arial"/>
                <a:cs typeface="Arial"/>
              </a:rPr>
              <a:t>Output: normal force in N</a:t>
            </a:r>
          </a:p>
        </p:txBody>
      </p:sp>
      <p:sp>
        <p:nvSpPr>
          <p:cNvPr id="14" name="Rounded Rectangle 13"/>
          <p:cNvSpPr/>
          <p:nvPr/>
        </p:nvSpPr>
        <p:spPr>
          <a:xfrm>
            <a:off x="4343400" y="1739900"/>
            <a:ext cx="3505200" cy="2933700"/>
          </a:xfrm>
          <a:prstGeom prst="roundRect">
            <a:avLst>
              <a:gd name="adj" fmla="val 5000"/>
            </a:avLst>
          </a:prstGeom>
          <a:solidFill>
            <a:srgbClr val="FFFFFF"/>
          </a:solidFill>
          <a:ln w="8255">
            <a:solidFill>
              <a:srgbClr val="C9D4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46600" y="1943100"/>
            <a:ext cx="3149600" cy="228600"/>
          </a:xfrm>
          <a:prstGeom prst="rect">
            <a:avLst/>
          </a:prstGeom>
          <a:noFill/>
        </p:spPr>
        <p:txBody>
          <a:bodyPr wrap="square" lIns="0" rIns="0" tIns="0" bIns="0" anchor="t">
            <a:spAutoFit/>
          </a:bodyPr>
          <a:lstStyle/>
          <a:p>
            <a:pPr algn="l">
              <a:lnSpc>
                <a:spcPct val="115000"/>
              </a:lnSpc>
              <a:spcAft>
                <a:spcPts val="0"/>
              </a:spcAft>
            </a:pPr>
            <a:r>
              <a:rPr sz="1000" b="1" i="0">
                <a:solidFill>
                  <a:srgbClr val="52765A"/>
                </a:solidFill>
                <a:latin typeface="Arial"/>
                <a:ea typeface="Arial"/>
                <a:cs typeface="Arial"/>
              </a:rPr>
              <a:t>2 / ESTIMATE AREA</a:t>
            </a:r>
          </a:p>
        </p:txBody>
      </p:sp>
      <p:sp>
        <p:nvSpPr>
          <p:cNvPr id="16" name="TextBox 15"/>
          <p:cNvSpPr txBox="1"/>
          <p:nvPr/>
        </p:nvSpPr>
        <p:spPr>
          <a:xfrm>
            <a:off x="4546600" y="2374900"/>
            <a:ext cx="3149600" cy="330200"/>
          </a:xfrm>
          <a:prstGeom prst="rect">
            <a:avLst/>
          </a:prstGeom>
          <a:noFill/>
        </p:spPr>
        <p:txBody>
          <a:bodyPr wrap="square" lIns="0" rIns="0" tIns="0" bIns="0" anchor="t">
            <a:spAutoFit/>
          </a:bodyPr>
          <a:lstStyle/>
          <a:p>
            <a:pPr algn="l">
              <a:lnSpc>
                <a:spcPct val="115000"/>
              </a:lnSpc>
              <a:spcAft>
                <a:spcPts val="0"/>
              </a:spcAft>
            </a:pPr>
            <a:r>
              <a:rPr sz="1550" b="1" i="0">
                <a:solidFill>
                  <a:srgbClr val="1D2B24"/>
                </a:solidFill>
                <a:latin typeface="Arial"/>
                <a:ea typeface="Arial"/>
                <a:cs typeface="Arial"/>
              </a:rPr>
              <a:t>Contact: valid i AND Fn_i ≥ τ</a:t>
            </a:r>
          </a:p>
        </p:txBody>
      </p:sp>
      <p:sp>
        <p:nvSpPr>
          <p:cNvPr id="17" name="TextBox 16"/>
          <p:cNvSpPr txBox="1"/>
          <p:nvPr/>
        </p:nvSpPr>
        <p:spPr>
          <a:xfrm>
            <a:off x="4546600" y="2781300"/>
            <a:ext cx="3149600" cy="330200"/>
          </a:xfrm>
          <a:prstGeom prst="rect">
            <a:avLst/>
          </a:prstGeom>
          <a:noFill/>
        </p:spPr>
        <p:txBody>
          <a:bodyPr wrap="square" lIns="0" rIns="0" tIns="0" bIns="0" anchor="t">
            <a:spAutoFit/>
          </a:bodyPr>
          <a:lstStyle/>
          <a:p>
            <a:pPr algn="l">
              <a:lnSpc>
                <a:spcPct val="115000"/>
              </a:lnSpc>
              <a:spcAft>
                <a:spcPts val="0"/>
              </a:spcAft>
            </a:pPr>
            <a:r>
              <a:rPr sz="1550" b="1" i="0">
                <a:solidFill>
                  <a:srgbClr val="1D2B24"/>
                </a:solidFill>
                <a:latin typeface="Arial"/>
                <a:ea typeface="Arial"/>
                <a:cs typeface="Arial"/>
              </a:rPr>
              <a:t>A = Σ A_i  (i in contact)</a:t>
            </a:r>
          </a:p>
        </p:txBody>
      </p:sp>
      <p:sp>
        <p:nvSpPr>
          <p:cNvPr id="18" name="TextBox 17"/>
          <p:cNvSpPr txBox="1"/>
          <p:nvPr/>
        </p:nvSpPr>
        <p:spPr>
          <a:xfrm>
            <a:off x="4546600" y="3327400"/>
            <a:ext cx="3149600" cy="7366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Apply source + calibration masks, plus</a:t>
            </a:r>
          </a:p>
          <a:p>
            <a:pPr algn="l">
              <a:lnSpc>
                <a:spcPct val="115000"/>
              </a:lnSpc>
              <a:spcAft>
                <a:spcPts val="0"/>
              </a:spcAft>
            </a:pPr>
            <a:r>
              <a:rPr sz="1050" b="0" i="0">
                <a:solidFill>
                  <a:srgbClr val="657269"/>
                </a:solidFill>
                <a:latin typeface="Arial"/>
                <a:ea typeface="Arial"/>
                <a:cs typeface="Arial"/>
              </a:rPr>
              <a:t>packet_valid and sample_valid.</a:t>
            </a:r>
          </a:p>
          <a:p>
            <a:pPr algn="l">
              <a:lnSpc>
                <a:spcPct val="115000"/>
              </a:lnSpc>
              <a:spcAft>
                <a:spcPts val="0"/>
              </a:spcAft>
            </a:pPr>
            <a:r>
              <a:rPr sz="1050" b="0" i="0">
                <a:solidFill>
                  <a:srgbClr val="657269"/>
                </a:solidFill>
                <a:latin typeface="Arial"/>
                <a:ea typeface="Arial"/>
                <a:cs typeface="Arial"/>
              </a:rPr>
              <a:t>τ is a normal-force threshold in N;</a:t>
            </a:r>
          </a:p>
          <a:p>
            <a:pPr algn="l">
              <a:lnSpc>
                <a:spcPct val="115000"/>
              </a:lnSpc>
              <a:spcAft>
                <a:spcPts val="0"/>
              </a:spcAft>
            </a:pPr>
            <a:r>
              <a:rPr sz="1050" b="0" i="0">
                <a:solidFill>
                  <a:srgbClr val="657269"/>
                </a:solidFill>
                <a:latin typeface="Arial"/>
                <a:ea typeface="Arial"/>
                <a:cs typeface="Arial"/>
              </a:rPr>
              <a:t>each contact taxel adds its full area.</a:t>
            </a:r>
          </a:p>
        </p:txBody>
      </p:sp>
      <p:sp>
        <p:nvSpPr>
          <p:cNvPr id="19" name="TextBox 18"/>
          <p:cNvSpPr txBox="1"/>
          <p:nvPr/>
        </p:nvSpPr>
        <p:spPr>
          <a:xfrm>
            <a:off x="4546600" y="4254500"/>
            <a:ext cx="3149600" cy="254000"/>
          </a:xfrm>
          <a:prstGeom prst="rect">
            <a:avLst/>
          </a:prstGeom>
          <a:noFill/>
        </p:spPr>
        <p:txBody>
          <a:bodyPr wrap="square" lIns="0" rIns="0" tIns="0" bIns="0" anchor="t">
            <a:spAutoFit/>
          </a:bodyPr>
          <a:lstStyle/>
          <a:p>
            <a:pPr algn="l">
              <a:lnSpc>
                <a:spcPct val="115000"/>
              </a:lnSpc>
              <a:spcAft>
                <a:spcPts val="0"/>
              </a:spcAft>
            </a:pPr>
            <a:r>
              <a:rPr sz="1120" b="1" i="0">
                <a:solidFill>
                  <a:srgbClr val="52765A"/>
                </a:solidFill>
                <a:latin typeface="Arial"/>
                <a:ea typeface="Arial"/>
                <a:cs typeface="Arial"/>
              </a:rPr>
              <a:t>Output: discrete area in mm²</a:t>
            </a:r>
          </a:p>
        </p:txBody>
      </p:sp>
      <p:sp>
        <p:nvSpPr>
          <p:cNvPr id="20" name="Rounded Rectangle 19"/>
          <p:cNvSpPr/>
          <p:nvPr/>
        </p:nvSpPr>
        <p:spPr>
          <a:xfrm>
            <a:off x="8077200" y="1739900"/>
            <a:ext cx="3505200" cy="2933700"/>
          </a:xfrm>
          <a:prstGeom prst="roundRect">
            <a:avLst>
              <a:gd name="adj" fmla="val 5000"/>
            </a:avLst>
          </a:prstGeom>
          <a:solidFill>
            <a:srgbClr val="FFFFFF"/>
          </a:solidFill>
          <a:ln w="8255">
            <a:solidFill>
              <a:srgbClr val="C9D4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80400" y="1943100"/>
            <a:ext cx="3149600" cy="228600"/>
          </a:xfrm>
          <a:prstGeom prst="rect">
            <a:avLst/>
          </a:prstGeom>
          <a:noFill/>
        </p:spPr>
        <p:txBody>
          <a:bodyPr wrap="square" lIns="0" rIns="0" tIns="0" bIns="0" anchor="t">
            <a:spAutoFit/>
          </a:bodyPr>
          <a:lstStyle/>
          <a:p>
            <a:pPr algn="l">
              <a:lnSpc>
                <a:spcPct val="115000"/>
              </a:lnSpc>
              <a:spcAft>
                <a:spcPts val="0"/>
              </a:spcAft>
            </a:pPr>
            <a:r>
              <a:rPr sz="1000" b="1" i="0">
                <a:solidFill>
                  <a:srgbClr val="52765A"/>
                </a:solidFill>
                <a:latin typeface="Arial"/>
                <a:ea typeface="Arial"/>
                <a:cs typeface="Arial"/>
              </a:rPr>
              <a:t>3 / COMPUTE PRESSURE</a:t>
            </a:r>
          </a:p>
        </p:txBody>
      </p:sp>
      <p:sp>
        <p:nvSpPr>
          <p:cNvPr id="22" name="TextBox 21"/>
          <p:cNvSpPr txBox="1"/>
          <p:nvPr/>
        </p:nvSpPr>
        <p:spPr>
          <a:xfrm>
            <a:off x="8280400" y="2374900"/>
            <a:ext cx="3149600" cy="330200"/>
          </a:xfrm>
          <a:prstGeom prst="rect">
            <a:avLst/>
          </a:prstGeom>
          <a:noFill/>
        </p:spPr>
        <p:txBody>
          <a:bodyPr wrap="square" lIns="0" rIns="0" tIns="0" bIns="0" anchor="t">
            <a:spAutoFit/>
          </a:bodyPr>
          <a:lstStyle/>
          <a:p>
            <a:pPr algn="l">
              <a:lnSpc>
                <a:spcPct val="115000"/>
              </a:lnSpc>
              <a:spcAft>
                <a:spcPts val="0"/>
              </a:spcAft>
            </a:pPr>
            <a:r>
              <a:rPr sz="1550" b="1" i="0">
                <a:solidFill>
                  <a:srgbClr val="1D2B24"/>
                </a:solidFill>
                <a:latin typeface="Arial"/>
                <a:ea typeface="Arial"/>
                <a:cs typeface="Arial"/>
              </a:rPr>
              <a:t>p_i = Fn_i / A_i × 10⁶</a:t>
            </a:r>
          </a:p>
        </p:txBody>
      </p:sp>
      <p:sp>
        <p:nvSpPr>
          <p:cNvPr id="23" name="TextBox 22"/>
          <p:cNvSpPr txBox="1"/>
          <p:nvPr/>
        </p:nvSpPr>
        <p:spPr>
          <a:xfrm>
            <a:off x="8280400" y="2781300"/>
            <a:ext cx="3149600" cy="330200"/>
          </a:xfrm>
          <a:prstGeom prst="rect">
            <a:avLst/>
          </a:prstGeom>
          <a:noFill/>
        </p:spPr>
        <p:txBody>
          <a:bodyPr wrap="square" lIns="0" rIns="0" tIns="0" bIns="0" anchor="t">
            <a:spAutoFit/>
          </a:bodyPr>
          <a:lstStyle/>
          <a:p>
            <a:pPr algn="l">
              <a:lnSpc>
                <a:spcPct val="115000"/>
              </a:lnSpc>
              <a:spcAft>
                <a:spcPts val="0"/>
              </a:spcAft>
            </a:pPr>
            <a:r>
              <a:rPr sz="1550" b="1" i="0">
                <a:solidFill>
                  <a:srgbClr val="1D2B24"/>
                </a:solidFill>
                <a:latin typeface="Arial"/>
                <a:ea typeface="Arial"/>
                <a:cs typeface="Arial"/>
              </a:rPr>
              <a:t>Mean p = Σ Fn_i / A × 10⁶</a:t>
            </a:r>
          </a:p>
        </p:txBody>
      </p:sp>
      <p:sp>
        <p:nvSpPr>
          <p:cNvPr id="24" name="TextBox 23"/>
          <p:cNvSpPr txBox="1"/>
          <p:nvPr/>
        </p:nvSpPr>
        <p:spPr>
          <a:xfrm>
            <a:off x="8280400" y="3327400"/>
            <a:ext cx="3149600" cy="7366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Sum over selected contact taxels only.</a:t>
            </a:r>
          </a:p>
          <a:p>
            <a:pPr algn="l">
              <a:lnSpc>
                <a:spcPct val="115000"/>
              </a:lnSpc>
              <a:spcAft>
                <a:spcPts val="0"/>
              </a:spcAft>
            </a:pPr>
            <a:r>
              <a:rPr sz="1050" b="0" i="0">
                <a:solidFill>
                  <a:srgbClr val="657269"/>
                </a:solidFill>
                <a:latin typeface="Arial"/>
                <a:ea typeface="Arial"/>
                <a:cs typeface="Arial"/>
              </a:rPr>
              <a:t>Areas are in mm²; pressures are in Pa.</a:t>
            </a:r>
          </a:p>
          <a:p>
            <a:pPr algn="l">
              <a:lnSpc>
                <a:spcPct val="115000"/>
              </a:lnSpc>
              <a:spcAft>
                <a:spcPts val="0"/>
              </a:spcAft>
            </a:pPr>
            <a:r>
              <a:rPr sz="1050" b="0" i="0">
                <a:solidFill>
                  <a:srgbClr val="657269"/>
                </a:solidFill>
                <a:latin typeface="Arial"/>
                <a:ea typeface="Arial"/>
                <a:cs typeface="Arial"/>
              </a:rPr>
              <a:t>Mean pressure is area weighted.</a:t>
            </a:r>
          </a:p>
          <a:p>
            <a:pPr algn="l">
              <a:lnSpc>
                <a:spcPct val="115000"/>
              </a:lnSpc>
              <a:spcAft>
                <a:spcPts val="0"/>
              </a:spcAft>
            </a:pPr>
            <a:r>
              <a:rPr sz="1050" b="0" i="0">
                <a:solidFill>
                  <a:srgbClr val="657269"/>
                </a:solidFill>
                <a:latin typeface="Arial"/>
                <a:ea typeface="Arial"/>
                <a:cs typeface="Arial"/>
              </a:rPr>
              <a:t>Divide Pa by 1,000 to report kPa.</a:t>
            </a:r>
          </a:p>
        </p:txBody>
      </p:sp>
      <p:sp>
        <p:nvSpPr>
          <p:cNvPr id="25" name="TextBox 24"/>
          <p:cNvSpPr txBox="1"/>
          <p:nvPr/>
        </p:nvSpPr>
        <p:spPr>
          <a:xfrm>
            <a:off x="8280400" y="4254500"/>
            <a:ext cx="3149600" cy="254000"/>
          </a:xfrm>
          <a:prstGeom prst="rect">
            <a:avLst/>
          </a:prstGeom>
          <a:noFill/>
        </p:spPr>
        <p:txBody>
          <a:bodyPr wrap="square" lIns="0" rIns="0" tIns="0" bIns="0" anchor="t">
            <a:spAutoFit/>
          </a:bodyPr>
          <a:lstStyle/>
          <a:p>
            <a:pPr algn="l">
              <a:lnSpc>
                <a:spcPct val="115000"/>
              </a:lnSpc>
              <a:spcAft>
                <a:spcPts val="0"/>
              </a:spcAft>
            </a:pPr>
            <a:r>
              <a:rPr sz="1120" b="1" i="0">
                <a:solidFill>
                  <a:srgbClr val="52765A"/>
                </a:solidFill>
                <a:latin typeface="Arial"/>
                <a:ea typeface="Arial"/>
                <a:cs typeface="Arial"/>
              </a:rPr>
              <a:t>Output: mean / peak pressure</a:t>
            </a:r>
          </a:p>
        </p:txBody>
      </p:sp>
      <p:sp>
        <p:nvSpPr>
          <p:cNvPr id="26" name="Rounded Rectangle 25"/>
          <p:cNvSpPr/>
          <p:nvPr/>
        </p:nvSpPr>
        <p:spPr>
          <a:xfrm>
            <a:off x="609600" y="4914900"/>
            <a:ext cx="10972800" cy="787400"/>
          </a:xfrm>
          <a:prstGeom prst="roundRect">
            <a:avLst>
              <a:gd name="adj" fmla="val 5000"/>
            </a:avLst>
          </a:prstGeom>
          <a:solidFill>
            <a:srgbClr val="EEF3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12800" y="5041900"/>
            <a:ext cx="10541000" cy="228600"/>
          </a:xfrm>
          <a:prstGeom prst="rect">
            <a:avLst/>
          </a:prstGeom>
          <a:noFill/>
        </p:spPr>
        <p:txBody>
          <a:bodyPr wrap="square" lIns="0" rIns="0" tIns="0" bIns="0" anchor="t">
            <a:spAutoFit/>
          </a:bodyPr>
          <a:lstStyle/>
          <a:p>
            <a:pPr algn="l">
              <a:lnSpc>
                <a:spcPct val="115000"/>
              </a:lnSpc>
              <a:spcAft>
                <a:spcPts val="0"/>
              </a:spcAft>
            </a:pPr>
            <a:r>
              <a:rPr sz="950" b="1" i="0">
                <a:solidFill>
                  <a:srgbClr val="52765A"/>
                </a:solidFill>
                <a:latin typeface="Arial"/>
                <a:ea typeface="Arial"/>
                <a:cs typeface="Arial"/>
              </a:rPr>
              <a:t>BEFORE REAL MEASUREMENTS</a:t>
            </a:r>
          </a:p>
        </p:txBody>
      </p:sp>
      <p:sp>
        <p:nvSpPr>
          <p:cNvPr id="28" name="TextBox 27"/>
          <p:cNvSpPr txBox="1"/>
          <p:nvPr/>
        </p:nvSpPr>
        <p:spPr>
          <a:xfrm>
            <a:off x="812800" y="5321300"/>
            <a:ext cx="10541000" cy="304800"/>
          </a:xfrm>
          <a:prstGeom prst="rect">
            <a:avLst/>
          </a:prstGeom>
          <a:noFill/>
        </p:spPr>
        <p:txBody>
          <a:bodyPr wrap="square" lIns="0" rIns="0" tIns="0" bIns="0" anchor="t">
            <a:spAutoFit/>
          </a:bodyPr>
          <a:lstStyle/>
          <a:p>
            <a:pPr algn="l">
              <a:lnSpc>
                <a:spcPct val="115000"/>
              </a:lnSpc>
              <a:spcAft>
                <a:spcPts val="0"/>
              </a:spcAft>
            </a:pPr>
            <a:r>
              <a:rPr sz="1120" b="0" i="0">
                <a:solidFill>
                  <a:srgbClr val="657269"/>
                </a:solidFill>
                <a:latin typeface="Arial"/>
                <a:ea typeface="Arial"/>
                <a:cs typeface="Arial"/>
              </a:rPr>
              <a:t>Verify taxels, unloaded bias, force calibration, compressive normals, and taxel areas separately for each hand.</a:t>
            </a:r>
          </a:p>
        </p:txBody>
      </p:sp>
      <p:sp>
        <p:nvSpPr>
          <p:cNvPr id="29" name="Rounded Rectangle 28"/>
          <p:cNvSpPr/>
          <p:nvPr/>
        </p:nvSpPr>
        <p:spPr>
          <a:xfrm>
            <a:off x="609600" y="5956300"/>
            <a:ext cx="10972800" cy="419100"/>
          </a:xfrm>
          <a:prstGeom prst="roundRect">
            <a:avLst>
              <a:gd name="adj" fmla="val 5000"/>
            </a:avLst>
          </a:prstGeom>
          <a:solidFill>
            <a:srgbClr val="F2EAD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87400" y="6045200"/>
            <a:ext cx="10617200" cy="292100"/>
          </a:xfrm>
          <a:prstGeom prst="rect">
            <a:avLst/>
          </a:prstGeom>
          <a:noFill/>
        </p:spPr>
        <p:txBody>
          <a:bodyPr wrap="square" lIns="0" rIns="0" tIns="0" bIns="0" anchor="t">
            <a:spAutoFit/>
          </a:bodyPr>
          <a:lstStyle/>
          <a:p>
            <a:pPr algn="l">
              <a:lnSpc>
                <a:spcPct val="115000"/>
              </a:lnSpc>
              <a:spcAft>
                <a:spcPts val="0"/>
              </a:spcAft>
            </a:pPr>
            <a:r>
              <a:rPr sz="1050" b="0" i="0">
                <a:solidFill>
                  <a:srgbClr val="8C6031"/>
                </a:solidFill>
                <a:latin typeface="Arial"/>
                <a:ea typeface="Arial"/>
                <a:cs typeface="Arial"/>
              </a:rPr>
              <a:t>Practice first with the README synthetic demo (§8). Its toy calibration must not be applied to the real recording.</a:t>
            </a:r>
          </a:p>
        </p:txBody>
      </p:sp>
    </p:spTree>
  </p:cSld>
  <p:transition xmlns:p="http://schemas.openxmlformats.org/presentationml/2006/main" spd="slow">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09600" y="342900"/>
            <a:ext cx="10972800" cy="177800"/>
          </a:xfrm>
          <a:prstGeom prst="rect">
            <a:avLst/>
          </a:prstGeom>
          <a:noFill/>
        </p:spPr>
        <p:txBody>
          <a:bodyPr wrap="square" lIns="0" rIns="0" tIns="0" bIns="0" anchor="t">
            <a:spAutoFit/>
          </a:bodyPr>
          <a:lstStyle/>
          <a:p>
            <a:pPr algn="l">
              <a:lnSpc>
                <a:spcPct val="115000"/>
              </a:lnSpc>
              <a:spcAft>
                <a:spcPts val="0"/>
              </a:spcAft>
            </a:pPr>
            <a:r>
              <a:rPr sz="900" b="1" i="0">
                <a:solidFill>
                  <a:srgbClr val="52765A"/>
                </a:solidFill>
                <a:latin typeface="Arial"/>
                <a:ea typeface="Arial"/>
                <a:cs typeface="Arial"/>
              </a:rPr>
              <a:t>10 / REPOSITORY PRACTICE</a:t>
            </a:r>
          </a:p>
        </p:txBody>
      </p:sp>
      <p:sp>
        <p:nvSpPr>
          <p:cNvPr id="3" name="TextBox 2"/>
          <p:cNvSpPr txBox="1"/>
          <p:nvPr/>
        </p:nvSpPr>
        <p:spPr>
          <a:xfrm>
            <a:off x="596900" y="596900"/>
            <a:ext cx="11023600" cy="444500"/>
          </a:xfrm>
          <a:prstGeom prst="rect">
            <a:avLst/>
          </a:prstGeom>
          <a:noFill/>
        </p:spPr>
        <p:txBody>
          <a:bodyPr wrap="square" lIns="0" rIns="0" tIns="0" bIns="0" anchor="t">
            <a:spAutoFit/>
          </a:bodyPr>
          <a:lstStyle/>
          <a:p>
            <a:pPr algn="l">
              <a:lnSpc>
                <a:spcPct val="115000"/>
              </a:lnSpc>
              <a:spcAft>
                <a:spcPts val="0"/>
              </a:spcAft>
            </a:pPr>
            <a:r>
              <a:rPr sz="2250" b="1" i="0">
                <a:solidFill>
                  <a:srgbClr val="1D2B24"/>
                </a:solidFill>
                <a:latin typeface="Arial"/>
                <a:ea typeface="Arial"/>
                <a:cs typeface="Arial"/>
              </a:rPr>
              <a:t>Start with the ZIP, then follow the README exercises</a:t>
            </a:r>
          </a:p>
        </p:txBody>
      </p:sp>
      <p:sp>
        <p:nvSpPr>
          <p:cNvPr id="4" name="TextBox 3"/>
          <p:cNvSpPr txBox="1"/>
          <p:nvPr/>
        </p:nvSpPr>
        <p:spPr>
          <a:xfrm>
            <a:off x="609600" y="1016000"/>
            <a:ext cx="10972800" cy="355600"/>
          </a:xfrm>
          <a:prstGeom prst="rect">
            <a:avLst/>
          </a:prstGeom>
          <a:noFill/>
        </p:spPr>
        <p:txBody>
          <a:bodyPr wrap="square" lIns="0" rIns="0" tIns="0" bIns="0" anchor="t">
            <a:spAutoFit/>
          </a:bodyPr>
          <a:lstStyle/>
          <a:p>
            <a:pPr algn="l">
              <a:lnSpc>
                <a:spcPct val="115000"/>
              </a:lnSpc>
              <a:spcAft>
                <a:spcPts val="0"/>
              </a:spcAft>
            </a:pPr>
            <a:r>
              <a:rPr sz="1200" b="0" i="0">
                <a:solidFill>
                  <a:srgbClr val="657269"/>
                </a:solidFill>
                <a:latin typeface="Arial"/>
                <a:ea typeface="Arial"/>
                <a:cs typeface="Arial"/>
              </a:rPr>
              <a:t>Use the command-line workflow in lab3/tactile_analysis. A ZIP can be analyzed directly; HDF5 is optional.</a:t>
            </a:r>
          </a:p>
        </p:txBody>
      </p:sp>
      <p:cxnSp>
        <p:nvCxnSpPr>
          <p:cNvPr id="5" name="Connector 4"/>
          <p:cNvCxnSpPr/>
          <p:nvPr/>
        </p:nvCxnSpPr>
        <p:spPr>
          <a:xfrm>
            <a:off x="609600" y="1384300"/>
            <a:ext cx="10972800" cy="0"/>
          </a:xfrm>
          <a:prstGeom prst="line">
            <a:avLst/>
          </a:prstGeom>
          <a:ln w="8890">
            <a:solidFill>
              <a:srgbClr val="C9D4C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09600" y="6464300"/>
            <a:ext cx="9652000" cy="152400"/>
          </a:xfrm>
          <a:prstGeom prst="rect">
            <a:avLst/>
          </a:prstGeom>
          <a:noFill/>
        </p:spPr>
        <p:txBody>
          <a:bodyPr wrap="square" lIns="0" rIns="0" tIns="0" bIns="0" anchor="t">
            <a:spAutoFit/>
          </a:bodyPr>
          <a:lstStyle/>
          <a:p>
            <a:pPr algn="l">
              <a:lnSpc>
                <a:spcPct val="115000"/>
              </a:lnSpc>
              <a:spcAft>
                <a:spcPts val="0"/>
              </a:spcAft>
            </a:pPr>
            <a:r>
              <a:rPr sz="750" b="1" i="0">
                <a:solidFill>
                  <a:srgbClr val="657269"/>
                </a:solidFill>
                <a:latin typeface="Arial"/>
                <a:ea typeface="Arial"/>
                <a:cs typeface="Arial"/>
              </a:rPr>
              <a:t>DEXMAN_LEROBOT / VR TELEOPERATION SYSTEM</a:t>
            </a:r>
          </a:p>
        </p:txBody>
      </p:sp>
      <p:sp>
        <p:nvSpPr>
          <p:cNvPr id="7" name="TextBox 6"/>
          <p:cNvSpPr txBox="1"/>
          <p:nvPr/>
        </p:nvSpPr>
        <p:spPr>
          <a:xfrm>
            <a:off x="10795000" y="6464300"/>
            <a:ext cx="787400" cy="152400"/>
          </a:xfrm>
          <a:prstGeom prst="rect">
            <a:avLst/>
          </a:prstGeom>
          <a:noFill/>
        </p:spPr>
        <p:txBody>
          <a:bodyPr wrap="square" lIns="0" rIns="0" tIns="0" bIns="0" anchor="t">
            <a:spAutoFit/>
          </a:bodyPr>
          <a:lstStyle/>
          <a:p>
            <a:pPr algn="r">
              <a:lnSpc>
                <a:spcPct val="115000"/>
              </a:lnSpc>
              <a:spcAft>
                <a:spcPts val="0"/>
              </a:spcAft>
            </a:pPr>
            <a:r>
              <a:rPr sz="750" b="1" i="0">
                <a:solidFill>
                  <a:srgbClr val="657269"/>
                </a:solidFill>
                <a:latin typeface="Arial"/>
                <a:ea typeface="Arial"/>
                <a:cs typeface="Arial"/>
              </a:rPr>
              <a:t>10 / 10</a:t>
            </a:r>
          </a:p>
        </p:txBody>
      </p:sp>
      <p:sp>
        <p:nvSpPr>
          <p:cNvPr id="8" name="TextBox 7"/>
          <p:cNvSpPr txBox="1"/>
          <p:nvPr/>
        </p:nvSpPr>
        <p:spPr>
          <a:xfrm>
            <a:off x="609600" y="1714500"/>
            <a:ext cx="6756400" cy="241300"/>
          </a:xfrm>
          <a:prstGeom prst="rect">
            <a:avLst/>
          </a:prstGeom>
          <a:noFill/>
        </p:spPr>
        <p:txBody>
          <a:bodyPr wrap="square" lIns="0" rIns="0" tIns="0" bIns="0" anchor="t">
            <a:spAutoFit/>
          </a:bodyPr>
          <a:lstStyle/>
          <a:p>
            <a:pPr algn="l">
              <a:lnSpc>
                <a:spcPct val="115000"/>
              </a:lnSpc>
              <a:spcAft>
                <a:spcPts val="0"/>
              </a:spcAft>
            </a:pPr>
            <a:r>
              <a:rPr sz="1050" b="1" i="0">
                <a:solidFill>
                  <a:srgbClr val="52765A"/>
                </a:solidFill>
                <a:latin typeface="Arial"/>
                <a:ea typeface="Arial"/>
                <a:cs typeface="Arial"/>
              </a:rPr>
              <a:t>RUN FROM THE REPOSITORY ROOT</a:t>
            </a:r>
          </a:p>
        </p:txBody>
      </p:sp>
      <p:sp>
        <p:nvSpPr>
          <p:cNvPr id="9" name="Rounded Rectangle 8"/>
          <p:cNvSpPr/>
          <p:nvPr/>
        </p:nvSpPr>
        <p:spPr>
          <a:xfrm>
            <a:off x="609600" y="2095500"/>
            <a:ext cx="6870700" cy="2286000"/>
          </a:xfrm>
          <a:prstGeom prst="roundRect">
            <a:avLst>
              <a:gd name="adj" fmla="val 5000"/>
            </a:avLst>
          </a:prstGeom>
          <a:solidFill>
            <a:srgbClr val="EEF3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00100" y="2298700"/>
            <a:ext cx="6502400" cy="1905000"/>
          </a:xfrm>
          <a:prstGeom prst="rect">
            <a:avLst/>
          </a:prstGeom>
          <a:noFill/>
        </p:spPr>
        <p:txBody>
          <a:bodyPr wrap="square" lIns="0" rIns="0" tIns="0" bIns="0" anchor="t">
            <a:spAutoFit/>
          </a:bodyPr>
          <a:lstStyle/>
          <a:p>
            <a:pPr algn="l">
              <a:lnSpc>
                <a:spcPct val="115000"/>
              </a:lnSpc>
              <a:spcAft>
                <a:spcPts val="0"/>
              </a:spcAft>
            </a:pPr>
            <a:r>
              <a:rPr sz="1050" b="0" i="0">
                <a:solidFill>
                  <a:srgbClr val="1D2B24"/>
                </a:solidFill>
                <a:latin typeface="Courier New"/>
                <a:ea typeface="Courier New"/>
                <a:cs typeface="Courier New"/>
              </a:rPr>
              <a:t>cd lab3/tactile_analysis</a:t>
            </a:r>
          </a:p>
          <a:p>
            <a:pPr algn="l">
              <a:lnSpc>
                <a:spcPct val="115000"/>
              </a:lnSpc>
              <a:spcAft>
                <a:spcPts val="0"/>
              </a:spcAft>
            </a:pPr>
            <a:r>
              <a:rPr sz="1050" b="0" i="0">
                <a:solidFill>
                  <a:srgbClr val="1D2B24"/>
                </a:solidFill>
                <a:latin typeface="Courier New"/>
                <a:ea typeface="Courier New"/>
                <a:cs typeface="Courier New"/>
              </a:rPr>
              <a:t>python examples/analyze_recording.py \</a:t>
            </a:r>
          </a:p>
          <a:p>
            <a:pPr algn="l">
              <a:lnSpc>
                <a:spcPct val="115000"/>
              </a:lnSpc>
              <a:spcAft>
                <a:spcPts val="0"/>
              </a:spcAft>
            </a:pPr>
            <a:r>
              <a:rPr sz="1050" b="0" i="0">
                <a:solidFill>
                  <a:srgbClr val="1D2B24"/>
                </a:solidFill>
                <a:latin typeface="Courier New"/>
                <a:ea typeface="Courier New"/>
                <a:cs typeface="Courier New"/>
              </a:rPr>
              <a:t>  "teleop_20261021T090120_798e4203.zip" \</a:t>
            </a:r>
          </a:p>
          <a:p>
            <a:pPr algn="l">
              <a:lnSpc>
                <a:spcPct val="115000"/>
              </a:lnSpc>
              <a:spcAft>
                <a:spcPts val="0"/>
              </a:spcAft>
            </a:pPr>
            <a:r>
              <a:rPr sz="1050" b="0" i="0">
                <a:solidFill>
                  <a:srgbClr val="1D2B24"/>
                </a:solidFill>
                <a:latin typeface="Courier New"/>
                <a:ea typeface="Courier New"/>
                <a:cs typeface="Courier New"/>
              </a:rPr>
              <a:t>  --trial all --allow-unverified \</a:t>
            </a:r>
          </a:p>
          <a:p>
            <a:pPr algn="l">
              <a:lnSpc>
                <a:spcPct val="115000"/>
              </a:lnSpc>
              <a:spcAft>
                <a:spcPts val="0"/>
              </a:spcAft>
            </a:pPr>
            <a:r>
              <a:rPr sz="1050" b="0" i="0">
                <a:solidFill>
                  <a:srgbClr val="1D2B24"/>
                </a:solidFill>
                <a:latin typeface="Courier New"/>
                <a:ea typeface="Courier New"/>
                <a:cs typeface="Courier New"/>
              </a:rPr>
              <a:t>  --contact-threshold 10 \</a:t>
            </a:r>
          </a:p>
          <a:p>
            <a:pPr algn="l">
              <a:lnSpc>
                <a:spcPct val="115000"/>
              </a:lnSpc>
              <a:spcAft>
                <a:spcPts val="0"/>
              </a:spcAft>
            </a:pPr>
            <a:r>
              <a:rPr sz="1050" b="0" i="0">
                <a:solidFill>
                  <a:srgbClr val="1D2B24"/>
                </a:solidFill>
                <a:latin typeface="Courier New"/>
                <a:ea typeface="Courier New"/>
                <a:cs typeface="Courier New"/>
              </a:rPr>
              <a:t>  --output-dir analysis_out/course_t10</a:t>
            </a:r>
          </a:p>
        </p:txBody>
      </p:sp>
      <p:sp>
        <p:nvSpPr>
          <p:cNvPr id="11" name="TextBox 10"/>
          <p:cNvSpPr txBox="1"/>
          <p:nvPr/>
        </p:nvSpPr>
        <p:spPr>
          <a:xfrm>
            <a:off x="609600" y="4546600"/>
            <a:ext cx="6870700" cy="4572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After installing dependencies and activating the environment (README §2).</a:t>
            </a:r>
          </a:p>
          <a:p>
            <a:pPr algn="l">
              <a:lnSpc>
                <a:spcPct val="115000"/>
              </a:lnSpc>
              <a:spcAft>
                <a:spcPts val="0"/>
              </a:spcAft>
            </a:pPr>
            <a:r>
              <a:rPr sz="1050" b="0" i="0">
                <a:solidFill>
                  <a:srgbClr val="657269"/>
                </a:solidFill>
                <a:latin typeface="Arial"/>
                <a:ea typeface="Arial"/>
                <a:cs typeface="Arial"/>
              </a:rPr>
              <a:t>Replace the ZIP path if needed; choose a new output directory for each run.</a:t>
            </a:r>
          </a:p>
        </p:txBody>
      </p:sp>
      <p:sp>
        <p:nvSpPr>
          <p:cNvPr id="12" name="TextBox 11"/>
          <p:cNvSpPr txBox="1"/>
          <p:nvPr/>
        </p:nvSpPr>
        <p:spPr>
          <a:xfrm>
            <a:off x="7785100" y="1714500"/>
            <a:ext cx="3784600" cy="241300"/>
          </a:xfrm>
          <a:prstGeom prst="rect">
            <a:avLst/>
          </a:prstGeom>
          <a:noFill/>
        </p:spPr>
        <p:txBody>
          <a:bodyPr wrap="square" lIns="0" rIns="0" tIns="0" bIns="0" anchor="t">
            <a:spAutoFit/>
          </a:bodyPr>
          <a:lstStyle/>
          <a:p>
            <a:pPr algn="l">
              <a:lnSpc>
                <a:spcPct val="115000"/>
              </a:lnSpc>
              <a:spcAft>
                <a:spcPts val="0"/>
              </a:spcAft>
            </a:pPr>
            <a:r>
              <a:rPr sz="1050" b="1" i="0">
                <a:solidFill>
                  <a:srgbClr val="52765A"/>
                </a:solidFill>
                <a:latin typeface="Arial"/>
                <a:ea typeface="Arial"/>
                <a:cs typeface="Arial"/>
              </a:rPr>
              <a:t>YOUR TASKS</a:t>
            </a:r>
          </a:p>
        </p:txBody>
      </p:sp>
      <p:sp>
        <p:nvSpPr>
          <p:cNvPr id="13" name="TextBox 12"/>
          <p:cNvSpPr txBox="1"/>
          <p:nvPr/>
        </p:nvSpPr>
        <p:spPr>
          <a:xfrm>
            <a:off x="7785100" y="2260600"/>
            <a:ext cx="241300" cy="266700"/>
          </a:xfrm>
          <a:prstGeom prst="rect">
            <a:avLst/>
          </a:prstGeom>
          <a:noFill/>
        </p:spPr>
        <p:txBody>
          <a:bodyPr wrap="square" lIns="0" rIns="0" tIns="0" bIns="0" anchor="t">
            <a:spAutoFit/>
          </a:bodyPr>
          <a:lstStyle/>
          <a:p>
            <a:pPr algn="l">
              <a:lnSpc>
                <a:spcPct val="115000"/>
              </a:lnSpc>
              <a:spcAft>
                <a:spcPts val="0"/>
              </a:spcAft>
            </a:pPr>
            <a:r>
              <a:rPr sz="1500" b="1" i="0">
                <a:solidFill>
                  <a:srgbClr val="52765A"/>
                </a:solidFill>
                <a:latin typeface="Arial"/>
                <a:ea typeface="Arial"/>
                <a:cs typeface="Arial"/>
              </a:rPr>
              <a:t>1</a:t>
            </a:r>
          </a:p>
        </p:txBody>
      </p:sp>
      <p:sp>
        <p:nvSpPr>
          <p:cNvPr id="14" name="TextBox 13"/>
          <p:cNvSpPr txBox="1"/>
          <p:nvPr/>
        </p:nvSpPr>
        <p:spPr>
          <a:xfrm>
            <a:off x="8140700" y="2260600"/>
            <a:ext cx="3429000" cy="368300"/>
          </a:xfrm>
          <a:prstGeom prst="rect">
            <a:avLst/>
          </a:prstGeom>
          <a:noFill/>
        </p:spPr>
        <p:txBody>
          <a:bodyPr wrap="square" lIns="0" rIns="0" tIns="0" bIns="0" anchor="t">
            <a:spAutoFit/>
          </a:bodyPr>
          <a:lstStyle/>
          <a:p>
            <a:pPr algn="l">
              <a:lnSpc>
                <a:spcPct val="115000"/>
              </a:lnSpc>
              <a:spcAft>
                <a:spcPts val="0"/>
              </a:spcAft>
            </a:pPr>
            <a:r>
              <a:rPr sz="1120" b="1" i="0">
                <a:solidFill>
                  <a:srgbClr val="1D2B24"/>
                </a:solidFill>
                <a:latin typeface="Arial"/>
                <a:ea typeface="Arial"/>
                <a:cs typeface="Arial"/>
              </a:rPr>
              <a:t>Inspect validity and sampling quality</a:t>
            </a:r>
          </a:p>
        </p:txBody>
      </p:sp>
      <p:sp>
        <p:nvSpPr>
          <p:cNvPr id="15" name="TextBox 14"/>
          <p:cNvSpPr txBox="1"/>
          <p:nvPr/>
        </p:nvSpPr>
        <p:spPr>
          <a:xfrm>
            <a:off x="8140700" y="2641600"/>
            <a:ext cx="3429000" cy="3048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README §3: --list-trials</a:t>
            </a:r>
          </a:p>
        </p:txBody>
      </p:sp>
      <p:sp>
        <p:nvSpPr>
          <p:cNvPr id="16" name="TextBox 15"/>
          <p:cNvSpPr txBox="1"/>
          <p:nvPr/>
        </p:nvSpPr>
        <p:spPr>
          <a:xfrm>
            <a:off x="7785100" y="3136900"/>
            <a:ext cx="241300" cy="266700"/>
          </a:xfrm>
          <a:prstGeom prst="rect">
            <a:avLst/>
          </a:prstGeom>
          <a:noFill/>
        </p:spPr>
        <p:txBody>
          <a:bodyPr wrap="square" lIns="0" rIns="0" tIns="0" bIns="0" anchor="t">
            <a:spAutoFit/>
          </a:bodyPr>
          <a:lstStyle/>
          <a:p>
            <a:pPr algn="l">
              <a:lnSpc>
                <a:spcPct val="115000"/>
              </a:lnSpc>
              <a:spcAft>
                <a:spcPts val="0"/>
              </a:spcAft>
            </a:pPr>
            <a:r>
              <a:rPr sz="1500" b="1" i="0">
                <a:solidFill>
                  <a:srgbClr val="52765A"/>
                </a:solidFill>
                <a:latin typeface="Arial"/>
                <a:ea typeface="Arial"/>
                <a:cs typeface="Arial"/>
              </a:rPr>
              <a:t>2</a:t>
            </a:r>
          </a:p>
        </p:txBody>
      </p:sp>
      <p:sp>
        <p:nvSpPr>
          <p:cNvPr id="17" name="TextBox 16"/>
          <p:cNvSpPr txBox="1"/>
          <p:nvPr/>
        </p:nvSpPr>
        <p:spPr>
          <a:xfrm>
            <a:off x="8140700" y="3136900"/>
            <a:ext cx="3429000" cy="368300"/>
          </a:xfrm>
          <a:prstGeom prst="rect">
            <a:avLst/>
          </a:prstGeom>
          <a:noFill/>
        </p:spPr>
        <p:txBody>
          <a:bodyPr wrap="square" lIns="0" rIns="0" tIns="0" bIns="0" anchor="t">
            <a:spAutoFit/>
          </a:bodyPr>
          <a:lstStyle/>
          <a:p>
            <a:pPr algn="l">
              <a:lnSpc>
                <a:spcPct val="115000"/>
              </a:lnSpc>
              <a:spcAft>
                <a:spcPts val="0"/>
              </a:spcAft>
            </a:pPr>
            <a:r>
              <a:rPr sz="1120" b="1" i="0">
                <a:solidFill>
                  <a:srgbClr val="1D2B24"/>
                </a:solidFill>
                <a:latin typeface="Arial"/>
                <a:ea typeface="Arial"/>
                <a:cs typeface="Arial"/>
              </a:rPr>
              <a:t>Read plots + JSON / CSV reports</a:t>
            </a:r>
          </a:p>
        </p:txBody>
      </p:sp>
      <p:sp>
        <p:nvSpPr>
          <p:cNvPr id="18" name="TextBox 17"/>
          <p:cNvSpPr txBox="1"/>
          <p:nvPr/>
        </p:nvSpPr>
        <p:spPr>
          <a:xfrm>
            <a:off x="8140700" y="3517900"/>
            <a:ext cx="3429000" cy="3048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README §§5–6: compare 10 vs 20</a:t>
            </a:r>
          </a:p>
        </p:txBody>
      </p:sp>
      <p:sp>
        <p:nvSpPr>
          <p:cNvPr id="19" name="TextBox 18"/>
          <p:cNvSpPr txBox="1"/>
          <p:nvPr/>
        </p:nvSpPr>
        <p:spPr>
          <a:xfrm>
            <a:off x="7785100" y="4013200"/>
            <a:ext cx="241300" cy="266700"/>
          </a:xfrm>
          <a:prstGeom prst="rect">
            <a:avLst/>
          </a:prstGeom>
          <a:noFill/>
        </p:spPr>
        <p:txBody>
          <a:bodyPr wrap="square" lIns="0" rIns="0" tIns="0" bIns="0" anchor="t">
            <a:spAutoFit/>
          </a:bodyPr>
          <a:lstStyle/>
          <a:p>
            <a:pPr algn="l">
              <a:lnSpc>
                <a:spcPct val="115000"/>
              </a:lnSpc>
              <a:spcAft>
                <a:spcPts val="0"/>
              </a:spcAft>
            </a:pPr>
            <a:r>
              <a:rPr sz="1500" b="1" i="0">
                <a:solidFill>
                  <a:srgbClr val="52765A"/>
                </a:solidFill>
                <a:latin typeface="Arial"/>
                <a:ea typeface="Arial"/>
                <a:cs typeface="Arial"/>
              </a:rPr>
              <a:t>3</a:t>
            </a:r>
          </a:p>
        </p:txBody>
      </p:sp>
      <p:sp>
        <p:nvSpPr>
          <p:cNvPr id="20" name="TextBox 19"/>
          <p:cNvSpPr txBox="1"/>
          <p:nvPr/>
        </p:nvSpPr>
        <p:spPr>
          <a:xfrm>
            <a:off x="8140700" y="4013200"/>
            <a:ext cx="3429000" cy="368300"/>
          </a:xfrm>
          <a:prstGeom prst="rect">
            <a:avLst/>
          </a:prstGeom>
          <a:noFill/>
        </p:spPr>
        <p:txBody>
          <a:bodyPr wrap="square" lIns="0" rIns="0" tIns="0" bIns="0" anchor="t">
            <a:spAutoFit/>
          </a:bodyPr>
          <a:lstStyle/>
          <a:p>
            <a:pPr algn="l">
              <a:lnSpc>
                <a:spcPct val="115000"/>
              </a:lnSpc>
              <a:spcAft>
                <a:spcPts val="0"/>
              </a:spcAft>
            </a:pPr>
            <a:r>
              <a:rPr sz="1120" b="1" i="0">
                <a:solidFill>
                  <a:srgbClr val="1D2B24"/>
                </a:solidFill>
                <a:latin typeface="Arial"/>
                <a:ea typeface="Arial"/>
                <a:cs typeface="Arial"/>
              </a:rPr>
              <a:t>Run the synthetic area / pressure demo</a:t>
            </a:r>
          </a:p>
        </p:txBody>
      </p:sp>
      <p:sp>
        <p:nvSpPr>
          <p:cNvPr id="21" name="TextBox 20"/>
          <p:cNvSpPr txBox="1"/>
          <p:nvPr/>
        </p:nvSpPr>
        <p:spPr>
          <a:xfrm>
            <a:off x="8140700" y="4394200"/>
            <a:ext cx="3429000" cy="304800"/>
          </a:xfrm>
          <a:prstGeom prst="rect">
            <a:avLst/>
          </a:prstGeom>
          <a:noFill/>
        </p:spPr>
        <p:txBody>
          <a:bodyPr wrap="square" lIns="0" rIns="0" tIns="0" bIns="0" anchor="t">
            <a:spAutoFit/>
          </a:bodyPr>
          <a:lstStyle/>
          <a:p>
            <a:pPr algn="l">
              <a:lnSpc>
                <a:spcPct val="115000"/>
              </a:lnSpc>
              <a:spcAft>
                <a:spcPts val="0"/>
              </a:spcAft>
            </a:pPr>
            <a:r>
              <a:rPr sz="1050" b="0" i="0">
                <a:solidFill>
                  <a:srgbClr val="657269"/>
                </a:solidFill>
                <a:latin typeface="Arial"/>
                <a:ea typeface="Arial"/>
                <a:cs typeface="Arial"/>
              </a:rPr>
              <a:t>README §§7–9: formulas + calibration</a:t>
            </a:r>
          </a:p>
        </p:txBody>
      </p:sp>
      <p:sp>
        <p:nvSpPr>
          <p:cNvPr id="22" name="Rounded Rectangle 21"/>
          <p:cNvSpPr/>
          <p:nvPr/>
        </p:nvSpPr>
        <p:spPr>
          <a:xfrm>
            <a:off x="609600" y="5232400"/>
            <a:ext cx="10972800" cy="901700"/>
          </a:xfrm>
          <a:prstGeom prst="roundRect">
            <a:avLst>
              <a:gd name="adj" fmla="val 5000"/>
            </a:avLst>
          </a:prstGeom>
          <a:solidFill>
            <a:srgbClr val="DDE8D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12800" y="5372100"/>
            <a:ext cx="10541000" cy="266700"/>
          </a:xfrm>
          <a:prstGeom prst="rect">
            <a:avLst/>
          </a:prstGeom>
          <a:noFill/>
        </p:spPr>
        <p:txBody>
          <a:bodyPr wrap="square" lIns="0" rIns="0" tIns="0" bIns="0" anchor="t">
            <a:spAutoFit/>
          </a:bodyPr>
          <a:lstStyle/>
          <a:p>
            <a:pPr algn="l">
              <a:lnSpc>
                <a:spcPct val="115000"/>
              </a:lnSpc>
              <a:spcAft>
                <a:spcPts val="0"/>
              </a:spcAft>
            </a:pPr>
            <a:r>
              <a:rPr sz="1050" b="1" i="0">
                <a:solidFill>
                  <a:srgbClr val="52765A"/>
                </a:solidFill>
                <a:latin typeface="Arial"/>
                <a:ea typeface="Arial"/>
                <a:cs typeface="Arial"/>
              </a:rPr>
              <a:t>CONTINUE IN THE README</a:t>
            </a:r>
          </a:p>
        </p:txBody>
      </p:sp>
      <p:sp>
        <p:nvSpPr>
          <p:cNvPr id="24" name="TextBox 23"/>
          <p:cNvSpPr txBox="1"/>
          <p:nvPr/>
        </p:nvSpPr>
        <p:spPr>
          <a:xfrm>
            <a:off x="812800" y="5689600"/>
            <a:ext cx="10528300" cy="317500"/>
          </a:xfrm>
          <a:prstGeom prst="rect">
            <a:avLst/>
          </a:prstGeom>
          <a:noFill/>
        </p:spPr>
        <p:txBody>
          <a:bodyPr wrap="square" lIns="0" rIns="0" tIns="0" bIns="0" anchor="t">
            <a:spAutoFit/>
          </a:bodyPr>
          <a:lstStyle/>
          <a:p>
            <a:pPr algn="l">
              <a:lnSpc>
                <a:spcPct val="115000"/>
              </a:lnSpc>
              <a:spcAft>
                <a:spcPts val="0"/>
              </a:spcAft>
            </a:pPr>
            <a:r>
              <a:rPr sz="1200" b="1" i="0">
                <a:solidFill>
                  <a:srgbClr val="1D2B24"/>
                </a:solidFill>
                <a:latin typeface="Arial"/>
                <a:ea typeface="Arial"/>
                <a:cs typeface="Arial"/>
              </a:rPr>
              <a:t>lab3/tactile_analysis/README.md  (Chinese)     |     README.en.md  (English)</a:t>
            </a:r>
          </a:p>
        </p:txBody>
      </p:sp>
    </p:spTree>
  </p:cSld>
  <p:transition xmlns:p="http://schemas.openxmlformats.org/presentationml/2006/main" spd="slow">
    <p:fade/>
  </p:transition>
  <p:clrMapOvr>
    <a:masterClrMapping/>
  </p:clrMapOvr>
</p:sld>
</file>

<file path=ppt/theme/theme1.xml><?xml version="1.0" encoding="utf-8"?>
<a:theme xmlns:a="http://schemas.openxmlformats.org/drawingml/2006/main" name="vr_teleop_intro">
  <a:themeElements>
    <a:clrScheme name="vr_teleop_intr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vr_teleop_intr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r_teleop_intr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vr_teleop_intro">
  <a:themeElements>
    <a:clrScheme name="vr_teleop_intr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vr_teleop_intr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r_teleop_intr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114</TotalTime>
  <Words>1510</Words>
  <Application>Microsoft Macintosh PowerPoint</Application>
  <PresentationFormat>宽屏</PresentationFormat>
  <Paragraphs>173</Paragraphs>
  <Slides>5</Slides>
  <Notes>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5</vt:i4>
      </vt:variant>
    </vt:vector>
  </HeadingPairs>
  <TitlesOfParts>
    <vt:vector size="8" baseType="lpstr">
      <vt:lpstr>Arial</vt:lpstr>
      <vt:lpstr>Cambria Math</vt:lpstr>
      <vt:lpstr>vr_teleop_intro</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Mint Kira</cp:lastModifiedBy>
  <cp:revision>4</cp:revision>
  <dcterms:created xsi:type="dcterms:W3CDTF">2026-10-22T01:18:37Z</dcterms:created>
  <dcterms:modified xsi:type="dcterms:W3CDTF">2026-10-22T03:28:13Z</dcterms:modified>
  <cp:category/>
  <cp:contentStatus/>
  <dc:language>en-US</dc:language>
</cp:coreProperties>
</file>